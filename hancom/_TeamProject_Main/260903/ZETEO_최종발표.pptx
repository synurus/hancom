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12192000"/>
  <p:notesSz cx="6858000" cy="12192000"/>
  <p:embeddedFontLst>
    <p:embeddedFont>
      <p:font typeface="Hahmlet ExtraBold"/>
      <p:bold r:id="rId29"/>
    </p:embeddedFont>
    <p:embeddedFont>
      <p:font typeface="Hahmlet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59">
          <p15:clr>
            <a:srgbClr val="000000"/>
          </p15:clr>
        </p15:guide>
        <p15:guide id="2" pos="3839">
          <p15:clr>
            <a:srgbClr val="000000"/>
          </p15:clr>
        </p15:guide>
      </p15:sldGuideLst>
    </p:ext>
    <p:ext uri="GoogleSlidesCustomDataVersion2">
      <go:slidesCustomData xmlns:go="http://customooxmlschemas.google.com/" r:id="rId32" roundtripDataSignature="AMtx7migRy+ByZvTQxH/JcH686aF41E1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59" orient="horz"/>
        <p:guide pos="383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HahmletExtra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Hahmlet-bold.fntdata"/><Relationship Id="rId30" Type="http://schemas.openxmlformats.org/officeDocument/2006/relationships/font" Target="fonts/Hahmlet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[0:00–0:15 · 누적 0:15] 안녕하세요. </a:t>
            </a:r>
            <a:r>
              <a:rPr lang="en-US"/>
              <a:t>라이어 게임 속에 숨은 하나의 봇을 찾는 프로젝트. ZETEO의 발표를 맡은 이현우 </a:t>
            </a:r>
            <a:r>
              <a:rPr lang="en-US"/>
              <a:t>입니다. 저희가 만든 ZETEO는 라이어 게임인 척하는 게임입니다. 다섯 명이 모이는데 그중 하나는 사람이 아닙니다.</a:t>
            </a:r>
            <a:endParaRPr/>
          </a:p>
        </p:txBody>
      </p:sp>
      <p:sp>
        <p:nvSpPr>
          <p:cNvPr id="94" name="Google Shape;9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[0:15–0:30 · 누적 0:30] 순서는 이렇습니다. 다섯 번째 핵심 코드 리뷰가 몸통이고, 시연은 맨 마지막에 보여드립니다.</a:t>
            </a:r>
            <a:endParaRPr/>
          </a:p>
        </p:txBody>
      </p:sp>
      <p:sp>
        <p:nvSpPr>
          <p:cNvPr id="108" name="Google Shape;10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[0:30–1:00 · 누적 1:00] 네 명이 각자 한 덩어리씩 가져갔습니다. 파일 단위로 소유자를 정해서 같은 파일을 두 사람이 고치는 일이 없게 했고, 그 결과 마지막 병합 충돌이 0건이었습니다. 오늘 코드 리뷰는 게임 화면을 맡은 제가 대표로 말씀드립니다.</a:t>
            </a:r>
            <a:endParaRPr/>
          </a:p>
        </p:txBody>
      </p:sp>
      <p:sp>
        <p:nvSpPr>
          <p:cNvPr id="153" name="Google Shape;1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[1:00–1:50 · 누적 1:50] 페르소나는 이서준입니다. 이 사람이 겪는 불편은 셋인데 — 사회자, 인원, 설치 — 셋 다 게임이 재미없어서가 아니라 판이 서지 않아서 생깁니다. 그래서 세 요구를 그대로 세 기능으로 옮겼습니다. 자동 진행, 봇 참가자, 무설치 세션. 웹 무설치도 방코드도 이미 있는 서비스들이 있지만, 마지막 줄이 저희만 채운 칸입니다.</a:t>
            </a:r>
            <a:endParaRPr/>
          </a:p>
        </p:txBody>
      </p:sp>
      <p:sp>
        <p:nvSpPr>
          <p:cNvPr id="188" name="Google Shape;1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9c682d955_33_0:notes"/>
          <p:cNvSpPr/>
          <p:nvPr>
            <p:ph idx="2" type="sldImg"/>
          </p:nvPr>
        </p:nvSpPr>
        <p:spPr>
          <a:xfrm>
            <a:off x="685727" y="1143030"/>
            <a:ext cx="5486546" cy="308618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f9c682d955_33_0:notes"/>
          <p:cNvSpPr txBox="1"/>
          <p:nvPr>
            <p:ph idx="1" type="body"/>
          </p:nvPr>
        </p:nvSpPr>
        <p:spPr>
          <a:xfrm>
            <a:off x="685800" y="4400667"/>
            <a:ext cx="5486400" cy="3600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f9c682d955_33_0:notes"/>
          <p:cNvSpPr txBox="1"/>
          <p:nvPr>
            <p:ph idx="12" type="sldNum"/>
          </p:nvPr>
        </p:nvSpPr>
        <p:spPr>
          <a:xfrm>
            <a:off x="3884613" y="8685445"/>
            <a:ext cx="2971800" cy="4587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9c682d955_24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f9c682d955_24_0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9c682d955_30_27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3f9c682d955_30_27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쌓인 걸 봇에게 돌려주는 방법을 셋 검토했습니다. 관전자 LLM 을 두어 판마다 채점하게 하는 안은 채점자를 검증할 수단이 없었습니다. 설문 응답을 봇 프롬프트에 그대로 반영하는 안은 실제로 구현까지 갔다가 접었는데, 사람 검토 없이 프롬프트가 바뀌기 때문입니다. 수동으로 고치는 안은 판당 발언이 마흔 개가 넘고 재현이 안 됩니다.</a:t>
            </a:r>
            <a:endParaRPr/>
          </a:p>
        </p:txBody>
      </p:sp>
      <p:sp>
        <p:nvSpPr>
          <p:cNvPr id="313" name="Google Shape;313;g3f9c682d955_30_27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9c682d955_30_0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g3f9c682d955_30_0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자가개선을 하려면 재료가 있어야 하는데 그 재료를 게임이 스스로 만들어냅니다. 한 판이 끝나면 네 개의 표에 판의 결과, 발언 전량, 투표 전량, 설문이 남습니다. 이 중 가장 중요한 것은 설문에서 이 발언이 봇 같았다고 고른 값이 실제 발언 한 줄과 아이디로 이어진다는 점입니다. 사람이 어디서 걸렸는지를 직접 찍어준 좌표입니다.</a:t>
            </a:r>
            <a:endParaRPr/>
          </a:p>
        </p:txBody>
      </p:sp>
      <p:sp>
        <p:nvSpPr>
          <p:cNvPr id="340" name="Google Shape;340;g3f9c682d955_30_0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f9c682d955_30_60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3f9c682d955_30_60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루프는 이렇게 돕니다. 개발 세션이 응답을 끝낼 때마다 훅이 아직 쓰지 않은 판이 다섯 개인지 확인하고, 아니면 조용히 끝납니다. 조건이 차면 여섯 단계가 돕니다. 지목된 발언에서 실패 장면을 고정하고, 고치기 전 상태를 반복 측정해 기준선을 잡고, 지침을 고치고, 같은 장면 같은 횟수로 다시 재어 전후를 비교합니다. 그다음 이번 수정을 겨냥한 설문 문항을 갱신하고, 변경과 수치와 근거를 묶어 검토에 올립니다. 승인하면 병합·재배포되고, 쓴 판은 기록해 두어 두 번 돌지 않습니다.</a:t>
            </a:r>
            <a:endParaRPr/>
          </a:p>
        </p:txBody>
      </p:sp>
      <p:sp>
        <p:nvSpPr>
          <p:cNvPr id="362" name="Google Shape;362;g3f9c682d955_30_60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f9c682d955_30_98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g3f9c682d955_30_98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 루프가 ZETEO 전체와 어떻게 맞물리는지 말씀드리겠습니다. 사람이 놀면 기록이 쌓이고, 안 쓴 판이 다섯이면 루프가 돌고, 지침이 바뀌고, 바뀐 봇으로 다음 판이 시작되어 기록이 다시 쌓입니다. 첫 실행에서는 봇의 행동 목록 일곱 개 중 하나에만 조건이 빠져 있어서, 아무도 묻지 않았는데 자기 발언을 변명하고 있던 것을 고쳤습니다. 그리고 고친 내용을 겨냥한 설문 문항이 같이 갱신됩니다. 다음 참가자들이 그 자리에서 또 걸리는지를 대신 확인해 주는 셈입니다.</a:t>
            </a:r>
            <a:endParaRPr/>
          </a:p>
        </p:txBody>
      </p:sp>
      <p:sp>
        <p:nvSpPr>
          <p:cNvPr id="398" name="Google Shape;398;g3f9c682d955_30_98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[5:40–6:10 · 누적 6:10 · 약 30초]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저희가 만든 판은 규칙도 인원도 페이즈도 고정돼 있습니다. 그 위에서 봇의 두뇌만 갈아 끼울 수 있게 해뒀습니다 — 제공자 교체가 설정 한 줄입니다.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그러면 같은 조건에서 모델별로 사람이 얼마나 빨리 알아채는지, 무엇 때문에 걸리는지를 나란히 놓고 볼 수 있습니다. 소셜 디덕션 벤치마크가 됩니다.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기존 LLM 벤치마크와 다른 점은 심판이 사람이라는 것입니다. 그리고 점수와 함께 "왜 걸렸는지"가 문장으로 남습니다.</a:t>
            </a:r>
            <a:endParaRPr sz="1000"/>
          </a:p>
        </p:txBody>
      </p:sp>
      <p:sp>
        <p:nvSpPr>
          <p:cNvPr id="424" name="Google Shape;42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f9dd5f40ea_1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g3f9dd5f40ea_12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[6:10–6:45 · 누적 6:45 · 약 35초] 사업성은 한 장으로 말씀드립니다. 트래픽이 없는 지금 단계에서 실행 가능한 건 애드센스뿐입니다. 인트로 화면에만 붙이고 게임 화면에는 넣지 않습니다. 애드블록에는 안 보인다는 한계도 알고 있고, 그래서 광고 제거 유료화는 기각했습니다. 부수적으로는 영어 버전 동시 런칭을 봅니다.</a:t>
            </a:r>
            <a:endParaRPr/>
          </a:p>
        </p:txBody>
      </p:sp>
      <p:sp>
        <p:nvSpPr>
          <p:cNvPr id="463" name="Google Shape;463;g3f9dd5f40ea_12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9f5e3993b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f9f5e3993b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f9f5e3993b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f9dd5f40ea_1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g3f9dd5f40ea_14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g3f9dd5f40ea_14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f9dd5f40ea_14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g3f9dd5f40ea_14_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g3f9dd5f40ea_14_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f9dd5f40ea_14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" name="Google Shape;619;g3f9dd5f40ea_14_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g3f9dd5f40ea_14_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[7:05–7:35 · 누적 7:35 · 약 30초] 기획 v1.0은 봇 여러 명이 섞인 마피아였습니다. 4주 안에 끝낼 수 있는 크기로 두 번 덜어내서 지금 형태가 됐습니다. 4주 동안 배운 건 한 문장으로 남습니다 — 오프라인에서 저절로 지켜지던 규칙은, 코드로 옮기는 순간 전부 「어떻게 강제하지?」가 된다는 것이었습니다.</a:t>
            </a:r>
            <a:br>
              <a:rPr lang="en-US"/>
            </a:br>
            <a:r>
              <a:rPr lang="en-US"/>
              <a:t>※ 커밋 수·파일 수는 8/19 기준 — 발표 직전 갱신할 것.</a:t>
            </a:r>
            <a:endParaRPr/>
          </a:p>
        </p:txBody>
      </p:sp>
      <p:sp>
        <p:nvSpPr>
          <p:cNvPr id="651" name="Google Shape;65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9" name="Google Shape;67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[7:35–11:35 · 시연 4분] 발표를 모두 마친 뒤 마지막에 진행. 라이브로 하되 실패 시 녹화본으로 즉시 전환.</a:t>
            </a:r>
            <a:endParaRPr/>
          </a:p>
        </p:txBody>
      </p:sp>
      <p:sp>
        <p:nvSpPr>
          <p:cNvPr id="680" name="Google Shape;68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[시연 종료 후] 감사합니다. 질문 받겠습니다.</a:t>
            </a:r>
            <a:endParaRPr/>
          </a:p>
        </p:txBody>
      </p:sp>
      <p:sp>
        <p:nvSpPr>
          <p:cNvPr id="704" name="Google Shape;70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7" name="Google Shape;717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부록 — 발표에서는 넘기지 않는 페이지입니다.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PPT에 쓰인 색·글자 크기·컴포넌트·도식 조각을 모아둔 장이라, 새 슬라이드를 만들 때 여기서 도형을 복사해 붙여 넣으면 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슬라이드쇼에서 빼려면 슬라이드 축소판에서 우클릭 → "슬라이드 숨기기".</a:t>
            </a:r>
            <a:endParaRPr/>
          </a:p>
        </p:txBody>
      </p:sp>
      <p:sp>
        <p:nvSpPr>
          <p:cNvPr id="718" name="Google Shape;718;p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f9dd5f40ea_14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2" name="Google Shape;872;g3f9dd5f40ea_14_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g3f9dd5f40ea_14_10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f9dd5f40ea_14_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7" name="Google Shape;917;g3f9dd5f40ea_14_1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g3f9dd5f40ea_14_1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9b3c50280_0_240"/>
          <p:cNvSpPr txBox="1"/>
          <p:nvPr>
            <p:ph idx="10" type="dt"/>
          </p:nvPr>
        </p:nvSpPr>
        <p:spPr>
          <a:xfrm>
            <a:off x="45720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g3f9b3c50280_0_240"/>
          <p:cNvSpPr txBox="1"/>
          <p:nvPr>
            <p:ph idx="11" type="ftr"/>
          </p:nvPr>
        </p:nvSpPr>
        <p:spPr>
          <a:xfrm>
            <a:off x="312421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3f9b3c50280_0_240"/>
          <p:cNvSpPr txBox="1"/>
          <p:nvPr>
            <p:ph idx="12" type="sldNum"/>
          </p:nvPr>
        </p:nvSpPr>
        <p:spPr>
          <a:xfrm>
            <a:off x="6553227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f9c682d955_19_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f9c682d955_19_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g3f9c682d955_19_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f9c682d955_19_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g3f9c682d955_19_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g3f9c682d955_19_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3f9c682d955_19_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g3f9c682d955_19_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f9c682d955_19_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g3f9c682d955_19_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3f9c682d955_19_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f9c682d955_19_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g3f9c682d955_19_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f9c682d955_19_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g3f9c682d955_19_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g3f9c682d955_19_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3f9c682d955_19_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g3f9c682d955_19_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9c682d955_19_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g3f9c682d955_19_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6" name="Google Shape;46;g3f9c682d955_19_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7" name="Google Shape;47;g3f9c682d955_19_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3f9c682d955_19_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3f9c682d955_19_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9c682d955_19_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3f9c682d955_19_3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g3f9c682d955_19_3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4" name="Google Shape;54;g3f9c682d955_19_3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g3f9c682d955_19_3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6" name="Google Shape;56;g3f9c682d955_19_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g3f9c682d955_19_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g3f9c682d955_19_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9c682d955_19_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g3f9c682d955_19_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3f9c682d955_19_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3f9c682d955_19_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9c682d955_19_4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3f9c682d955_19_4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g3f9c682d955_19_4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g3f9c682d955_19_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3f9c682d955_19_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3f9c682d955_19_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9c682d955_19_5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g3f9c682d955_19_5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g3f9c682d955_19_5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g3f9c682d955_19_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g3f9c682d955_19_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3f9c682d955_19_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9c682d955_19_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g3f9c682d955_19_6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g3f9c682d955_19_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3f9c682d955_19_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g3f9c682d955_19_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9c682d955_19_6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g3f9c682d955_19_6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g3f9c682d955_19_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f9c682d955_19_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f9c682d955_19_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f9c682d955_19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g3f9c682d955_19_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g3f9c682d955_19_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g3f9c682d955_19_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g3f9c682d955_19_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zeteo-deploy.up.railway.app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0607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/>
        </p:nvSpPr>
        <p:spPr>
          <a:xfrm>
            <a:off x="850392" y="1691640"/>
            <a:ext cx="74982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4600"/>
              <a:buFont typeface="Malgun Gothic"/>
              <a:buNone/>
            </a:pPr>
            <a:r>
              <a:rPr i="0" lang="en-US" sz="46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라이어 게임 속에 숨은</a:t>
            </a:r>
            <a:endParaRPr i="0" sz="46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4600"/>
              <a:buFont typeface="Malgun Gothic"/>
              <a:buNone/>
            </a:pPr>
            <a:r>
              <a:rPr i="0" lang="en-US" sz="46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단 하나의 봇</a:t>
            </a:r>
            <a:endParaRPr i="0" sz="46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850392" y="4114800"/>
            <a:ext cx="1371600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850392" y="44348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21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2026. 09. 08.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850392" y="48463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1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TeamB   박진 · 이현우 · 유민성 · 김정현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6772563" y="5454675"/>
            <a:ext cx="50358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2400"/>
              <a:buFont typeface="Malgun Gothic"/>
              <a:buNone/>
            </a:pPr>
            <a:r>
              <a:rPr i="0" lang="en-US" sz="3000" u="none" cap="none" strike="noStrike">
                <a:solidFill>
                  <a:srgbClr val="D3BFC0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우리 중 하나는 사람이 아닙니다</a:t>
            </a:r>
            <a:endParaRPr i="0" sz="3000" u="none" cap="none" strike="noStrike">
              <a:solidFill>
                <a:srgbClr val="D3BFC0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pic>
        <p:nvPicPr>
          <p:cNvPr descr="C:\Users\dd022\Desktop\개발 공부 자료\Project\Zeteo\apps\frontend\public\zeteo-logo.png" id="101" name="Google Shape;10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444" y="586275"/>
            <a:ext cx="3905899" cy="1788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1"/>
          <p:cNvGrpSpPr/>
          <p:nvPr/>
        </p:nvGrpSpPr>
        <p:grpSpPr>
          <a:xfrm>
            <a:off x="7780769" y="986333"/>
            <a:ext cx="3019500" cy="4235400"/>
            <a:chOff x="6754971" y="392342"/>
            <a:chExt cx="3019500" cy="4235400"/>
          </a:xfrm>
        </p:grpSpPr>
        <p:sp>
          <p:nvSpPr>
            <p:cNvPr id="103" name="Google Shape;103;p1"/>
            <p:cNvSpPr/>
            <p:nvPr/>
          </p:nvSpPr>
          <p:spPr>
            <a:xfrm>
              <a:off x="6754971" y="392342"/>
              <a:ext cx="3019500" cy="4235400"/>
            </a:xfrm>
            <a:prstGeom prst="rect">
              <a:avLst/>
            </a:prstGeom>
            <a:solidFill>
              <a:srgbClr val="C21620"/>
            </a:solidFill>
            <a:ln cap="flat" cmpd="sng" w="12700">
              <a:solidFill>
                <a:srgbClr val="C2162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C2162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4" name="Google Shape;104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02596" y="435358"/>
              <a:ext cx="2928769" cy="414616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1" i="0" sz="2100" u="none" cap="none" strike="noStrike">
              <a:solidFill>
                <a:srgbClr val="FF273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발표 흐름</a:t>
            </a:r>
            <a:endParaRPr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850392" y="21396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850392" y="27901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팀원 소개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850392" y="30540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850392" y="33649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4454042" y="21396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4454042" y="27901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 배경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4454042" y="30540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4454042" y="33649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8057693" y="21396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8057693" y="27901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유저 시나리오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8057693" y="30540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8057693" y="33649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850392" y="35112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850392" y="41617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설계도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850392" y="4435221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Malgun Gothic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850392" y="47365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4454042" y="35112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4454042" y="41617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코드 리뷰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4454042" y="44256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4454042" y="47365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8057693" y="35112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8057693" y="41617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활용 방안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8057693" y="4435221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Malgun Gothic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8057693" y="47365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850392" y="48828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07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850392" y="55333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lang="en-US" sz="2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사업성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850392" y="57972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850392" y="61081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"/>
          <p:cNvSpPr txBox="1"/>
          <p:nvPr/>
        </p:nvSpPr>
        <p:spPr>
          <a:xfrm>
            <a:off x="4454042" y="48828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"/>
          <p:cNvSpPr txBox="1"/>
          <p:nvPr/>
        </p:nvSpPr>
        <p:spPr>
          <a:xfrm>
            <a:off x="4454042" y="55333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히스토리 · 결론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"/>
          <p:cNvSpPr txBox="1"/>
          <p:nvPr/>
        </p:nvSpPr>
        <p:spPr>
          <a:xfrm>
            <a:off x="4454042" y="57972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"/>
          <p:cNvSpPr/>
          <p:nvPr/>
        </p:nvSpPr>
        <p:spPr>
          <a:xfrm>
            <a:off x="4454042" y="61081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"/>
          <p:cNvSpPr txBox="1"/>
          <p:nvPr/>
        </p:nvSpPr>
        <p:spPr>
          <a:xfrm>
            <a:off x="8057693" y="48828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"/>
          <p:cNvSpPr txBox="1"/>
          <p:nvPr/>
        </p:nvSpPr>
        <p:spPr>
          <a:xfrm>
            <a:off x="8057693" y="55333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"/>
          <p:cNvSpPr txBox="1"/>
          <p:nvPr/>
        </p:nvSpPr>
        <p:spPr>
          <a:xfrm>
            <a:off x="8057693" y="57972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/>
          <p:nvPr/>
        </p:nvSpPr>
        <p:spPr>
          <a:xfrm>
            <a:off x="8057693" y="6108192"/>
            <a:ext cx="3283610" cy="10973"/>
          </a:xfrm>
          <a:prstGeom prst="rect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팀원 소개</a:t>
            </a:r>
            <a:endParaRPr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168577" y="2139764"/>
            <a:ext cx="2805398" cy="3767771"/>
          </a:xfrm>
          <a:prstGeom prst="rect">
            <a:avLst/>
          </a:prstGeom>
          <a:solidFill>
            <a:srgbClr val="F4F4F4"/>
          </a:solidFill>
          <a:ln cap="flat" cmpd="sng" w="22100">
            <a:solidFill>
              <a:srgbClr val="C21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125" lIns="106125" spcFirstLastPara="1" rIns="106125" wrap="square" tIns="106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"/>
          <p:cNvSpPr/>
          <p:nvPr/>
        </p:nvSpPr>
        <p:spPr>
          <a:xfrm>
            <a:off x="168577" y="2139764"/>
            <a:ext cx="2805398" cy="95521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106125" lIns="106125" spcFirstLastPara="1" rIns="106125" wrap="square" tIns="106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3"/>
          <p:cNvSpPr txBox="1"/>
          <p:nvPr/>
        </p:nvSpPr>
        <p:spPr>
          <a:xfrm>
            <a:off x="1223490" y="2139764"/>
            <a:ext cx="1637980" cy="955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437"/>
              <a:buFont typeface="Malgun Gothic"/>
              <a:buNone/>
            </a:pPr>
            <a:r>
              <a:rPr b="1" i="0" lang="en-US" sz="2437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박진</a:t>
            </a:r>
            <a:endParaRPr b="0" i="0" sz="24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 txBox="1"/>
          <p:nvPr/>
        </p:nvSpPr>
        <p:spPr>
          <a:xfrm>
            <a:off x="285291" y="3419004"/>
            <a:ext cx="22962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089"/>
              <a:buFont typeface="Malgun Gothic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팀장 · 프론트 기반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285100" y="4250536"/>
            <a:ext cx="2688900" cy="10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25"/>
              <a:buFont typeface="Malgun Gothic"/>
              <a:buNone/>
            </a:pPr>
            <a:br>
              <a:rPr lang="en-US" sz="162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625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디자인 토큰 · 공용 컴포넌트</a:t>
            </a:r>
            <a:br>
              <a:rPr b="0" i="0" lang="en-US" sz="1625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b="0" i="0" sz="1393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25"/>
              <a:buFont typeface="Malgun Gothic"/>
              <a:buNone/>
            </a:pPr>
            <a:r>
              <a:rPr b="0" i="0" lang="en-US" sz="1825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랜딩 / </a:t>
            </a:r>
            <a:r>
              <a:rPr lang="en-US" sz="182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방목록 / 대기실 / </a:t>
            </a:r>
            <a:endParaRPr sz="182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25"/>
              <a:buFont typeface="Malgun Gothic"/>
              <a:buNone/>
            </a:pPr>
            <a:r>
              <a:rPr b="0" i="0" lang="en-US" sz="1825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 / 설문</a:t>
            </a:r>
            <a:endParaRPr b="0" i="0" sz="1651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25"/>
              <a:buFont typeface="Malgun Gothic"/>
              <a:buNone/>
            </a:pPr>
            <a:r>
              <a:t/>
            </a:r>
            <a:endParaRPr b="0" i="0" sz="16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3180300" y="2139707"/>
            <a:ext cx="2805398" cy="3767771"/>
          </a:xfrm>
          <a:prstGeom prst="rect">
            <a:avLst/>
          </a:prstGeom>
          <a:solidFill>
            <a:srgbClr val="F4F4F4"/>
          </a:solidFill>
          <a:ln cap="flat" cmpd="sng" w="25800">
            <a:solidFill>
              <a:srgbClr val="C21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125" lIns="106125" spcFirstLastPara="1" rIns="106125" wrap="square" tIns="106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"/>
          <p:cNvSpPr/>
          <p:nvPr/>
        </p:nvSpPr>
        <p:spPr>
          <a:xfrm>
            <a:off x="3180300" y="2139707"/>
            <a:ext cx="2805398" cy="95521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106125" lIns="106125" spcFirstLastPara="1" rIns="106125" wrap="square" tIns="106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"/>
          <p:cNvSpPr txBox="1"/>
          <p:nvPr/>
        </p:nvSpPr>
        <p:spPr>
          <a:xfrm>
            <a:off x="4177404" y="2139707"/>
            <a:ext cx="1637980" cy="955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437"/>
              <a:buFont typeface="Malgun Gothic"/>
              <a:buNone/>
            </a:pPr>
            <a:r>
              <a:rPr b="1" i="0" lang="en-US" sz="2437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이현우</a:t>
            </a:r>
            <a:endParaRPr b="0" i="0" sz="24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 txBox="1"/>
          <p:nvPr/>
        </p:nvSpPr>
        <p:spPr>
          <a:xfrm>
            <a:off x="3318245" y="3418947"/>
            <a:ext cx="22962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089"/>
              <a:buFont typeface="Malgun Gothic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프론트 · 게임 화면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 txBox="1"/>
          <p:nvPr/>
        </p:nvSpPr>
        <p:spPr>
          <a:xfrm>
            <a:off x="3284825" y="4243418"/>
            <a:ext cx="2678100" cy="87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25"/>
              <a:buFont typeface="Malgun Gothic"/>
              <a:buNone/>
            </a:pPr>
            <a:r>
              <a:rPr lang="en-US" sz="182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컨텐츠 기획</a:t>
            </a:r>
            <a:br>
              <a:rPr b="0" i="0" lang="en-US" sz="1825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b="0" i="0" sz="1825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25"/>
              <a:buFont typeface="Malgun Gothic"/>
              <a:buNone/>
            </a:pPr>
            <a:r>
              <a:rPr lang="en-US" sz="182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 플레이 화면</a:t>
            </a:r>
            <a:endParaRPr b="0" i="0" sz="1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9204016" y="2139770"/>
            <a:ext cx="2805398" cy="3767771"/>
          </a:xfrm>
          <a:prstGeom prst="rect">
            <a:avLst/>
          </a:prstGeom>
          <a:solidFill>
            <a:srgbClr val="F4F4F4"/>
          </a:solidFill>
          <a:ln cap="flat" cmpd="sng" w="22125">
            <a:solidFill>
              <a:srgbClr val="C21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100" lIns="106100" spcFirstLastPara="1" rIns="106100" wrap="square" tIns="10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"/>
          <p:cNvSpPr/>
          <p:nvPr/>
        </p:nvSpPr>
        <p:spPr>
          <a:xfrm>
            <a:off x="9204016" y="2139770"/>
            <a:ext cx="2805398" cy="95521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106100" lIns="106100" spcFirstLastPara="1" rIns="106100" wrap="square" tIns="10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"/>
          <p:cNvSpPr txBox="1"/>
          <p:nvPr/>
        </p:nvSpPr>
        <p:spPr>
          <a:xfrm>
            <a:off x="10208991" y="2139770"/>
            <a:ext cx="1637980" cy="955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437"/>
              <a:buFont typeface="Malgun Gothic"/>
              <a:buNone/>
            </a:pPr>
            <a:r>
              <a:rPr b="1" i="0" lang="en-US" sz="2437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김정현</a:t>
            </a:r>
            <a:endParaRPr b="0" i="0" sz="24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"/>
          <p:cNvSpPr txBox="1"/>
          <p:nvPr/>
        </p:nvSpPr>
        <p:spPr>
          <a:xfrm>
            <a:off x="9278265" y="3419010"/>
            <a:ext cx="22962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089"/>
              <a:buFont typeface="Malgun Gothic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엔진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"/>
          <p:cNvSpPr txBox="1"/>
          <p:nvPr/>
        </p:nvSpPr>
        <p:spPr>
          <a:xfrm>
            <a:off x="9299448" y="4202905"/>
            <a:ext cx="2678100" cy="87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25"/>
              <a:buFont typeface="Malgun Gothic"/>
              <a:buNone/>
            </a:pPr>
            <a:r>
              <a:rPr b="0" i="0" lang="en-US" sz="1825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말투 </a:t>
            </a:r>
            <a:r>
              <a:rPr lang="en-US" sz="182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행동 </a:t>
            </a:r>
            <a:r>
              <a:rPr b="0" i="0" lang="en-US" sz="1825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규칙</a:t>
            </a:r>
            <a:endParaRPr sz="182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25"/>
              <a:buFont typeface="Malgun Gothic"/>
              <a:buNone/>
            </a:pPr>
            <a:r>
              <a:t/>
            </a:r>
            <a:endParaRPr sz="152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25"/>
              <a:buFont typeface="Malgun Gothic"/>
              <a:buNone/>
            </a:pPr>
            <a:r>
              <a:rPr b="0" i="0" lang="en-US" sz="1825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프롬프트</a:t>
            </a:r>
            <a:r>
              <a:rPr lang="en-US" sz="182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개선 루프 설계</a:t>
            </a:r>
            <a:endParaRPr sz="182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260732" y="2228225"/>
            <a:ext cx="758400" cy="777300"/>
          </a:xfrm>
          <a:prstGeom prst="ellipse">
            <a:avLst/>
          </a:prstGeom>
          <a:noFill/>
          <a:ln cap="flat" cmpd="sng" w="38100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FF2733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F</a:t>
            </a:r>
            <a:endParaRPr sz="3400">
              <a:solidFill>
                <a:srgbClr val="FF2733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3265492" y="2228225"/>
            <a:ext cx="758400" cy="777300"/>
          </a:xfrm>
          <a:prstGeom prst="ellipse">
            <a:avLst/>
          </a:prstGeom>
          <a:noFill/>
          <a:ln cap="flat" cmpd="sng" w="38100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FF2733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F</a:t>
            </a:r>
            <a:endParaRPr sz="3400">
              <a:solidFill>
                <a:srgbClr val="FF2733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6282317" y="2228225"/>
            <a:ext cx="758400" cy="777300"/>
          </a:xfrm>
          <a:prstGeom prst="ellipse">
            <a:avLst/>
          </a:prstGeom>
          <a:noFill/>
          <a:ln cap="flat" cmpd="sng" w="38100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FF2733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B</a:t>
            </a:r>
            <a:endParaRPr sz="3400">
              <a:solidFill>
                <a:srgbClr val="FF2733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177" name="Google Shape;177;p3"/>
          <p:cNvSpPr/>
          <p:nvPr/>
        </p:nvSpPr>
        <p:spPr>
          <a:xfrm>
            <a:off x="9299142" y="2228225"/>
            <a:ext cx="758400" cy="777300"/>
          </a:xfrm>
          <a:prstGeom prst="ellipse">
            <a:avLst/>
          </a:prstGeom>
          <a:noFill/>
          <a:ln cap="flat" cmpd="sng" w="38100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FF2733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B</a:t>
            </a:r>
            <a:endParaRPr sz="3400">
              <a:solidFill>
                <a:srgbClr val="FF2733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178" name="Google Shape;178;p3"/>
          <p:cNvSpPr/>
          <p:nvPr/>
        </p:nvSpPr>
        <p:spPr>
          <a:xfrm>
            <a:off x="6191787" y="2139660"/>
            <a:ext cx="2805528" cy="3767308"/>
          </a:xfrm>
          <a:prstGeom prst="rect">
            <a:avLst/>
          </a:prstGeom>
          <a:solidFill>
            <a:srgbClr val="F4F4F4"/>
          </a:solidFill>
          <a:ln cap="flat" cmpd="sng" w="22125">
            <a:solidFill>
              <a:srgbClr val="C21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100" lIns="106100" spcFirstLastPara="1" rIns="106100" wrap="square" tIns="10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"/>
          <p:cNvSpPr/>
          <p:nvPr/>
        </p:nvSpPr>
        <p:spPr>
          <a:xfrm>
            <a:off x="6191787" y="2139660"/>
            <a:ext cx="2805528" cy="95505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106100" lIns="106100" spcFirstLastPara="1" rIns="106100" wrap="square" tIns="10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"/>
          <p:cNvSpPr txBox="1"/>
          <p:nvPr/>
        </p:nvSpPr>
        <p:spPr>
          <a:xfrm>
            <a:off x="6446509" y="2139660"/>
            <a:ext cx="636876" cy="955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3018"/>
              <a:buFont typeface="Malgun Gothic"/>
              <a:buNone/>
            </a:pPr>
            <a:r>
              <a:t/>
            </a:r>
            <a:endParaRPr b="0" i="0" sz="30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"/>
          <p:cNvSpPr txBox="1"/>
          <p:nvPr/>
        </p:nvSpPr>
        <p:spPr>
          <a:xfrm>
            <a:off x="7204634" y="2139660"/>
            <a:ext cx="1637980" cy="955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437"/>
              <a:buFont typeface="Malgun Gothic"/>
              <a:buNone/>
            </a:pPr>
            <a:r>
              <a:rPr b="1" i="0" lang="en-US" sz="2437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유민성</a:t>
            </a:r>
            <a:endParaRPr b="0" i="0" sz="24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"/>
          <p:cNvSpPr txBox="1"/>
          <p:nvPr/>
        </p:nvSpPr>
        <p:spPr>
          <a:xfrm>
            <a:off x="6275425" y="4147225"/>
            <a:ext cx="2697300" cy="13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7"/>
              <a:buFont typeface="Arial"/>
              <a:buNone/>
            </a:pPr>
            <a:r>
              <a:rPr lang="en-US" sz="1809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 · 이벤트</a:t>
            </a:r>
            <a:r>
              <a:rPr lang="en-US" sz="1809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· </a:t>
            </a:r>
            <a:r>
              <a:rPr lang="en-US" sz="1809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페이즈</a:t>
            </a:r>
            <a:br>
              <a:rPr lang="en-US" sz="1809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en-US" sz="1809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 격리</a:t>
            </a:r>
            <a:endParaRPr b="1" sz="1809">
              <a:solidFill>
                <a:srgbClr val="C216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7"/>
              <a:buFont typeface="Arial"/>
              <a:buNone/>
            </a:pPr>
            <a:r>
              <a:t/>
            </a:r>
            <a:endParaRPr sz="1809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7"/>
              <a:buFont typeface="Arial"/>
              <a:buNone/>
            </a:pPr>
            <a:r>
              <a:rPr lang="en-US" sz="1809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스키마 · 인프라 설계</a:t>
            </a:r>
            <a:endParaRPr sz="1809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6276652" y="3418798"/>
            <a:ext cx="22962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089"/>
              <a:buFont typeface="Malgun Gothic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백엔드 · 서버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"/>
          <p:cNvSpPr/>
          <p:nvPr/>
        </p:nvSpPr>
        <p:spPr>
          <a:xfrm>
            <a:off x="6282317" y="2228225"/>
            <a:ext cx="758400" cy="777300"/>
          </a:xfrm>
          <a:prstGeom prst="ellipse">
            <a:avLst/>
          </a:prstGeom>
          <a:noFill/>
          <a:ln cap="flat" cmpd="sng" w="38100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FF2733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B</a:t>
            </a:r>
            <a:endParaRPr sz="3400">
              <a:solidFill>
                <a:srgbClr val="FF2733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4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4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기획 배경</a:t>
            </a:r>
            <a:endParaRPr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850400" y="2311066"/>
            <a:ext cx="4892100" cy="7101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AI는 소셜 디덕션 게임할 때 티가 난다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4"/>
          <p:cNvCxnSpPr/>
          <p:nvPr/>
        </p:nvCxnSpPr>
        <p:spPr>
          <a:xfrm>
            <a:off x="3296412" y="3192403"/>
            <a:ext cx="0" cy="255900"/>
          </a:xfrm>
          <a:prstGeom prst="straightConnector1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96" name="Google Shape;196;p4"/>
          <p:cNvSpPr/>
          <p:nvPr/>
        </p:nvSpPr>
        <p:spPr>
          <a:xfrm>
            <a:off x="850400" y="3621390"/>
            <a:ext cx="4892100" cy="1315500"/>
          </a:xfrm>
          <a:prstGeom prst="rect">
            <a:avLst/>
          </a:prstGeom>
          <a:solidFill>
            <a:srgbClr val="160607"/>
          </a:solidFill>
          <a:ln cap="flat" cmpd="sng" w="22225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사람처럼 말하는 봇을 넣는다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봇이 스스로 나아지게 한다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 txBox="1"/>
          <p:nvPr/>
        </p:nvSpPr>
        <p:spPr>
          <a:xfrm>
            <a:off x="6405741" y="2463833"/>
            <a:ext cx="21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개선 루프</a:t>
            </a:r>
            <a:endParaRPr b="1" sz="2400"/>
          </a:p>
        </p:txBody>
      </p:sp>
      <p:sp>
        <p:nvSpPr>
          <p:cNvPr id="198" name="Google Shape;198;p4"/>
          <p:cNvSpPr txBox="1"/>
          <p:nvPr/>
        </p:nvSpPr>
        <p:spPr>
          <a:xfrm>
            <a:off x="6405741" y="3100292"/>
            <a:ext cx="402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1800"/>
          </a:p>
        </p:txBody>
      </p:sp>
      <p:sp>
        <p:nvSpPr>
          <p:cNvPr id="199" name="Google Shape;199;p4"/>
          <p:cNvSpPr txBox="1"/>
          <p:nvPr/>
        </p:nvSpPr>
        <p:spPr>
          <a:xfrm>
            <a:off x="6881228" y="3115954"/>
            <a:ext cx="475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</a:t>
            </a: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</a:t>
            </a: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종료 시점에 봇을 지목한다</a:t>
            </a:r>
            <a:endParaRPr sz="1800"/>
          </a:p>
        </p:txBody>
      </p:sp>
      <p:sp>
        <p:nvSpPr>
          <p:cNvPr id="200" name="Google Shape;200;p4"/>
          <p:cNvSpPr/>
          <p:nvPr/>
        </p:nvSpPr>
        <p:spPr>
          <a:xfrm>
            <a:off x="6405749" y="3516579"/>
            <a:ext cx="49170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 txBox="1"/>
          <p:nvPr/>
        </p:nvSpPr>
        <p:spPr>
          <a:xfrm>
            <a:off x="6405741" y="3680256"/>
            <a:ext cx="402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1800"/>
          </a:p>
        </p:txBody>
      </p:sp>
      <p:sp>
        <p:nvSpPr>
          <p:cNvPr id="202" name="Google Shape;202;p4"/>
          <p:cNvSpPr txBox="1"/>
          <p:nvPr/>
        </p:nvSpPr>
        <p:spPr>
          <a:xfrm>
            <a:off x="6881228" y="3684602"/>
            <a:ext cx="475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티가 난 부분을 설문으로 받는다</a:t>
            </a:r>
            <a:endParaRPr sz="1800"/>
          </a:p>
        </p:txBody>
      </p:sp>
      <p:sp>
        <p:nvSpPr>
          <p:cNvPr id="203" name="Google Shape;203;p4"/>
          <p:cNvSpPr/>
          <p:nvPr/>
        </p:nvSpPr>
        <p:spPr>
          <a:xfrm>
            <a:off x="6405749" y="4130480"/>
            <a:ext cx="49170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"/>
          <p:cNvSpPr txBox="1"/>
          <p:nvPr/>
        </p:nvSpPr>
        <p:spPr>
          <a:xfrm>
            <a:off x="6405741" y="4271539"/>
            <a:ext cx="402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sz="1800"/>
          </a:p>
        </p:txBody>
      </p:sp>
      <p:sp>
        <p:nvSpPr>
          <p:cNvPr id="205" name="Google Shape;205;p4"/>
          <p:cNvSpPr txBox="1"/>
          <p:nvPr/>
        </p:nvSpPr>
        <p:spPr>
          <a:xfrm>
            <a:off x="6881228" y="4253251"/>
            <a:ext cx="475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봇의 지침을 갱신한다</a:t>
            </a:r>
            <a:endParaRPr b="1" sz="2100">
              <a:solidFill>
                <a:srgbClr val="1A1A1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850400" y="5328232"/>
            <a:ext cx="10491300" cy="6465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라이어를 찾는 게임 속에 봇을 찾는 게임을 담았습니다.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9c682d955_33_0"/>
          <p:cNvSpPr/>
          <p:nvPr/>
        </p:nvSpPr>
        <p:spPr>
          <a:xfrm>
            <a:off x="0" y="0"/>
            <a:ext cx="12192020" cy="1783080"/>
          </a:xfrm>
          <a:prstGeom prst="rect">
            <a:avLst/>
          </a:prstGeom>
          <a:solidFill>
            <a:srgbClr val="1407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f9c682d955_33_0"/>
          <p:cNvSpPr/>
          <p:nvPr/>
        </p:nvSpPr>
        <p:spPr>
          <a:xfrm>
            <a:off x="0" y="1751076"/>
            <a:ext cx="12192020" cy="32004"/>
          </a:xfrm>
          <a:prstGeom prst="rect">
            <a:avLst/>
          </a:prstGeom>
          <a:solidFill>
            <a:srgbClr val="E942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f9c682d955_33_0"/>
          <p:cNvSpPr txBox="1"/>
          <p:nvPr/>
        </p:nvSpPr>
        <p:spPr>
          <a:xfrm>
            <a:off x="850392" y="457200"/>
            <a:ext cx="10491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f9c682d955_33_0"/>
          <p:cNvSpPr txBox="1"/>
          <p:nvPr/>
        </p:nvSpPr>
        <p:spPr>
          <a:xfrm>
            <a:off x="850392" y="804672"/>
            <a:ext cx="7863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lang="en-US" sz="3200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유저 시나리오</a:t>
            </a:r>
            <a:endParaRPr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grpSp>
        <p:nvGrpSpPr>
          <p:cNvPr id="216" name="Google Shape;216;g3f9c682d955_33_0"/>
          <p:cNvGrpSpPr/>
          <p:nvPr/>
        </p:nvGrpSpPr>
        <p:grpSpPr>
          <a:xfrm>
            <a:off x="535143" y="2891493"/>
            <a:ext cx="11059878" cy="2899865"/>
            <a:chOff x="583370" y="2216303"/>
            <a:chExt cx="11059878" cy="2899865"/>
          </a:xfrm>
        </p:grpSpPr>
        <p:cxnSp>
          <p:nvCxnSpPr>
            <p:cNvPr id="217" name="Google Shape;217;g3f9c682d955_33_0"/>
            <p:cNvCxnSpPr/>
            <p:nvPr/>
          </p:nvCxnSpPr>
          <p:spPr>
            <a:xfrm>
              <a:off x="1373352" y="3119563"/>
              <a:ext cx="9479700" cy="0"/>
            </a:xfrm>
            <a:prstGeom prst="straightConnector1">
              <a:avLst/>
            </a:prstGeom>
            <a:noFill/>
            <a:ln cap="flat" cmpd="sng" w="26400">
              <a:solidFill>
                <a:srgbClr val="DCDCD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8" name="Google Shape;218;g3f9c682d955_33_0"/>
            <p:cNvSpPr/>
            <p:nvPr/>
          </p:nvSpPr>
          <p:spPr>
            <a:xfrm>
              <a:off x="583370" y="2216303"/>
              <a:ext cx="15801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12D2A"/>
                </a:buClr>
                <a:buSzPts val="2080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B12D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01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g3f9c682d955_33_0"/>
            <p:cNvSpPr/>
            <p:nvPr/>
          </p:nvSpPr>
          <p:spPr>
            <a:xfrm>
              <a:off x="1259181" y="3005467"/>
              <a:ext cx="228300" cy="228300"/>
            </a:xfrm>
            <a:prstGeom prst="ellipse">
              <a:avLst/>
            </a:prstGeom>
            <a:solidFill>
              <a:srgbClr val="FFFFFF"/>
            </a:solidFill>
            <a:ln cap="flat" cmpd="sng" w="19825">
              <a:solidFill>
                <a:srgbClr val="9A94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g3f9c682d955_33_0"/>
            <p:cNvSpPr/>
            <p:nvPr/>
          </p:nvSpPr>
          <p:spPr>
            <a:xfrm>
              <a:off x="583370" y="3404803"/>
              <a:ext cx="15801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941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1A1A1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로비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g3f9c682d955_33_0"/>
            <p:cNvSpPr/>
            <p:nvPr/>
          </p:nvSpPr>
          <p:spPr>
            <a:xfrm>
              <a:off x="2163333" y="2216303"/>
              <a:ext cx="15801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423E"/>
                </a:buClr>
                <a:buSzPts val="2080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B12D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02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g3f9c682d955_33_0"/>
            <p:cNvSpPr/>
            <p:nvPr/>
          </p:nvSpPr>
          <p:spPr>
            <a:xfrm>
              <a:off x="2839143" y="3005467"/>
              <a:ext cx="228300" cy="228300"/>
            </a:xfrm>
            <a:prstGeom prst="ellipse">
              <a:avLst/>
            </a:prstGeom>
            <a:solidFill>
              <a:srgbClr val="FFFFFF"/>
            </a:solidFill>
            <a:ln cap="flat" cmpd="sng" w="19825">
              <a:solidFill>
                <a:srgbClr val="9A94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g3f9c682d955_33_0"/>
            <p:cNvSpPr/>
            <p:nvPr/>
          </p:nvSpPr>
          <p:spPr>
            <a:xfrm>
              <a:off x="2163333" y="3404803"/>
              <a:ext cx="15801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423E"/>
                </a:buClr>
                <a:buSzPts val="1941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1A1A1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입장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g3f9c682d955_33_0"/>
            <p:cNvSpPr/>
            <p:nvPr/>
          </p:nvSpPr>
          <p:spPr>
            <a:xfrm>
              <a:off x="3743296" y="2216303"/>
              <a:ext cx="15801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12D2A"/>
                </a:buClr>
                <a:buSzPts val="2080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B12D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03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g3f9c682d955_33_0"/>
            <p:cNvSpPr/>
            <p:nvPr/>
          </p:nvSpPr>
          <p:spPr>
            <a:xfrm>
              <a:off x="4419107" y="3005467"/>
              <a:ext cx="228300" cy="228300"/>
            </a:xfrm>
            <a:prstGeom prst="ellipse">
              <a:avLst/>
            </a:prstGeom>
            <a:solidFill>
              <a:srgbClr val="FFFFFF"/>
            </a:solidFill>
            <a:ln cap="flat" cmpd="sng" w="19825">
              <a:solidFill>
                <a:srgbClr val="9A94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g3f9c682d955_33_0"/>
            <p:cNvSpPr/>
            <p:nvPr/>
          </p:nvSpPr>
          <p:spPr>
            <a:xfrm>
              <a:off x="3743296" y="3404803"/>
              <a:ext cx="15801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941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1A1A1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게임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g3f9c682d955_33_0"/>
            <p:cNvSpPr/>
            <p:nvPr/>
          </p:nvSpPr>
          <p:spPr>
            <a:xfrm>
              <a:off x="6903222" y="2216303"/>
              <a:ext cx="15801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12D2A"/>
                </a:buClr>
                <a:buSzPts val="2080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B12D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05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g3f9c682d955_33_0"/>
            <p:cNvSpPr/>
            <p:nvPr/>
          </p:nvSpPr>
          <p:spPr>
            <a:xfrm>
              <a:off x="7579032" y="3005467"/>
              <a:ext cx="228300" cy="228300"/>
            </a:xfrm>
            <a:prstGeom prst="ellipse">
              <a:avLst/>
            </a:prstGeom>
            <a:solidFill>
              <a:srgbClr val="FFFFFF"/>
            </a:solidFill>
            <a:ln cap="flat" cmpd="sng" w="19825">
              <a:solidFill>
                <a:srgbClr val="9A94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g3f9c682d955_33_0"/>
            <p:cNvSpPr/>
            <p:nvPr/>
          </p:nvSpPr>
          <p:spPr>
            <a:xfrm>
              <a:off x="6903222" y="3404803"/>
              <a:ext cx="15801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941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1A1A1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g3f9c682d955_33_0"/>
            <p:cNvSpPr/>
            <p:nvPr/>
          </p:nvSpPr>
          <p:spPr>
            <a:xfrm>
              <a:off x="8483185" y="2216303"/>
              <a:ext cx="15801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423E"/>
                </a:buClr>
                <a:buSzPts val="2080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E9423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06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g3f9c682d955_33_0"/>
            <p:cNvSpPr/>
            <p:nvPr/>
          </p:nvSpPr>
          <p:spPr>
            <a:xfrm>
              <a:off x="9079138" y="2925600"/>
              <a:ext cx="388200" cy="388200"/>
            </a:xfrm>
            <a:prstGeom prst="ellipse">
              <a:avLst/>
            </a:prstGeom>
            <a:solidFill>
              <a:srgbClr val="F6D9D7"/>
            </a:solidFill>
            <a:ln>
              <a:noFill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g3f9c682d955_33_0"/>
            <p:cNvSpPr/>
            <p:nvPr/>
          </p:nvSpPr>
          <p:spPr>
            <a:xfrm>
              <a:off x="9158996" y="3005467"/>
              <a:ext cx="228300" cy="228300"/>
            </a:xfrm>
            <a:prstGeom prst="ellipse">
              <a:avLst/>
            </a:prstGeom>
            <a:solidFill>
              <a:srgbClr val="E9423E"/>
            </a:solidFill>
            <a:ln cap="flat" cmpd="sng" w="19825">
              <a:solidFill>
                <a:srgbClr val="E9423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g3f9c682d955_33_0"/>
            <p:cNvSpPr/>
            <p:nvPr/>
          </p:nvSpPr>
          <p:spPr>
            <a:xfrm>
              <a:off x="8483185" y="3404803"/>
              <a:ext cx="15801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423E"/>
                </a:buClr>
                <a:buSzPts val="1941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E9423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설문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g3f9c682d955_33_0"/>
            <p:cNvSpPr/>
            <p:nvPr/>
          </p:nvSpPr>
          <p:spPr>
            <a:xfrm>
              <a:off x="7682880" y="4165467"/>
              <a:ext cx="3180600" cy="95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423E"/>
                </a:buClr>
                <a:buSzPts val="1386"/>
                <a:buFont typeface="Malgun Gothic"/>
                <a:buNone/>
              </a:pPr>
              <a:r>
                <a:rPr b="1" i="0" lang="en-US" sz="2100" u="none" cap="none" strike="noStrike">
                  <a:solidFill>
                    <a:srgbClr val="E9423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봇 지목</a:t>
              </a:r>
              <a:br>
                <a:rPr b="1" i="0" lang="en-US" sz="2100" u="none" cap="none" strike="noStrike">
                  <a:solidFill>
                    <a:srgbClr val="E9423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0" lang="en-US" sz="2100" u="none" cap="none" strike="noStrike">
                  <a:solidFill>
                    <a:srgbClr val="E9423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이유 수집</a:t>
              </a:r>
              <a:endPara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g3f9c682d955_33_0"/>
            <p:cNvSpPr/>
            <p:nvPr/>
          </p:nvSpPr>
          <p:spPr>
            <a:xfrm>
              <a:off x="10063149" y="2216303"/>
              <a:ext cx="15801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12D2A"/>
                </a:buClr>
                <a:buSzPts val="2080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B12D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07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g3f9c682d955_33_0"/>
            <p:cNvSpPr/>
            <p:nvPr/>
          </p:nvSpPr>
          <p:spPr>
            <a:xfrm>
              <a:off x="10738958" y="3005467"/>
              <a:ext cx="228300" cy="228300"/>
            </a:xfrm>
            <a:prstGeom prst="ellipse">
              <a:avLst/>
            </a:prstGeom>
            <a:solidFill>
              <a:srgbClr val="FFFFFF"/>
            </a:solidFill>
            <a:ln cap="flat" cmpd="sng" w="19825">
              <a:solidFill>
                <a:srgbClr val="9A94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g3f9c682d955_33_0"/>
            <p:cNvSpPr/>
            <p:nvPr/>
          </p:nvSpPr>
          <p:spPr>
            <a:xfrm>
              <a:off x="10063149" y="3404803"/>
              <a:ext cx="15801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941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1A1A1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로비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g3f9c682d955_33_0"/>
            <p:cNvSpPr/>
            <p:nvPr/>
          </p:nvSpPr>
          <p:spPr>
            <a:xfrm>
              <a:off x="5919211" y="2925600"/>
              <a:ext cx="388200" cy="388200"/>
            </a:xfrm>
            <a:prstGeom prst="ellipse">
              <a:avLst/>
            </a:prstGeom>
            <a:solidFill>
              <a:srgbClr val="F6D9D7"/>
            </a:solidFill>
            <a:ln>
              <a:noFill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3f9c682d955_33_0"/>
            <p:cNvSpPr/>
            <p:nvPr/>
          </p:nvSpPr>
          <p:spPr>
            <a:xfrm>
              <a:off x="5323260" y="2216303"/>
              <a:ext cx="15801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423E"/>
                </a:buClr>
                <a:buSzPts val="2080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E9423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04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g3f9c682d955_33_0"/>
            <p:cNvSpPr/>
            <p:nvPr/>
          </p:nvSpPr>
          <p:spPr>
            <a:xfrm>
              <a:off x="5999069" y="3005467"/>
              <a:ext cx="228300" cy="228300"/>
            </a:xfrm>
            <a:prstGeom prst="ellipse">
              <a:avLst/>
            </a:prstGeom>
            <a:solidFill>
              <a:srgbClr val="E9423E"/>
            </a:solidFill>
            <a:ln cap="flat" cmpd="sng" w="19825">
              <a:solidFill>
                <a:srgbClr val="E9423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g3f9c682d955_33_0"/>
            <p:cNvSpPr/>
            <p:nvPr/>
          </p:nvSpPr>
          <p:spPr>
            <a:xfrm>
              <a:off x="5323260" y="3404803"/>
              <a:ext cx="15801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423E"/>
                </a:buClr>
                <a:buSzPts val="1941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E9423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봇 지목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g3f9c682d955_24_0"/>
          <p:cNvGrpSpPr/>
          <p:nvPr/>
        </p:nvGrpSpPr>
        <p:grpSpPr>
          <a:xfrm>
            <a:off x="228600" y="1901285"/>
            <a:ext cx="3017521" cy="1163334"/>
            <a:chOff x="228600" y="2208089"/>
            <a:chExt cx="3017521" cy="1163334"/>
          </a:xfrm>
        </p:grpSpPr>
        <p:grpSp>
          <p:nvGrpSpPr>
            <p:cNvPr id="247" name="Google Shape;247;g3f9c682d955_24_0"/>
            <p:cNvGrpSpPr/>
            <p:nvPr/>
          </p:nvGrpSpPr>
          <p:grpSpPr>
            <a:xfrm>
              <a:off x="228600" y="2208089"/>
              <a:ext cx="3017521" cy="1163334"/>
              <a:chOff x="228600" y="2113431"/>
              <a:chExt cx="3017521" cy="1163334"/>
            </a:xfrm>
          </p:grpSpPr>
          <p:sp>
            <p:nvSpPr>
              <p:cNvPr id="248" name="Google Shape;248;g3f9c682d955_24_0"/>
              <p:cNvSpPr/>
              <p:nvPr/>
            </p:nvSpPr>
            <p:spPr>
              <a:xfrm>
                <a:off x="228600" y="2113431"/>
                <a:ext cx="896100" cy="468600"/>
              </a:xfrm>
              <a:prstGeom prst="roundRect">
                <a:avLst>
                  <a:gd fmla="val 25000" name="adj"/>
                </a:avLst>
              </a:prstGeom>
              <a:solidFill>
                <a:srgbClr val="F4F4F4"/>
              </a:solidFill>
              <a:ln cap="flat" cmpd="sng" w="12700">
                <a:solidFill>
                  <a:srgbClr val="DCDCD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b="1" lang="en-US" sz="180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랜딩</a:t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g3f9c682d955_24_0"/>
              <p:cNvSpPr/>
              <p:nvPr/>
            </p:nvSpPr>
            <p:spPr>
              <a:xfrm>
                <a:off x="1248157" y="2113431"/>
                <a:ext cx="896100" cy="468600"/>
              </a:xfrm>
              <a:prstGeom prst="roundRect">
                <a:avLst>
                  <a:gd fmla="val 25000" name="adj"/>
                </a:avLst>
              </a:prstGeom>
              <a:solidFill>
                <a:srgbClr val="F4F4F4"/>
              </a:solidFill>
              <a:ln cap="flat" cmpd="sng" w="12700">
                <a:solidFill>
                  <a:srgbClr val="DCDCD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b="1" lang="en-US" sz="160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방목록</a:t>
                </a:r>
                <a:endParaRPr b="0" i="0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g3f9c682d955_24_0"/>
              <p:cNvSpPr/>
              <p:nvPr/>
            </p:nvSpPr>
            <p:spPr>
              <a:xfrm>
                <a:off x="2267713" y="2113431"/>
                <a:ext cx="896100" cy="468600"/>
              </a:xfrm>
              <a:prstGeom prst="roundRect">
                <a:avLst>
                  <a:gd fmla="val 25000" name="adj"/>
                </a:avLst>
              </a:prstGeom>
              <a:solidFill>
                <a:srgbClr val="F4F4F4"/>
              </a:solidFill>
              <a:ln cap="flat" cmpd="sng" w="12700">
                <a:solidFill>
                  <a:srgbClr val="DCDCD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b="1" lang="en-US" sz="160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대기실</a:t>
                </a:r>
                <a:endParaRPr b="0" i="0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g3f9c682d955_24_0"/>
              <p:cNvSpPr/>
              <p:nvPr/>
            </p:nvSpPr>
            <p:spPr>
              <a:xfrm>
                <a:off x="228600" y="2805958"/>
                <a:ext cx="896100" cy="468600"/>
              </a:xfrm>
              <a:prstGeom prst="roundRect">
                <a:avLst>
                  <a:gd fmla="val 25000" name="adj"/>
                </a:avLst>
              </a:prstGeom>
              <a:solidFill>
                <a:srgbClr val="F4F4F4"/>
              </a:solidFill>
              <a:ln cap="flat" cmpd="sng" w="12700">
                <a:solidFill>
                  <a:srgbClr val="DCDCD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b="1" lang="en-US" sz="180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게임</a:t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g3f9c682d955_24_0"/>
              <p:cNvSpPr/>
              <p:nvPr/>
            </p:nvSpPr>
            <p:spPr>
              <a:xfrm>
                <a:off x="2267607" y="2798962"/>
                <a:ext cx="896100" cy="468600"/>
              </a:xfrm>
              <a:prstGeom prst="roundRect">
                <a:avLst>
                  <a:gd fmla="val 25000" name="adj"/>
                </a:avLst>
              </a:prstGeom>
              <a:solidFill>
                <a:srgbClr val="C2162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b="1" lang="en-US"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설문</a:t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g3f9c682d955_24_0"/>
              <p:cNvSpPr/>
              <p:nvPr/>
            </p:nvSpPr>
            <p:spPr>
              <a:xfrm>
                <a:off x="1248138" y="2808164"/>
                <a:ext cx="896100" cy="468600"/>
              </a:xfrm>
              <a:prstGeom prst="roundRect">
                <a:avLst>
                  <a:gd fmla="val 25000" name="adj"/>
                </a:avLst>
              </a:prstGeom>
              <a:solidFill>
                <a:srgbClr val="F4F4F4"/>
              </a:solidFill>
              <a:ln cap="flat" cmpd="sng" w="12700">
                <a:solidFill>
                  <a:srgbClr val="DCDCD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b="1" lang="en-US" sz="180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결과</a:t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54" name="Google Shape;254;g3f9c682d955_24_0"/>
              <p:cNvCxnSpPr/>
              <p:nvPr/>
            </p:nvCxnSpPr>
            <p:spPr>
              <a:xfrm>
                <a:off x="1124712" y="2347668"/>
                <a:ext cx="123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575757"/>
                </a:solidFill>
                <a:prstDash val="solid"/>
                <a:round/>
                <a:headEnd len="sm" w="sm" type="none"/>
                <a:tailEnd len="sm" w="sm" type="triangl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</p:cxnSp>
          <p:cxnSp>
            <p:nvCxnSpPr>
              <p:cNvPr id="255" name="Google Shape;255;g3f9c682d955_24_0"/>
              <p:cNvCxnSpPr/>
              <p:nvPr/>
            </p:nvCxnSpPr>
            <p:spPr>
              <a:xfrm>
                <a:off x="1124712" y="3040195"/>
                <a:ext cx="123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575757"/>
                </a:solidFill>
                <a:prstDash val="solid"/>
                <a:round/>
                <a:headEnd len="sm" w="sm" type="none"/>
                <a:tailEnd len="sm" w="sm" type="triangl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</p:cxnSp>
          <p:cxnSp>
            <p:nvCxnSpPr>
              <p:cNvPr id="256" name="Google Shape;256;g3f9c682d955_24_0"/>
              <p:cNvCxnSpPr/>
              <p:nvPr/>
            </p:nvCxnSpPr>
            <p:spPr>
              <a:xfrm>
                <a:off x="2144269" y="2347668"/>
                <a:ext cx="123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575757"/>
                </a:solidFill>
                <a:prstDash val="solid"/>
                <a:round/>
                <a:headEnd len="sm" w="sm" type="none"/>
                <a:tailEnd len="sm" w="sm" type="triangl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</p:cxnSp>
          <p:cxnSp>
            <p:nvCxnSpPr>
              <p:cNvPr id="257" name="Google Shape;257;g3f9c682d955_24_0"/>
              <p:cNvCxnSpPr/>
              <p:nvPr/>
            </p:nvCxnSpPr>
            <p:spPr>
              <a:xfrm>
                <a:off x="2144269" y="3040195"/>
                <a:ext cx="123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575757"/>
                </a:solidFill>
                <a:prstDash val="solid"/>
                <a:round/>
                <a:headEnd len="sm" w="sm" type="none"/>
                <a:tailEnd len="sm" w="sm" type="triangl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</p:cxnSp>
          <p:cxnSp>
            <p:nvCxnSpPr>
              <p:cNvPr id="258" name="Google Shape;258;g3f9c682d955_24_0"/>
              <p:cNvCxnSpPr/>
              <p:nvPr/>
            </p:nvCxnSpPr>
            <p:spPr>
              <a:xfrm>
                <a:off x="3163825" y="2347668"/>
                <a:ext cx="822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575757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</p:cxnSp>
          <p:cxnSp>
            <p:nvCxnSpPr>
              <p:cNvPr id="259" name="Google Shape;259;g3f9c682d955_24_0"/>
              <p:cNvCxnSpPr/>
              <p:nvPr/>
            </p:nvCxnSpPr>
            <p:spPr>
              <a:xfrm rot="10800000">
                <a:off x="676621" y="2663379"/>
                <a:ext cx="25695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575757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</p:cxnSp>
          <p:cxnSp>
            <p:nvCxnSpPr>
              <p:cNvPr id="260" name="Google Shape;260;g3f9c682d955_24_0"/>
              <p:cNvCxnSpPr/>
              <p:nvPr/>
            </p:nvCxnSpPr>
            <p:spPr>
              <a:xfrm>
                <a:off x="676656" y="2663379"/>
                <a:ext cx="0" cy="1425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575757"/>
                </a:solidFill>
                <a:prstDash val="solid"/>
                <a:round/>
                <a:headEnd len="sm" w="sm" type="none"/>
                <a:tailEnd len="sm" w="sm" type="triangl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</p:cxnSp>
        </p:grpSp>
        <p:cxnSp>
          <p:nvCxnSpPr>
            <p:cNvPr id="261" name="Google Shape;261;g3f9c682d955_24_0"/>
            <p:cNvCxnSpPr/>
            <p:nvPr/>
          </p:nvCxnSpPr>
          <p:spPr>
            <a:xfrm>
              <a:off x="3246121" y="2442319"/>
              <a:ext cx="0" cy="315600"/>
            </a:xfrm>
            <a:prstGeom prst="straightConnector1">
              <a:avLst/>
            </a:prstGeom>
            <a:noFill/>
            <a:ln cap="flat" cmpd="sng" w="12700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</p:grpSp>
      <p:sp>
        <p:nvSpPr>
          <p:cNvPr id="262" name="Google Shape;262;g3f9c682d955_24_0"/>
          <p:cNvSpPr/>
          <p:nvPr/>
        </p:nvSpPr>
        <p:spPr>
          <a:xfrm>
            <a:off x="0" y="0"/>
            <a:ext cx="12191700" cy="1024200"/>
          </a:xfrm>
          <a:prstGeom prst="roundRect">
            <a:avLst>
              <a:gd fmla="val 0" name="adj"/>
            </a:avLst>
          </a:prstGeom>
          <a:solidFill>
            <a:srgbClr val="16060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f9c682d955_24_0"/>
          <p:cNvSpPr/>
          <p:nvPr/>
        </p:nvSpPr>
        <p:spPr>
          <a:xfrm>
            <a:off x="0" y="1024125"/>
            <a:ext cx="12191700" cy="35700"/>
          </a:xfrm>
          <a:prstGeom prst="roundRect">
            <a:avLst>
              <a:gd fmla="val 0" name="adj"/>
            </a:avLst>
          </a:prstGeom>
          <a:solidFill>
            <a:srgbClr val="FF27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f9c682d955_24_0"/>
          <p:cNvSpPr txBox="1"/>
          <p:nvPr/>
        </p:nvSpPr>
        <p:spPr>
          <a:xfrm>
            <a:off x="850392" y="116864"/>
            <a:ext cx="5486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04</a:t>
            </a:r>
            <a:endParaRPr sz="21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5" name="Google Shape;265;g3f9c682d955_24_0"/>
          <p:cNvSpPr txBox="1"/>
          <p:nvPr/>
        </p:nvSpPr>
        <p:spPr>
          <a:xfrm>
            <a:off x="838335" y="436047"/>
            <a:ext cx="7315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시스템 설계도</a:t>
            </a:r>
            <a:endParaRPr sz="3200"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266" name="Google Shape;266;g3f9c682d955_24_0"/>
          <p:cNvSpPr/>
          <p:nvPr/>
        </p:nvSpPr>
        <p:spPr>
          <a:xfrm>
            <a:off x="228600" y="1273130"/>
            <a:ext cx="3063300" cy="346200"/>
          </a:xfrm>
          <a:prstGeom prst="roundRect">
            <a:avLst>
              <a:gd fmla="val 30000" name="adj"/>
            </a:avLst>
          </a:prstGeom>
          <a:solidFill>
            <a:srgbClr val="5757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브라우저</a:t>
            </a:r>
            <a:endParaRPr b="1" i="0" sz="2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7" name="Google Shape;267;g3f9c682d955_24_0"/>
          <p:cNvSpPr/>
          <p:nvPr/>
        </p:nvSpPr>
        <p:spPr>
          <a:xfrm>
            <a:off x="4069082" y="1273130"/>
            <a:ext cx="4480500" cy="346200"/>
          </a:xfrm>
          <a:prstGeom prst="roundRect">
            <a:avLst>
              <a:gd fmla="val 30000" name="adj"/>
            </a:avLst>
          </a:prstGeom>
          <a:solidFill>
            <a:srgbClr val="16060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Railway</a:t>
            </a:r>
            <a:endParaRPr b="1" i="0" sz="2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8" name="Google Shape;268;g3f9c682d955_24_0"/>
          <p:cNvSpPr/>
          <p:nvPr/>
        </p:nvSpPr>
        <p:spPr>
          <a:xfrm>
            <a:off x="8823964" y="1273130"/>
            <a:ext cx="2862000" cy="346200"/>
          </a:xfrm>
          <a:prstGeom prst="roundRect">
            <a:avLst>
              <a:gd fmla="val 30000" name="adj"/>
            </a:avLst>
          </a:prstGeom>
          <a:solidFill>
            <a:srgbClr val="C216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 API</a:t>
            </a:r>
            <a:endParaRPr b="1" i="0" sz="2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9" name="Google Shape;269;g3f9c682d955_24_0"/>
          <p:cNvSpPr/>
          <p:nvPr/>
        </p:nvSpPr>
        <p:spPr>
          <a:xfrm>
            <a:off x="228600" y="3327557"/>
            <a:ext cx="3063300" cy="1069200"/>
          </a:xfrm>
          <a:prstGeom prst="roundRect">
            <a:avLst>
              <a:gd fmla="val 10000" name="adj"/>
            </a:avLst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f9c682d955_24_0"/>
          <p:cNvSpPr txBox="1"/>
          <p:nvPr/>
        </p:nvSpPr>
        <p:spPr>
          <a:xfrm>
            <a:off x="384052" y="3494199"/>
            <a:ext cx="2779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React 클라이언트</a:t>
            </a:r>
            <a:endParaRPr b="1" i="0" sz="2100" u="none" cap="none" strike="noStrike">
              <a:solidFill>
                <a:srgbClr val="1A1A1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1" name="Google Shape;271;g3f9c682d955_24_0"/>
          <p:cNvSpPr txBox="1"/>
          <p:nvPr/>
        </p:nvSpPr>
        <p:spPr>
          <a:xfrm>
            <a:off x="304328" y="3967671"/>
            <a:ext cx="295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Vite + CSR </a:t>
            </a: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Socket.io-client</a:t>
            </a: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800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2" name="Google Shape;272;g3f9c682d955_24_0"/>
          <p:cNvSpPr/>
          <p:nvPr/>
        </p:nvSpPr>
        <p:spPr>
          <a:xfrm>
            <a:off x="4069075" y="1920901"/>
            <a:ext cx="4480500" cy="657000"/>
          </a:xfrm>
          <a:prstGeom prst="roundRect">
            <a:avLst>
              <a:gd fmla="val 10000" name="adj"/>
            </a:avLst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Express + Socket.IO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f9c682d955_24_0"/>
          <p:cNvSpPr/>
          <p:nvPr/>
        </p:nvSpPr>
        <p:spPr>
          <a:xfrm>
            <a:off x="4069075" y="3036250"/>
            <a:ext cx="4480500" cy="714300"/>
          </a:xfrm>
          <a:prstGeom prst="roundRect">
            <a:avLst>
              <a:gd fmla="val 10000" name="adj"/>
            </a:avLst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 로직 코어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Google Shape;274;g3f9c682d955_24_0"/>
          <p:cNvCxnSpPr/>
          <p:nvPr/>
        </p:nvCxnSpPr>
        <p:spPr>
          <a:xfrm>
            <a:off x="6309363" y="3783525"/>
            <a:ext cx="0" cy="3054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5" name="Google Shape;275;g3f9c682d955_24_0"/>
          <p:cNvSpPr/>
          <p:nvPr/>
        </p:nvSpPr>
        <p:spPr>
          <a:xfrm>
            <a:off x="4069082" y="4130186"/>
            <a:ext cx="4480500" cy="1069200"/>
          </a:xfrm>
          <a:prstGeom prst="roundRect">
            <a:avLst>
              <a:gd fmla="val 10000" name="adj"/>
            </a:avLst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f9c682d955_24_0"/>
          <p:cNvSpPr txBox="1"/>
          <p:nvPr/>
        </p:nvSpPr>
        <p:spPr>
          <a:xfrm>
            <a:off x="5920225" y="4174650"/>
            <a:ext cx="77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모듈</a:t>
            </a:r>
            <a:endParaRPr b="1" sz="18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7" name="Google Shape;277;g3f9c682d955_24_0"/>
          <p:cNvSpPr/>
          <p:nvPr/>
        </p:nvSpPr>
        <p:spPr>
          <a:xfrm>
            <a:off x="4213475" y="4537575"/>
            <a:ext cx="1125600" cy="605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index.ts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f9c682d955_24_0"/>
          <p:cNvSpPr/>
          <p:nvPr/>
        </p:nvSpPr>
        <p:spPr>
          <a:xfrm>
            <a:off x="5448550" y="4537575"/>
            <a:ext cx="1841100" cy="605100"/>
          </a:xfrm>
          <a:prstGeom prst="roundRect">
            <a:avLst>
              <a:gd fmla="val 10000" name="adj"/>
            </a:avLst>
          </a:prstGeom>
          <a:solidFill>
            <a:srgbClr val="160607"/>
          </a:solidFill>
          <a:ln cap="flat" cmpd="sng" w="22225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prompts.ts</a:t>
            </a:r>
            <a:endParaRPr b="1" sz="2400">
              <a:solidFill>
                <a:srgbClr val="FF27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f9c682d955_24_0"/>
          <p:cNvSpPr/>
          <p:nvPr/>
        </p:nvSpPr>
        <p:spPr>
          <a:xfrm>
            <a:off x="7399275" y="4537564"/>
            <a:ext cx="1028400" cy="605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llm.ts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g3f9c682d955_24_0"/>
          <p:cNvCxnSpPr/>
          <p:nvPr/>
        </p:nvCxnSpPr>
        <p:spPr>
          <a:xfrm>
            <a:off x="6309363" y="5213169"/>
            <a:ext cx="2700" cy="1389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1" name="Google Shape;281;g3f9c682d955_24_0"/>
          <p:cNvSpPr/>
          <p:nvPr/>
        </p:nvSpPr>
        <p:spPr>
          <a:xfrm>
            <a:off x="4069082" y="5365818"/>
            <a:ext cx="4480500" cy="325800"/>
          </a:xfrm>
          <a:prstGeom prst="roundRect">
            <a:avLst>
              <a:gd fmla="val 30000" name="adj"/>
            </a:avLst>
          </a:prstGeom>
          <a:solidFill>
            <a:srgbClr val="C216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Supabase</a:t>
            </a:r>
            <a:endParaRPr b="1" sz="2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2" name="Google Shape;282;g3f9c682d955_24_0"/>
          <p:cNvSpPr/>
          <p:nvPr/>
        </p:nvSpPr>
        <p:spPr>
          <a:xfrm>
            <a:off x="4069075" y="5764534"/>
            <a:ext cx="4480500" cy="605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C21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PostgreSQL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f9c682d955_24_0"/>
          <p:cNvSpPr txBox="1"/>
          <p:nvPr/>
        </p:nvSpPr>
        <p:spPr>
          <a:xfrm>
            <a:off x="3310129" y="2003358"/>
            <a:ext cx="73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action</a:t>
            </a:r>
            <a:endParaRPr b="1" sz="18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84" name="Google Shape;284;g3f9c682d955_24_0"/>
          <p:cNvCxnSpPr/>
          <p:nvPr/>
        </p:nvCxnSpPr>
        <p:spPr>
          <a:xfrm>
            <a:off x="3346705" y="2311302"/>
            <a:ext cx="685800" cy="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5" name="Google Shape;285;g3f9c682d955_24_0"/>
          <p:cNvSpPr txBox="1"/>
          <p:nvPr/>
        </p:nvSpPr>
        <p:spPr>
          <a:xfrm>
            <a:off x="3310129" y="3258445"/>
            <a:ext cx="73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event</a:t>
            </a:r>
            <a:endParaRPr b="1" sz="18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86" name="Google Shape;286;g3f9c682d955_24_0"/>
          <p:cNvCxnSpPr/>
          <p:nvPr/>
        </p:nvCxnSpPr>
        <p:spPr>
          <a:xfrm rot="10800000">
            <a:off x="3346706" y="3566388"/>
            <a:ext cx="685800" cy="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7" name="Google Shape;287;g3f9c682d955_24_0"/>
          <p:cNvSpPr/>
          <p:nvPr/>
        </p:nvSpPr>
        <p:spPr>
          <a:xfrm>
            <a:off x="8823925" y="3036238"/>
            <a:ext cx="2862000" cy="657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C21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Discord Webhook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" name="Google Shape;288;g3f9c682d955_24_0"/>
          <p:cNvCxnSpPr/>
          <p:nvPr/>
        </p:nvCxnSpPr>
        <p:spPr>
          <a:xfrm>
            <a:off x="8549644" y="3371157"/>
            <a:ext cx="274200" cy="0"/>
          </a:xfrm>
          <a:prstGeom prst="straightConnector1">
            <a:avLst/>
          </a:prstGeom>
          <a:noFill/>
          <a:ln cap="flat" cmpd="sng" w="12700">
            <a:solidFill>
              <a:srgbClr val="C21620"/>
            </a:solidFill>
            <a:prstDash val="dash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9" name="Google Shape;289;g3f9c682d955_24_0"/>
          <p:cNvSpPr/>
          <p:nvPr/>
        </p:nvSpPr>
        <p:spPr>
          <a:xfrm>
            <a:off x="8823925" y="4130185"/>
            <a:ext cx="2862000" cy="657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C21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LLM 호환 API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0" name="Google Shape;290;g3f9c682d955_24_0"/>
          <p:cNvCxnSpPr/>
          <p:nvPr/>
        </p:nvCxnSpPr>
        <p:spPr>
          <a:xfrm>
            <a:off x="8549644" y="4477385"/>
            <a:ext cx="274200" cy="0"/>
          </a:xfrm>
          <a:prstGeom prst="straightConnector1">
            <a:avLst/>
          </a:prstGeom>
          <a:noFill/>
          <a:ln cap="flat" cmpd="sng" w="12700">
            <a:solidFill>
              <a:srgbClr val="C21620"/>
            </a:solidFill>
            <a:prstDash val="dash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1" name="Google Shape;291;g3f9c682d955_24_0"/>
          <p:cNvSpPr/>
          <p:nvPr/>
        </p:nvSpPr>
        <p:spPr>
          <a:xfrm>
            <a:off x="8823975" y="5083893"/>
            <a:ext cx="2862000" cy="1260300"/>
          </a:xfrm>
          <a:prstGeom prst="roundRect">
            <a:avLst>
              <a:gd fmla="val 5000" name="adj"/>
            </a:avLst>
          </a:prstGeom>
          <a:noFill/>
          <a:ln cap="flat" cmpd="sng" w="9525">
            <a:solidFill>
              <a:srgbClr val="57575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f9c682d955_24_0"/>
          <p:cNvSpPr/>
          <p:nvPr/>
        </p:nvSpPr>
        <p:spPr>
          <a:xfrm>
            <a:off x="8823986" y="5092177"/>
            <a:ext cx="45600" cy="1254600"/>
          </a:xfrm>
          <a:prstGeom prst="roundRect">
            <a:avLst>
              <a:gd fmla="val 0" name="adj"/>
            </a:avLst>
          </a:prstGeom>
          <a:solidFill>
            <a:srgbClr val="C216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f9c682d955_24_0"/>
          <p:cNvSpPr/>
          <p:nvPr/>
        </p:nvSpPr>
        <p:spPr>
          <a:xfrm>
            <a:off x="8902700" y="5306843"/>
            <a:ext cx="731400" cy="3462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f9c682d955_24_0"/>
          <p:cNvSpPr txBox="1"/>
          <p:nvPr/>
        </p:nvSpPr>
        <p:spPr>
          <a:xfrm>
            <a:off x="8902711" y="5360818"/>
            <a:ext cx="713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Stop 훅</a:t>
            </a:r>
            <a:endParaRPr sz="15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5" name="Google Shape;295;g3f9c682d955_24_0"/>
          <p:cNvSpPr txBox="1"/>
          <p:nvPr/>
        </p:nvSpPr>
        <p:spPr>
          <a:xfrm>
            <a:off x="9615679" y="5408224"/>
            <a:ext cx="1647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296" name="Google Shape;296;g3f9c682d955_24_0"/>
          <p:cNvSpPr/>
          <p:nvPr/>
        </p:nvSpPr>
        <p:spPr>
          <a:xfrm>
            <a:off x="9766925" y="5306843"/>
            <a:ext cx="960300" cy="3462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f9c682d955_24_0"/>
          <p:cNvSpPr txBox="1"/>
          <p:nvPr/>
        </p:nvSpPr>
        <p:spPr>
          <a:xfrm>
            <a:off x="9783627" y="5360818"/>
            <a:ext cx="929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/selfrefine</a:t>
            </a:r>
            <a:endParaRPr sz="15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8" name="Google Shape;298;g3f9c682d955_24_0"/>
          <p:cNvSpPr txBox="1"/>
          <p:nvPr/>
        </p:nvSpPr>
        <p:spPr>
          <a:xfrm>
            <a:off x="10712841" y="5404858"/>
            <a:ext cx="1647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299" name="Google Shape;299;g3f9c682d955_24_0"/>
          <p:cNvSpPr/>
          <p:nvPr/>
        </p:nvSpPr>
        <p:spPr>
          <a:xfrm>
            <a:off x="10863975" y="5306843"/>
            <a:ext cx="778200" cy="3462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f9c682d955_24_0"/>
          <p:cNvSpPr txBox="1"/>
          <p:nvPr/>
        </p:nvSpPr>
        <p:spPr>
          <a:xfrm>
            <a:off x="10860605" y="5360818"/>
            <a:ext cx="778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replay.ts</a:t>
            </a:r>
            <a:endParaRPr sz="15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1" name="Google Shape;301;g3f9c682d955_24_0"/>
          <p:cNvSpPr/>
          <p:nvPr/>
        </p:nvSpPr>
        <p:spPr>
          <a:xfrm>
            <a:off x="9068018" y="5768125"/>
            <a:ext cx="411600" cy="3054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f9c682d955_24_0"/>
          <p:cNvSpPr txBox="1"/>
          <p:nvPr/>
        </p:nvSpPr>
        <p:spPr>
          <a:xfrm>
            <a:off x="9068018" y="5808229"/>
            <a:ext cx="411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PR</a:t>
            </a:r>
            <a:endParaRPr sz="15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3" name="Google Shape;303;g3f9c682d955_24_0"/>
          <p:cNvSpPr txBox="1"/>
          <p:nvPr/>
        </p:nvSpPr>
        <p:spPr>
          <a:xfrm>
            <a:off x="9485236" y="5852268"/>
            <a:ext cx="1647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304" name="Google Shape;304;g3f9c682d955_24_0"/>
          <p:cNvSpPr/>
          <p:nvPr/>
        </p:nvSpPr>
        <p:spPr>
          <a:xfrm>
            <a:off x="9664652" y="5768118"/>
            <a:ext cx="1870500" cy="3054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f9c682d955_24_0"/>
          <p:cNvSpPr txBox="1"/>
          <p:nvPr/>
        </p:nvSpPr>
        <p:spPr>
          <a:xfrm>
            <a:off x="9573777" y="5808218"/>
            <a:ext cx="2041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 승인 · dev 머지</a:t>
            </a:r>
            <a:endParaRPr b="1" sz="1500">
              <a:solidFill>
                <a:srgbClr val="1A1A1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06" name="Google Shape;306;g3f9c682d955_24_0"/>
          <p:cNvCxnSpPr/>
          <p:nvPr/>
        </p:nvCxnSpPr>
        <p:spPr>
          <a:xfrm>
            <a:off x="8549644" y="6022664"/>
            <a:ext cx="274200" cy="0"/>
          </a:xfrm>
          <a:prstGeom prst="straightConnector1">
            <a:avLst/>
          </a:prstGeom>
          <a:noFill/>
          <a:ln cap="flat" cmpd="sng" w="12700">
            <a:solidFill>
              <a:srgbClr val="C21620"/>
            </a:solidFill>
            <a:prstDash val="dash"/>
            <a:round/>
            <a:headEnd len="sm" w="sm" type="triangl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07" name="Google Shape;307;g3f9c682d955_24_0"/>
          <p:cNvCxnSpPr/>
          <p:nvPr/>
        </p:nvCxnSpPr>
        <p:spPr>
          <a:xfrm>
            <a:off x="6309313" y="2650318"/>
            <a:ext cx="0" cy="3054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308" name="Google Shape;308;g3f9c682d955_24_0"/>
          <p:cNvSpPr txBox="1"/>
          <p:nvPr/>
        </p:nvSpPr>
        <p:spPr>
          <a:xfrm>
            <a:off x="8900796" y="5847374"/>
            <a:ext cx="1647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309" name="Google Shape;309;g3f9c682d955_24_0"/>
          <p:cNvSpPr txBox="1"/>
          <p:nvPr/>
        </p:nvSpPr>
        <p:spPr>
          <a:xfrm>
            <a:off x="3211125" y="3656682"/>
            <a:ext cx="929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정보격리</a:t>
            </a:r>
            <a:endParaRPr b="1">
              <a:solidFill>
                <a:srgbClr val="C216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9c682d955_30_27"/>
          <p:cNvSpPr/>
          <p:nvPr/>
        </p:nvSpPr>
        <p:spPr>
          <a:xfrm>
            <a:off x="0" y="0"/>
            <a:ext cx="121920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f9c682d955_30_27"/>
          <p:cNvSpPr/>
          <p:nvPr/>
        </p:nvSpPr>
        <p:spPr>
          <a:xfrm>
            <a:off x="0" y="1755648"/>
            <a:ext cx="12192000" cy="321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7" name="Google Shape;317;g3f9c682d955_30_27"/>
          <p:cNvGrpSpPr/>
          <p:nvPr/>
        </p:nvGrpSpPr>
        <p:grpSpPr>
          <a:xfrm>
            <a:off x="850426" y="2560333"/>
            <a:ext cx="3283500" cy="3370134"/>
            <a:chOff x="850415" y="2560320"/>
            <a:chExt cx="3283500" cy="3017400"/>
          </a:xfrm>
        </p:grpSpPr>
        <p:sp>
          <p:nvSpPr>
            <p:cNvPr id="318" name="Google Shape;318;g3f9c682d955_30_27"/>
            <p:cNvSpPr/>
            <p:nvPr/>
          </p:nvSpPr>
          <p:spPr>
            <a:xfrm>
              <a:off x="850415" y="2560320"/>
              <a:ext cx="3283500" cy="3017400"/>
            </a:xfrm>
            <a:prstGeom prst="rect">
              <a:avLst/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9" name="Google Shape;319;g3f9c682d955_30_27"/>
            <p:cNvSpPr/>
            <p:nvPr/>
          </p:nvSpPr>
          <p:spPr>
            <a:xfrm>
              <a:off x="1161319" y="2824005"/>
              <a:ext cx="19119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2100"/>
                <a:buFont typeface="Hahmlet"/>
                <a:buNone/>
              </a:pPr>
              <a:r>
                <a:rPr b="1" i="0" lang="en-US" sz="2400" u="none" cap="none" strike="noStrike">
                  <a:solidFill>
                    <a:srgbClr val="1A1A1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관전자 LLM</a:t>
              </a:r>
              <a:endParaRPr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0" name="Google Shape;320;g3f9c682d955_30_27"/>
            <p:cNvSpPr/>
            <p:nvPr/>
          </p:nvSpPr>
          <p:spPr>
            <a:xfrm>
              <a:off x="1161319" y="3419856"/>
              <a:ext cx="2661900" cy="9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500"/>
                <a:buFont typeface="Hahmlet"/>
                <a:buNone/>
              </a:pPr>
              <a:r>
                <a:rPr b="1"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·</a:t>
              </a:r>
              <a:r>
                <a:rPr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관전자 봇이</a:t>
              </a:r>
              <a:r>
                <a:rPr i="0" lang="en-US" sz="21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채점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500"/>
                <a:buFont typeface="Hahmlet"/>
                <a:buNone/>
              </a:pPr>
              <a:r>
                <a:rPr b="1"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·</a:t>
              </a:r>
              <a:r>
                <a:rPr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i="0" lang="en-US" sz="21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기획</a:t>
              </a:r>
              <a:r>
                <a:rPr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서 제시안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1" name="Google Shape;321;g3f9c682d955_30_27"/>
            <p:cNvSpPr/>
            <p:nvPr/>
          </p:nvSpPr>
          <p:spPr>
            <a:xfrm>
              <a:off x="1161319" y="4469734"/>
              <a:ext cx="2661900" cy="11100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2" name="Google Shape;322;g3f9c682d955_30_27"/>
            <p:cNvSpPr/>
            <p:nvPr/>
          </p:nvSpPr>
          <p:spPr>
            <a:xfrm>
              <a:off x="1161319" y="4681728"/>
              <a:ext cx="2661900" cy="67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1500"/>
                <a:buFont typeface="Hahmlet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채점자를 검증할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1500"/>
                <a:buFont typeface="Hahmlet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수단이 없다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23" name="Google Shape;323;g3f9c682d955_30_27"/>
          <p:cNvGrpSpPr/>
          <p:nvPr/>
        </p:nvGrpSpPr>
        <p:grpSpPr>
          <a:xfrm>
            <a:off x="4454173" y="2560333"/>
            <a:ext cx="3283500" cy="3370134"/>
            <a:chOff x="4454161" y="2560320"/>
            <a:chExt cx="3283500" cy="3017400"/>
          </a:xfrm>
        </p:grpSpPr>
        <p:sp>
          <p:nvSpPr>
            <p:cNvPr id="324" name="Google Shape;324;g3f9c682d955_30_27"/>
            <p:cNvSpPr/>
            <p:nvPr/>
          </p:nvSpPr>
          <p:spPr>
            <a:xfrm>
              <a:off x="4454161" y="2560320"/>
              <a:ext cx="3283500" cy="3017400"/>
            </a:xfrm>
            <a:prstGeom prst="rect">
              <a:avLst/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5" name="Google Shape;325;g3f9c682d955_30_27"/>
            <p:cNvSpPr/>
            <p:nvPr/>
          </p:nvSpPr>
          <p:spPr>
            <a:xfrm>
              <a:off x="4765076" y="2824000"/>
              <a:ext cx="21858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2100"/>
                <a:buFont typeface="Hahmlet"/>
                <a:buNone/>
              </a:pPr>
              <a:r>
                <a:rPr b="1" i="0" lang="en-US" sz="2400" u="none" cap="none" strike="noStrike">
                  <a:solidFill>
                    <a:srgbClr val="1A1A1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설문 자동 주입</a:t>
              </a:r>
              <a:endParaRPr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6" name="Google Shape;326;g3f9c682d955_30_27"/>
            <p:cNvSpPr/>
            <p:nvPr/>
          </p:nvSpPr>
          <p:spPr>
            <a:xfrm>
              <a:off x="4765065" y="3419856"/>
              <a:ext cx="2661900" cy="9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500"/>
                <a:buFont typeface="Hahmlet"/>
                <a:buNone/>
              </a:pPr>
              <a:r>
                <a:rPr b="1"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·</a:t>
              </a:r>
              <a:r>
                <a:rPr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i="0" lang="en-US" sz="21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응답을 그대로 반영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500"/>
                <a:buFont typeface="Hahmlet"/>
                <a:buNone/>
              </a:pPr>
              <a:r>
                <a:rPr b="1"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·</a:t>
              </a:r>
              <a:r>
                <a:rPr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i="0" lang="en-US" sz="21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구현까지 갔던 안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7" name="Google Shape;327;g3f9c682d955_30_27"/>
            <p:cNvSpPr/>
            <p:nvPr/>
          </p:nvSpPr>
          <p:spPr>
            <a:xfrm>
              <a:off x="4765065" y="4469734"/>
              <a:ext cx="2661900" cy="11100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8" name="Google Shape;328;g3f9c682d955_30_27"/>
            <p:cNvSpPr/>
            <p:nvPr/>
          </p:nvSpPr>
          <p:spPr>
            <a:xfrm>
              <a:off x="4765065" y="4681728"/>
              <a:ext cx="2661900" cy="67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1500"/>
                <a:buFont typeface="Hahmlet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사람 검토 없이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1500"/>
                <a:buFont typeface="Hahmlet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프롬프트가 바뀐다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29" name="Google Shape;329;g3f9c682d955_30_27"/>
          <p:cNvGrpSpPr/>
          <p:nvPr/>
        </p:nvGrpSpPr>
        <p:grpSpPr>
          <a:xfrm>
            <a:off x="8057920" y="2560333"/>
            <a:ext cx="3283500" cy="3370134"/>
            <a:chOff x="8057908" y="2560320"/>
            <a:chExt cx="3283500" cy="3017400"/>
          </a:xfrm>
        </p:grpSpPr>
        <p:sp>
          <p:nvSpPr>
            <p:cNvPr id="330" name="Google Shape;330;g3f9c682d955_30_27"/>
            <p:cNvSpPr/>
            <p:nvPr/>
          </p:nvSpPr>
          <p:spPr>
            <a:xfrm>
              <a:off x="8057908" y="2560320"/>
              <a:ext cx="3283500" cy="3017400"/>
            </a:xfrm>
            <a:prstGeom prst="rect">
              <a:avLst/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1" name="Google Shape;331;g3f9c682d955_30_27"/>
            <p:cNvSpPr/>
            <p:nvPr/>
          </p:nvSpPr>
          <p:spPr>
            <a:xfrm>
              <a:off x="8368812" y="2824005"/>
              <a:ext cx="19119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2100"/>
                <a:buFont typeface="Hahmlet"/>
                <a:buNone/>
              </a:pPr>
              <a:r>
                <a:rPr b="1" i="0" lang="en-US" sz="2400" u="none" cap="none" strike="noStrike">
                  <a:solidFill>
                    <a:srgbClr val="1A1A1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수동 회귀</a:t>
              </a:r>
              <a:endParaRPr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2" name="Google Shape;332;g3f9c682d955_30_27"/>
            <p:cNvSpPr/>
            <p:nvPr/>
          </p:nvSpPr>
          <p:spPr>
            <a:xfrm>
              <a:off x="8368812" y="4469734"/>
              <a:ext cx="2661900" cy="11100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3" name="Google Shape;333;g3f9c682d955_30_27"/>
            <p:cNvSpPr/>
            <p:nvPr/>
          </p:nvSpPr>
          <p:spPr>
            <a:xfrm>
              <a:off x="8368812" y="3419856"/>
              <a:ext cx="2661900" cy="9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500"/>
                <a:buFont typeface="Hahmlet"/>
                <a:buNone/>
              </a:pPr>
              <a:r>
                <a:rPr b="1"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·</a:t>
              </a:r>
              <a:r>
                <a:rPr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i="0" lang="en-US" sz="21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직접 </a:t>
              </a:r>
              <a:r>
                <a:rPr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수정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500"/>
                <a:buFont typeface="Hahmlet"/>
                <a:buNone/>
              </a:pPr>
              <a:r>
                <a:rPr b="1"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·</a:t>
              </a:r>
              <a:r>
                <a:rPr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MVP</a:t>
              </a:r>
              <a:r>
                <a:rPr i="0" lang="en-US" sz="21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방식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4" name="Google Shape;334;g3f9c682d955_30_27"/>
            <p:cNvSpPr/>
            <p:nvPr/>
          </p:nvSpPr>
          <p:spPr>
            <a:xfrm>
              <a:off x="8368812" y="4681728"/>
              <a:ext cx="2661900" cy="67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1500"/>
                <a:buFont typeface="Hahmlet"/>
                <a:buNone/>
              </a:pPr>
              <a:r>
                <a:rPr b="1" lang="en-US" sz="2100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동일한 상황이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1500"/>
                <a:buFont typeface="Hahmlet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재현이 안 된다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35" name="Google Shape;335;g3f9c682d955_30_27"/>
          <p:cNvSpPr/>
          <p:nvPr/>
        </p:nvSpPr>
        <p:spPr>
          <a:xfrm>
            <a:off x="850415" y="441179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05</a:t>
            </a: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코드 리뷰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 획</a:t>
            </a:r>
            <a:endParaRPr b="1"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6" name="Google Shape;336;g3f9c682d955_30_27"/>
          <p:cNvSpPr/>
          <p:nvPr/>
        </p:nvSpPr>
        <p:spPr>
          <a:xfrm>
            <a:off x="850415" y="883245"/>
            <a:ext cx="8595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ahmlet"/>
              <a:buNone/>
            </a:pPr>
            <a:r>
              <a:rPr b="1" lang="en-US" sz="3200">
                <a:solidFill>
                  <a:srgbClr val="F3E6E6"/>
                </a:solidFill>
                <a:latin typeface="Hahmlet"/>
                <a:ea typeface="Hahmlet"/>
                <a:cs typeface="Hahmlet"/>
                <a:sym typeface="Hahmlet"/>
              </a:rPr>
              <a:t>봇을 어떻게 개선할까</a:t>
            </a:r>
            <a:endParaRPr b="0" i="0" sz="3200" u="none" cap="none" strike="noStrike">
              <a:solidFill>
                <a:srgbClr val="F3E6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f9c682d955_30_0"/>
          <p:cNvSpPr/>
          <p:nvPr/>
        </p:nvSpPr>
        <p:spPr>
          <a:xfrm>
            <a:off x="0" y="0"/>
            <a:ext cx="121920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hmlet"/>
              <a:ea typeface="Hahmlet"/>
              <a:cs typeface="Hahmlet"/>
              <a:sym typeface="Hahmlet"/>
            </a:endParaRPr>
          </a:p>
        </p:txBody>
      </p:sp>
      <p:sp>
        <p:nvSpPr>
          <p:cNvPr id="343" name="Google Shape;343;g3f9c682d955_30_0"/>
          <p:cNvSpPr/>
          <p:nvPr/>
        </p:nvSpPr>
        <p:spPr>
          <a:xfrm>
            <a:off x="0" y="1755648"/>
            <a:ext cx="12192000" cy="321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hmlet"/>
              <a:ea typeface="Hahmlet"/>
              <a:cs typeface="Hahmlet"/>
              <a:sym typeface="Hahmlet"/>
            </a:endParaRPr>
          </a:p>
        </p:txBody>
      </p:sp>
      <p:sp>
        <p:nvSpPr>
          <p:cNvPr id="344" name="Google Shape;344;g3f9c682d955_30_0"/>
          <p:cNvSpPr/>
          <p:nvPr/>
        </p:nvSpPr>
        <p:spPr>
          <a:xfrm>
            <a:off x="850415" y="441179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05</a:t>
            </a: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코드 리뷰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맥</a:t>
            </a: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락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5" name="Google Shape;345;g3f9c682d955_30_0"/>
          <p:cNvSpPr/>
          <p:nvPr/>
        </p:nvSpPr>
        <p:spPr>
          <a:xfrm>
            <a:off x="850415" y="883245"/>
            <a:ext cx="8595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ahmlet"/>
              <a:buNone/>
            </a:pPr>
            <a:r>
              <a:rPr b="1" i="0" lang="en-US" sz="3200" u="none" cap="none" strike="noStrike">
                <a:solidFill>
                  <a:srgbClr val="F3E6E6"/>
                </a:solidFill>
                <a:latin typeface="Hahmlet"/>
                <a:ea typeface="Hahmlet"/>
                <a:cs typeface="Hahmlet"/>
                <a:sym typeface="Hahmlet"/>
              </a:rPr>
              <a:t>한 판이 남기는 것</a:t>
            </a:r>
            <a:endParaRPr i="0" sz="3200" u="none" cap="none" strike="noStrike">
              <a:solidFill>
                <a:srgbClr val="F3E6E6"/>
              </a:solidFill>
              <a:latin typeface="Hahmlet"/>
              <a:ea typeface="Hahmlet"/>
              <a:cs typeface="Hahmlet"/>
              <a:sym typeface="Hahmlet"/>
            </a:endParaRPr>
          </a:p>
        </p:txBody>
      </p:sp>
      <p:grpSp>
        <p:nvGrpSpPr>
          <p:cNvPr id="346" name="Google Shape;346;g3f9c682d955_30_0"/>
          <p:cNvGrpSpPr/>
          <p:nvPr/>
        </p:nvGrpSpPr>
        <p:grpSpPr>
          <a:xfrm>
            <a:off x="850425" y="2413060"/>
            <a:ext cx="5541383" cy="3642174"/>
            <a:chOff x="850424" y="2560325"/>
            <a:chExt cx="5541383" cy="3145500"/>
          </a:xfrm>
        </p:grpSpPr>
        <p:sp>
          <p:nvSpPr>
            <p:cNvPr id="347" name="Google Shape;347;g3f9c682d955_30_0"/>
            <p:cNvSpPr/>
            <p:nvPr/>
          </p:nvSpPr>
          <p:spPr>
            <a:xfrm>
              <a:off x="850424" y="2560325"/>
              <a:ext cx="5486400" cy="3145500"/>
            </a:xfrm>
            <a:prstGeom prst="rect">
              <a:avLst/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8" name="Google Shape;348;g3f9c682d955_30_0"/>
            <p:cNvSpPr/>
            <p:nvPr/>
          </p:nvSpPr>
          <p:spPr>
            <a:xfrm>
              <a:off x="1179607" y="2761488"/>
              <a:ext cx="52122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2100"/>
                <a:buFont typeface="Hahmlet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한 판 = 네 개의 표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9" name="Google Shape;349;g3f9c682d955_30_0"/>
            <p:cNvSpPr/>
            <p:nvPr/>
          </p:nvSpPr>
          <p:spPr>
            <a:xfrm>
              <a:off x="1191539" y="3364992"/>
              <a:ext cx="3291900" cy="31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429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Char char="●"/>
              </a:pPr>
              <a:r>
                <a:rPr b="1"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게임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결과</a:t>
              </a:r>
              <a:endParaRPr b="1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0" name="Google Shape;350;g3f9c682d955_30_0"/>
            <p:cNvSpPr/>
            <p:nvPr/>
          </p:nvSpPr>
          <p:spPr>
            <a:xfrm>
              <a:off x="1191553" y="3913625"/>
              <a:ext cx="4271700" cy="31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429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Char char="●"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발언 전량 — 누가 언제 무엇을</a:t>
              </a:r>
              <a:endParaRPr b="1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1" name="Google Shape;351;g3f9c682d955_30_0"/>
            <p:cNvSpPr/>
            <p:nvPr/>
          </p:nvSpPr>
          <p:spPr>
            <a:xfrm>
              <a:off x="1191553" y="4462275"/>
              <a:ext cx="4194900" cy="31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429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Char char="●"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투표 전량 — 라이어 · 봇 지목</a:t>
              </a:r>
              <a:endParaRPr b="1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2" name="Google Shape;352;g3f9c682d955_30_0"/>
            <p:cNvSpPr/>
            <p:nvPr/>
          </p:nvSpPr>
          <p:spPr>
            <a:xfrm>
              <a:off x="1191539" y="5010912"/>
              <a:ext cx="3291900" cy="31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429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Char char="●"/>
              </a:pPr>
              <a:r>
                <a:rPr b="1"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어느 발언이 · 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왜 봇 같았나</a:t>
              </a:r>
              <a:endParaRPr b="1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53" name="Google Shape;353;g3f9c682d955_30_0"/>
          <p:cNvGrpSpPr/>
          <p:nvPr/>
        </p:nvGrpSpPr>
        <p:grpSpPr>
          <a:xfrm>
            <a:off x="6727176" y="2413060"/>
            <a:ext cx="4614600" cy="3642174"/>
            <a:chOff x="6727175" y="2560325"/>
            <a:chExt cx="4614600" cy="3145500"/>
          </a:xfrm>
        </p:grpSpPr>
        <p:sp>
          <p:nvSpPr>
            <p:cNvPr id="354" name="Google Shape;354;g3f9c682d955_30_0"/>
            <p:cNvSpPr/>
            <p:nvPr/>
          </p:nvSpPr>
          <p:spPr>
            <a:xfrm>
              <a:off x="6727175" y="2560325"/>
              <a:ext cx="4614600" cy="3145500"/>
            </a:xfrm>
            <a:prstGeom prst="rect">
              <a:avLst/>
            </a:prstGeom>
            <a:solidFill>
              <a:srgbClr val="1F0A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5" name="Google Shape;355;g3f9c682d955_30_0"/>
            <p:cNvSpPr/>
            <p:nvPr/>
          </p:nvSpPr>
          <p:spPr>
            <a:xfrm>
              <a:off x="7056369" y="2761488"/>
              <a:ext cx="36576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2733"/>
                </a:buClr>
                <a:buSzPts val="2100"/>
                <a:buFont typeface="Hahmlet"/>
                <a:buNone/>
              </a:pPr>
              <a:r>
                <a:rPr b="1" i="0" lang="en-US" sz="2100" u="none" cap="none" strike="noStrike">
                  <a:solidFill>
                    <a:srgbClr val="FF27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가장 중요한 한 칸</a:t>
              </a:r>
              <a:endParaRPr i="0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6" name="Google Shape;356;g3f9c682d955_30_0"/>
            <p:cNvSpPr/>
            <p:nvPr/>
          </p:nvSpPr>
          <p:spPr>
            <a:xfrm>
              <a:off x="7056375" y="3167123"/>
              <a:ext cx="40560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1500"/>
                <a:buFont typeface="Hahmlet"/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설문단계에서 봇근거 발언을 </a:t>
              </a:r>
              <a:r>
                <a:rPr i="0" lang="en-US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고</a:t>
              </a: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릅</a:t>
              </a:r>
              <a:r>
                <a:rPr i="0" lang="en-US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니다.</a:t>
              </a:r>
              <a:endParaRPr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7" name="Google Shape;357;g3f9c682d955_30_0"/>
            <p:cNvSpPr/>
            <p:nvPr/>
          </p:nvSpPr>
          <p:spPr>
            <a:xfrm>
              <a:off x="7056374" y="3747128"/>
              <a:ext cx="3657600" cy="124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3BFC0"/>
                </a:buClr>
                <a:buSzPts val="1200"/>
                <a:buFont typeface="Consolas"/>
                <a:buNone/>
              </a:pPr>
              <a:r>
                <a:rPr i="0" lang="en-US" sz="1800" u="none" cap="none" strike="noStrike">
                  <a:solidFill>
                    <a:srgbClr val="D3BFC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survey_responses</a:t>
              </a:r>
              <a:endParaRPr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1200"/>
                <a:buFont typeface="Consolas"/>
                <a:buNone/>
              </a:pPr>
              <a:r>
                <a:rPr i="0" lang="en-US" sz="1800" u="none" cap="none" strike="noStrike">
                  <a:solidFill>
                    <a:srgbClr val="F3E6E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.picked_message_runtime_id</a:t>
              </a:r>
              <a:endParaRPr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2733"/>
                </a:buClr>
                <a:buSzPts val="1200"/>
                <a:buFont typeface="Consolas"/>
                <a:buNone/>
              </a:pPr>
              <a:r>
                <a:rPr b="1" i="0" lang="en-US" sz="1800" u="none" cap="none" strike="noStrike">
                  <a:solidFill>
                    <a:srgbClr val="FF27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            ↕</a:t>
              </a:r>
              <a:endParaRPr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1200"/>
                <a:buFont typeface="Consolas"/>
                <a:buNone/>
              </a:pPr>
              <a:r>
                <a:rPr i="0" lang="en-US" sz="1800" u="none" cap="none" strike="noStrike">
                  <a:solidFill>
                    <a:srgbClr val="F3E6E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game_messages.runtime_id</a:t>
              </a:r>
              <a:endParaRPr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8" name="Google Shape;358;g3f9c682d955_30_0"/>
            <p:cNvSpPr/>
            <p:nvPr/>
          </p:nvSpPr>
          <p:spPr>
            <a:xfrm>
              <a:off x="7056369" y="5081365"/>
              <a:ext cx="36576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2733"/>
                </a:buClr>
                <a:buSzPts val="1500"/>
                <a:buFont typeface="Hahmlet"/>
                <a:buNone/>
              </a:pPr>
              <a:r>
                <a:rPr b="1" i="0" lang="en-US" sz="1800" u="none" cap="none" strike="noStrike">
                  <a:solidFill>
                    <a:srgbClr val="FF27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사람이 “어디서” 를 찍어준 좌표</a:t>
              </a:r>
              <a:endParaRPr i="0" sz="18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9c682d955_30_60"/>
          <p:cNvSpPr/>
          <p:nvPr/>
        </p:nvSpPr>
        <p:spPr>
          <a:xfrm>
            <a:off x="0" y="0"/>
            <a:ext cx="121920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f9c682d955_30_60"/>
          <p:cNvSpPr/>
          <p:nvPr/>
        </p:nvSpPr>
        <p:spPr>
          <a:xfrm>
            <a:off x="0" y="1755648"/>
            <a:ext cx="12192000" cy="321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f9c682d955_30_60"/>
          <p:cNvSpPr/>
          <p:nvPr/>
        </p:nvSpPr>
        <p:spPr>
          <a:xfrm>
            <a:off x="850415" y="2159323"/>
            <a:ext cx="1005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5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깨우기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7" name="Google Shape;367;g3f9c682d955_30_60"/>
          <p:cNvSpPr/>
          <p:nvPr/>
        </p:nvSpPr>
        <p:spPr>
          <a:xfrm>
            <a:off x="1838242" y="2159318"/>
            <a:ext cx="9636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</a:t>
            </a:r>
            <a:r>
              <a:rPr i="0" lang="en-US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응답을 끝낼 때마다 훅이 확인합니다 — </a:t>
            </a: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미적용 기록</a:t>
            </a:r>
            <a:r>
              <a:rPr i="0" lang="en-US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다섯 </a:t>
            </a: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</a:t>
            </a:r>
            <a:r>
              <a:rPr i="0" lang="en-US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인가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8" name="Google Shape;368;g3f9c682d955_30_60"/>
          <p:cNvSpPr/>
          <p:nvPr/>
        </p:nvSpPr>
        <p:spPr>
          <a:xfrm>
            <a:off x="850415" y="2810128"/>
            <a:ext cx="3240900" cy="1206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9" name="Google Shape;369;g3f9c682d955_30_60"/>
          <p:cNvSpPr/>
          <p:nvPr/>
        </p:nvSpPr>
        <p:spPr>
          <a:xfrm>
            <a:off x="1124742" y="2974720"/>
            <a:ext cx="269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사례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0" name="Google Shape;370;g3f9c682d955_30_60"/>
          <p:cNvSpPr/>
          <p:nvPr/>
        </p:nvSpPr>
        <p:spPr>
          <a:xfrm>
            <a:off x="1124742" y="3377056"/>
            <a:ext cx="269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실패 장면 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1" name="Google Shape;371;g3f9c682d955_30_60"/>
          <p:cNvSpPr/>
          <p:nvPr/>
        </p:nvSpPr>
        <p:spPr>
          <a:xfrm>
            <a:off x="4091439" y="2810128"/>
            <a:ext cx="3840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2" name="Google Shape;372;g3f9c682d955_30_60"/>
          <p:cNvSpPr/>
          <p:nvPr/>
        </p:nvSpPr>
        <p:spPr>
          <a:xfrm>
            <a:off x="4475497" y="2810128"/>
            <a:ext cx="3240900" cy="1206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3" name="Google Shape;373;g3f9c682d955_30_60"/>
          <p:cNvSpPr/>
          <p:nvPr/>
        </p:nvSpPr>
        <p:spPr>
          <a:xfrm>
            <a:off x="4749825" y="2974720"/>
            <a:ext cx="269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기준선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4" name="Google Shape;374;g3f9c682d955_30_60"/>
          <p:cNvSpPr/>
          <p:nvPr/>
        </p:nvSpPr>
        <p:spPr>
          <a:xfrm>
            <a:off x="4749825" y="3377056"/>
            <a:ext cx="269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고치기</a:t>
            </a: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전 상태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반복 측정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5" name="Google Shape;375;g3f9c682d955_30_60"/>
          <p:cNvSpPr/>
          <p:nvPr/>
        </p:nvSpPr>
        <p:spPr>
          <a:xfrm>
            <a:off x="7716523" y="2810128"/>
            <a:ext cx="3840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6" name="Google Shape;376;g3f9c682d955_30_60"/>
          <p:cNvSpPr/>
          <p:nvPr/>
        </p:nvSpPr>
        <p:spPr>
          <a:xfrm>
            <a:off x="8100581" y="2810128"/>
            <a:ext cx="3240900" cy="1206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7" name="Google Shape;377;g3f9c682d955_30_60"/>
          <p:cNvSpPr/>
          <p:nvPr/>
        </p:nvSpPr>
        <p:spPr>
          <a:xfrm>
            <a:off x="8374908" y="2974720"/>
            <a:ext cx="269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수정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8" name="Google Shape;378;g3f9c682d955_30_60"/>
          <p:cNvSpPr/>
          <p:nvPr/>
        </p:nvSpPr>
        <p:spPr>
          <a:xfrm>
            <a:off x="8374908" y="3377056"/>
            <a:ext cx="269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지침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수정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9" name="Google Shape;379;g3f9c682d955_30_60"/>
          <p:cNvSpPr/>
          <p:nvPr/>
        </p:nvSpPr>
        <p:spPr>
          <a:xfrm>
            <a:off x="850415" y="4605593"/>
            <a:ext cx="3240900" cy="1206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0" name="Google Shape;380;g3f9c682d955_30_60"/>
          <p:cNvSpPr/>
          <p:nvPr/>
        </p:nvSpPr>
        <p:spPr>
          <a:xfrm>
            <a:off x="1124742" y="4770185"/>
            <a:ext cx="269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재측정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1" name="Google Shape;381;g3f9c682d955_30_60"/>
          <p:cNvSpPr/>
          <p:nvPr/>
        </p:nvSpPr>
        <p:spPr>
          <a:xfrm>
            <a:off x="1124742" y="5172521"/>
            <a:ext cx="269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동일 상황 </a:t>
            </a: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전후 비교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2" name="Google Shape;382;g3f9c682d955_30_60"/>
          <p:cNvSpPr/>
          <p:nvPr/>
        </p:nvSpPr>
        <p:spPr>
          <a:xfrm>
            <a:off x="4091439" y="4605593"/>
            <a:ext cx="3840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3" name="Google Shape;383;g3f9c682d955_30_60"/>
          <p:cNvSpPr/>
          <p:nvPr/>
        </p:nvSpPr>
        <p:spPr>
          <a:xfrm>
            <a:off x="4475497" y="4605593"/>
            <a:ext cx="3240900" cy="1206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4" name="Google Shape;384;g3f9c682d955_30_60"/>
          <p:cNvSpPr/>
          <p:nvPr/>
        </p:nvSpPr>
        <p:spPr>
          <a:xfrm>
            <a:off x="4749825" y="4770185"/>
            <a:ext cx="269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⑤ 다음 문항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5" name="Google Shape;385;g3f9c682d955_30_60"/>
          <p:cNvSpPr/>
          <p:nvPr/>
        </p:nvSpPr>
        <p:spPr>
          <a:xfrm>
            <a:off x="4749825" y="5172521"/>
            <a:ext cx="269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 문항 갱신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6" name="Google Shape;386;g3f9c682d955_30_60"/>
          <p:cNvSpPr/>
          <p:nvPr/>
        </p:nvSpPr>
        <p:spPr>
          <a:xfrm>
            <a:off x="7716523" y="4605593"/>
            <a:ext cx="3840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7" name="Google Shape;387;g3f9c682d955_30_60"/>
          <p:cNvSpPr/>
          <p:nvPr/>
        </p:nvSpPr>
        <p:spPr>
          <a:xfrm>
            <a:off x="8100581" y="4605593"/>
            <a:ext cx="3240900" cy="1206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8" name="Google Shape;388;g3f9c682d955_30_60"/>
          <p:cNvSpPr/>
          <p:nvPr/>
        </p:nvSpPr>
        <p:spPr>
          <a:xfrm>
            <a:off x="8374908" y="4770185"/>
            <a:ext cx="269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⑥ 올리기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9" name="Google Shape;389;g3f9c682d955_30_60"/>
          <p:cNvSpPr/>
          <p:nvPr/>
        </p:nvSpPr>
        <p:spPr>
          <a:xfrm>
            <a:off x="8374900" y="5172511"/>
            <a:ext cx="2855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변경 수치 · 근거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항목 검토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0" name="Google Shape;390;g3f9c682d955_30_60"/>
          <p:cNvSpPr/>
          <p:nvPr/>
        </p:nvSpPr>
        <p:spPr>
          <a:xfrm>
            <a:off x="850415" y="6053128"/>
            <a:ext cx="1005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5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닫기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1" name="Google Shape;391;g3f9c682d955_30_60"/>
          <p:cNvSpPr/>
          <p:nvPr/>
        </p:nvSpPr>
        <p:spPr>
          <a:xfrm>
            <a:off x="1838242" y="6053130"/>
            <a:ext cx="9636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i="0" lang="en-US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사람이 승인하면 병합 · 재배포됩니다. </a:t>
            </a: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변경 사항 및 적용 항목은 기록해 둡니다</a:t>
            </a:r>
            <a:r>
              <a:rPr i="0" lang="en-US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92" name="Google Shape;392;g3f9c682d955_30_60"/>
          <p:cNvCxnSpPr>
            <a:stCxn id="376" idx="2"/>
            <a:endCxn id="379" idx="0"/>
          </p:cNvCxnSpPr>
          <p:nvPr/>
        </p:nvCxnSpPr>
        <p:spPr>
          <a:xfrm rot="5400000">
            <a:off x="5801681" y="686278"/>
            <a:ext cx="588600" cy="7250100"/>
          </a:xfrm>
          <a:prstGeom prst="bentConnector3">
            <a:avLst>
              <a:gd fmla="val 49997" name="adj1"/>
            </a:avLst>
          </a:prstGeom>
          <a:noFill/>
          <a:ln cap="flat" cmpd="sng" w="19050">
            <a:solidFill>
              <a:srgbClr val="C2162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93" name="Google Shape;393;g3f9c682d955_30_60"/>
          <p:cNvSpPr/>
          <p:nvPr/>
        </p:nvSpPr>
        <p:spPr>
          <a:xfrm>
            <a:off x="850415" y="441179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05</a:t>
            </a: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코드 리뷰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선택과 근거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4" name="Google Shape;394;g3f9c682d955_30_60"/>
          <p:cNvSpPr/>
          <p:nvPr/>
        </p:nvSpPr>
        <p:spPr>
          <a:xfrm>
            <a:off x="850415" y="883245"/>
            <a:ext cx="8595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ahmlet"/>
              <a:buNone/>
            </a:pPr>
            <a:r>
              <a:rPr b="1" lang="en-US" sz="3200">
                <a:solidFill>
                  <a:srgbClr val="F3E6E6"/>
                </a:solidFill>
                <a:latin typeface="Hahmlet"/>
                <a:ea typeface="Hahmlet"/>
                <a:cs typeface="Hahmlet"/>
                <a:sym typeface="Hahmlet"/>
              </a:rPr>
              <a:t>스스로 깨어나는 루프</a:t>
            </a:r>
            <a:endParaRPr b="0" i="0" sz="3200" u="none" cap="none" strike="noStrike">
              <a:solidFill>
                <a:srgbClr val="F3E6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f9c682d955_30_98"/>
          <p:cNvSpPr/>
          <p:nvPr/>
        </p:nvSpPr>
        <p:spPr>
          <a:xfrm>
            <a:off x="0" y="0"/>
            <a:ext cx="121920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f9c682d955_30_98"/>
          <p:cNvSpPr/>
          <p:nvPr/>
        </p:nvSpPr>
        <p:spPr>
          <a:xfrm>
            <a:off x="0" y="1755648"/>
            <a:ext cx="12192000" cy="321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f9c682d955_30_98"/>
          <p:cNvSpPr/>
          <p:nvPr/>
        </p:nvSpPr>
        <p:spPr>
          <a:xfrm>
            <a:off x="850415" y="2355561"/>
            <a:ext cx="10491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Hahmlet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바퀴가 끝나면 다음 바퀴의 질문지도 함께 바뀝니다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3" name="Google Shape;403;g3f9c682d955_30_98"/>
          <p:cNvSpPr/>
          <p:nvPr/>
        </p:nvSpPr>
        <p:spPr>
          <a:xfrm>
            <a:off x="1020955" y="3208885"/>
            <a:ext cx="2249400" cy="7131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4" name="Google Shape;404;g3f9c682d955_30_98"/>
          <p:cNvSpPr/>
          <p:nvPr/>
        </p:nvSpPr>
        <p:spPr>
          <a:xfrm>
            <a:off x="1020955" y="3208885"/>
            <a:ext cx="2249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Hahmlet"/>
              <a:buNone/>
            </a:pPr>
            <a:r>
              <a:rPr b="1" lang="en-US" sz="24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게임을 한다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5" name="Google Shape;405;g3f9c682d955_30_98"/>
          <p:cNvSpPr/>
          <p:nvPr/>
        </p:nvSpPr>
        <p:spPr>
          <a:xfrm>
            <a:off x="3654497" y="3208885"/>
            <a:ext cx="2249400" cy="7131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6" name="Google Shape;406;g3f9c682d955_30_98"/>
          <p:cNvSpPr/>
          <p:nvPr/>
        </p:nvSpPr>
        <p:spPr>
          <a:xfrm>
            <a:off x="3654497" y="3208885"/>
            <a:ext cx="2249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Hahmlet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기록이 쌓인다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7" name="Google Shape;407;g3f9c682d955_30_98"/>
          <p:cNvSpPr/>
          <p:nvPr/>
        </p:nvSpPr>
        <p:spPr>
          <a:xfrm>
            <a:off x="6288040" y="3208885"/>
            <a:ext cx="2249400" cy="7131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8" name="Google Shape;408;g3f9c682d955_30_98"/>
          <p:cNvSpPr/>
          <p:nvPr/>
        </p:nvSpPr>
        <p:spPr>
          <a:xfrm>
            <a:off x="6288040" y="3208885"/>
            <a:ext cx="2249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Hahmlet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루프가 돈다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9" name="Google Shape;409;g3f9c682d955_30_98"/>
          <p:cNvSpPr/>
          <p:nvPr/>
        </p:nvSpPr>
        <p:spPr>
          <a:xfrm>
            <a:off x="8921582" y="3208885"/>
            <a:ext cx="2249400" cy="713100"/>
          </a:xfrm>
          <a:prstGeom prst="rect">
            <a:avLst/>
          </a:prstGeom>
          <a:solidFill>
            <a:srgbClr val="1F0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0" name="Google Shape;410;g3f9c682d955_30_98"/>
          <p:cNvSpPr/>
          <p:nvPr/>
        </p:nvSpPr>
        <p:spPr>
          <a:xfrm>
            <a:off x="8921582" y="3208885"/>
            <a:ext cx="2249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800"/>
              <a:buFont typeface="Hahmlet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지침이 바뀐다</a:t>
            </a:r>
            <a:endParaRPr b="1" i="0" sz="24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1" name="Google Shape;411;g3f9c682d955_30_98"/>
          <p:cNvSpPr/>
          <p:nvPr/>
        </p:nvSpPr>
        <p:spPr>
          <a:xfrm>
            <a:off x="2198850" y="4618931"/>
            <a:ext cx="7804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500"/>
              <a:buFont typeface="Hahmlet"/>
              <a:buNone/>
            </a:pPr>
            <a:r>
              <a:rPr b="1" i="0" lang="en-US" sz="24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바뀐 봇으로 다음 판이 시작되고, 기록이 다시 쌓입니다</a:t>
            </a:r>
            <a:endParaRPr b="1" i="0" sz="2400" u="none" cap="none" strike="noStrike">
              <a:solidFill>
                <a:srgbClr val="C216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2" name="Google Shape;412;g3f9c682d955_30_98"/>
          <p:cNvSpPr/>
          <p:nvPr/>
        </p:nvSpPr>
        <p:spPr>
          <a:xfrm>
            <a:off x="850415" y="5468582"/>
            <a:ext cx="10491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Hahmlet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게임이 봇을 재고, 그 결과가 다시 게임으로 돌아갑니다.</a:t>
            </a:r>
            <a:endParaRPr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3" name="Google Shape;413;g3f9c682d955_30_98"/>
          <p:cNvSpPr/>
          <p:nvPr/>
        </p:nvSpPr>
        <p:spPr>
          <a:xfrm>
            <a:off x="850415" y="441179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05</a:t>
            </a: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코드 리뷰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효 과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4" name="Google Shape;414;g3f9c682d955_30_98"/>
          <p:cNvSpPr/>
          <p:nvPr/>
        </p:nvSpPr>
        <p:spPr>
          <a:xfrm>
            <a:off x="850415" y="883245"/>
            <a:ext cx="8595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ahmlet"/>
              <a:buNone/>
            </a:pPr>
            <a:r>
              <a:rPr b="1" lang="en-US" sz="3200">
                <a:solidFill>
                  <a:srgbClr val="F3E6E6"/>
                </a:solidFill>
                <a:latin typeface="Hahmlet"/>
                <a:ea typeface="Hahmlet"/>
                <a:cs typeface="Hahmlet"/>
                <a:sym typeface="Hahmlet"/>
              </a:rPr>
              <a:t>고쳐진 봇이 다음 판에 나갑니다</a:t>
            </a:r>
            <a:endParaRPr b="0" i="0" sz="3200" u="none" cap="none" strike="noStrike">
              <a:solidFill>
                <a:srgbClr val="F3E6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5" name="Google Shape;415;g3f9c682d955_30_98"/>
          <p:cNvCxnSpPr/>
          <p:nvPr/>
        </p:nvCxnSpPr>
        <p:spPr>
          <a:xfrm rot="10800000">
            <a:off x="2139507" y="4026306"/>
            <a:ext cx="12300" cy="339600"/>
          </a:xfrm>
          <a:prstGeom prst="straightConnector1">
            <a:avLst/>
          </a:prstGeom>
          <a:noFill/>
          <a:ln cap="flat" cmpd="sng" w="28575">
            <a:solidFill>
              <a:srgbClr val="C2162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6" name="Google Shape;416;g3f9c682d955_30_98"/>
          <p:cNvCxnSpPr>
            <a:stCxn id="404" idx="3"/>
            <a:endCxn id="406" idx="1"/>
          </p:cNvCxnSpPr>
          <p:nvPr/>
        </p:nvCxnSpPr>
        <p:spPr>
          <a:xfrm>
            <a:off x="3270355" y="3565435"/>
            <a:ext cx="384000" cy="0"/>
          </a:xfrm>
          <a:prstGeom prst="straightConnector1">
            <a:avLst/>
          </a:prstGeom>
          <a:noFill/>
          <a:ln cap="flat" cmpd="sng" w="28575">
            <a:solidFill>
              <a:srgbClr val="C2162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7" name="Google Shape;417;g3f9c682d955_30_98"/>
          <p:cNvCxnSpPr/>
          <p:nvPr/>
        </p:nvCxnSpPr>
        <p:spPr>
          <a:xfrm>
            <a:off x="5903968" y="3565435"/>
            <a:ext cx="384000" cy="0"/>
          </a:xfrm>
          <a:prstGeom prst="straightConnector1">
            <a:avLst/>
          </a:prstGeom>
          <a:noFill/>
          <a:ln cap="flat" cmpd="sng" w="28575">
            <a:solidFill>
              <a:srgbClr val="C2162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8" name="Google Shape;418;g3f9c682d955_30_98"/>
          <p:cNvCxnSpPr/>
          <p:nvPr/>
        </p:nvCxnSpPr>
        <p:spPr>
          <a:xfrm>
            <a:off x="8537443" y="3565435"/>
            <a:ext cx="384000" cy="0"/>
          </a:xfrm>
          <a:prstGeom prst="straightConnector1">
            <a:avLst/>
          </a:prstGeom>
          <a:noFill/>
          <a:ln cap="flat" cmpd="sng" w="28575">
            <a:solidFill>
              <a:srgbClr val="C2162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9" name="Google Shape;419;g3f9c682d955_30_98"/>
          <p:cNvCxnSpPr/>
          <p:nvPr/>
        </p:nvCxnSpPr>
        <p:spPr>
          <a:xfrm>
            <a:off x="10044182" y="4030372"/>
            <a:ext cx="4200" cy="331500"/>
          </a:xfrm>
          <a:prstGeom prst="straightConnector1">
            <a:avLst/>
          </a:prstGeom>
          <a:noFill/>
          <a:ln cap="flat" cmpd="sng" w="28575">
            <a:solidFill>
              <a:srgbClr val="C2162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g3f9c682d955_30_98"/>
          <p:cNvCxnSpPr/>
          <p:nvPr/>
        </p:nvCxnSpPr>
        <p:spPr>
          <a:xfrm flipH="1">
            <a:off x="2134950" y="4370510"/>
            <a:ext cx="7932000" cy="8100"/>
          </a:xfrm>
          <a:prstGeom prst="straightConnector1">
            <a:avLst/>
          </a:prstGeom>
          <a:noFill/>
          <a:ln cap="flat" cmpd="sng" w="28575">
            <a:solidFill>
              <a:srgbClr val="C2162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2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2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2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활용 방안</a:t>
            </a:r>
            <a:endParaRPr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430" name="Google Shape;430;p12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 txBox="1"/>
          <p:nvPr/>
        </p:nvSpPr>
        <p:spPr>
          <a:xfrm>
            <a:off x="850392" y="2183489"/>
            <a:ext cx="104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모델만 바꿔 끼우면, 그대로 소셜 디덕션 벤치마크가 됩니다</a:t>
            </a:r>
            <a:endParaRPr sz="2100"/>
          </a:p>
        </p:txBody>
      </p:sp>
      <p:sp>
        <p:nvSpPr>
          <p:cNvPr id="432" name="Google Shape;432;p12"/>
          <p:cNvSpPr/>
          <p:nvPr/>
        </p:nvSpPr>
        <p:spPr>
          <a:xfrm>
            <a:off x="850392" y="2635890"/>
            <a:ext cx="104913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850400" y="2818670"/>
            <a:ext cx="2444400" cy="1227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 txBox="1"/>
          <p:nvPr/>
        </p:nvSpPr>
        <p:spPr>
          <a:xfrm>
            <a:off x="1051560" y="2980648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2100"/>
          </a:p>
        </p:txBody>
      </p:sp>
      <p:sp>
        <p:nvSpPr>
          <p:cNvPr id="435" name="Google Shape;435;p12"/>
          <p:cNvSpPr txBox="1"/>
          <p:nvPr/>
        </p:nvSpPr>
        <p:spPr>
          <a:xfrm>
            <a:off x="1051560" y="3379453"/>
            <a:ext cx="2042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모델을 바꾼다</a:t>
            </a:r>
            <a:endParaRPr sz="2100"/>
          </a:p>
        </p:txBody>
      </p:sp>
      <p:cxnSp>
        <p:nvCxnSpPr>
          <p:cNvPr id="436" name="Google Shape;436;p12"/>
          <p:cNvCxnSpPr/>
          <p:nvPr/>
        </p:nvCxnSpPr>
        <p:spPr>
          <a:xfrm>
            <a:off x="3331456" y="3562333"/>
            <a:ext cx="164700" cy="0"/>
          </a:xfrm>
          <a:prstGeom prst="straightConnector1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437" name="Google Shape;437;p12"/>
          <p:cNvSpPr/>
          <p:nvPr/>
        </p:nvSpPr>
        <p:spPr>
          <a:xfrm>
            <a:off x="3532625" y="2818670"/>
            <a:ext cx="2444400" cy="1227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 txBox="1"/>
          <p:nvPr/>
        </p:nvSpPr>
        <p:spPr>
          <a:xfrm>
            <a:off x="3733792" y="2980648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2100"/>
          </a:p>
        </p:txBody>
      </p:sp>
      <p:sp>
        <p:nvSpPr>
          <p:cNvPr id="439" name="Google Shape;439;p12"/>
          <p:cNvSpPr txBox="1"/>
          <p:nvPr/>
        </p:nvSpPr>
        <p:spPr>
          <a:xfrm>
            <a:off x="3733800" y="3379456"/>
            <a:ext cx="2196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판을 돌린다</a:t>
            </a:r>
            <a:endParaRPr sz="2100"/>
          </a:p>
        </p:txBody>
      </p:sp>
      <p:cxnSp>
        <p:nvCxnSpPr>
          <p:cNvPr id="440" name="Google Shape;440;p12"/>
          <p:cNvCxnSpPr/>
          <p:nvPr/>
        </p:nvCxnSpPr>
        <p:spPr>
          <a:xfrm>
            <a:off x="6013688" y="3562333"/>
            <a:ext cx="164700" cy="0"/>
          </a:xfrm>
          <a:prstGeom prst="straightConnector1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441" name="Google Shape;441;p12"/>
          <p:cNvSpPr/>
          <p:nvPr/>
        </p:nvSpPr>
        <p:spPr>
          <a:xfrm>
            <a:off x="6214850" y="2818670"/>
            <a:ext cx="2444400" cy="1227900"/>
          </a:xfrm>
          <a:prstGeom prst="rect">
            <a:avLst/>
          </a:prstGeom>
          <a:solidFill>
            <a:srgbClr val="160607"/>
          </a:solidFill>
          <a:ln cap="flat" cmpd="sng" w="22225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2"/>
          <p:cNvSpPr txBox="1"/>
          <p:nvPr/>
        </p:nvSpPr>
        <p:spPr>
          <a:xfrm>
            <a:off x="6416024" y="2980648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sz="2100"/>
          </a:p>
        </p:txBody>
      </p:sp>
      <p:sp>
        <p:nvSpPr>
          <p:cNvPr id="443" name="Google Shape;443;p12"/>
          <p:cNvSpPr txBox="1"/>
          <p:nvPr/>
        </p:nvSpPr>
        <p:spPr>
          <a:xfrm>
            <a:off x="6416024" y="3379453"/>
            <a:ext cx="2042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사람이 판정한다</a:t>
            </a:r>
            <a:endParaRPr sz="2100">
              <a:solidFill>
                <a:schemeClr val="lt1"/>
              </a:solidFill>
            </a:endParaRPr>
          </a:p>
        </p:txBody>
      </p:sp>
      <p:cxnSp>
        <p:nvCxnSpPr>
          <p:cNvPr id="444" name="Google Shape;444;p12"/>
          <p:cNvCxnSpPr/>
          <p:nvPr/>
        </p:nvCxnSpPr>
        <p:spPr>
          <a:xfrm>
            <a:off x="8695921" y="3562333"/>
            <a:ext cx="164700" cy="0"/>
          </a:xfrm>
          <a:prstGeom prst="straightConnector1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445" name="Google Shape;445;p12"/>
          <p:cNvSpPr/>
          <p:nvPr/>
        </p:nvSpPr>
        <p:spPr>
          <a:xfrm>
            <a:off x="8897100" y="2818670"/>
            <a:ext cx="2444400" cy="1227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 txBox="1"/>
          <p:nvPr/>
        </p:nvSpPr>
        <p:spPr>
          <a:xfrm>
            <a:off x="9098257" y="2980648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sz="2100"/>
          </a:p>
        </p:txBody>
      </p:sp>
      <p:sp>
        <p:nvSpPr>
          <p:cNvPr id="447" name="Google Shape;447;p12"/>
          <p:cNvSpPr txBox="1"/>
          <p:nvPr/>
        </p:nvSpPr>
        <p:spPr>
          <a:xfrm>
            <a:off x="9098257" y="3379453"/>
            <a:ext cx="2042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기록이</a:t>
            </a: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 남는다</a:t>
            </a:r>
            <a:endParaRPr sz="2100"/>
          </a:p>
        </p:txBody>
      </p:sp>
      <p:sp>
        <p:nvSpPr>
          <p:cNvPr id="448" name="Google Shape;448;p12"/>
          <p:cNvSpPr txBox="1"/>
          <p:nvPr/>
        </p:nvSpPr>
        <p:spPr>
          <a:xfrm>
            <a:off x="850392" y="4312139"/>
            <a:ext cx="274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무엇을 재는가</a:t>
            </a:r>
            <a:endParaRPr sz="2100"/>
          </a:p>
        </p:txBody>
      </p:sp>
      <p:sp>
        <p:nvSpPr>
          <p:cNvPr id="449" name="Google Shape;449;p12"/>
          <p:cNvSpPr/>
          <p:nvPr/>
        </p:nvSpPr>
        <p:spPr>
          <a:xfrm>
            <a:off x="850400" y="4849112"/>
            <a:ext cx="2327100" cy="684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2"/>
          <p:cNvSpPr txBox="1"/>
          <p:nvPr/>
        </p:nvSpPr>
        <p:spPr>
          <a:xfrm>
            <a:off x="981034" y="5044584"/>
            <a:ext cx="199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색출 정답률</a:t>
            </a:r>
            <a:endParaRPr sz="2100"/>
          </a:p>
        </p:txBody>
      </p:sp>
      <p:sp>
        <p:nvSpPr>
          <p:cNvPr id="451" name="Google Shape;451;p12"/>
          <p:cNvSpPr/>
          <p:nvPr/>
        </p:nvSpPr>
        <p:spPr>
          <a:xfrm>
            <a:off x="3415275" y="4849112"/>
            <a:ext cx="2327100" cy="684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2"/>
          <p:cNvSpPr txBox="1"/>
          <p:nvPr/>
        </p:nvSpPr>
        <p:spPr>
          <a:xfrm>
            <a:off x="3545926" y="5044584"/>
            <a:ext cx="199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티 사유 분포</a:t>
            </a:r>
            <a:endParaRPr sz="2100"/>
          </a:p>
        </p:txBody>
      </p:sp>
      <p:sp>
        <p:nvSpPr>
          <p:cNvPr id="453" name="Google Shape;453;p12"/>
          <p:cNvSpPr/>
          <p:nvPr/>
        </p:nvSpPr>
        <p:spPr>
          <a:xfrm>
            <a:off x="850400" y="5614815"/>
            <a:ext cx="2327100" cy="684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 txBox="1"/>
          <p:nvPr/>
        </p:nvSpPr>
        <p:spPr>
          <a:xfrm>
            <a:off x="981024" y="5810264"/>
            <a:ext cx="207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라이어 게임 승률</a:t>
            </a:r>
            <a:endParaRPr sz="2100"/>
          </a:p>
        </p:txBody>
      </p:sp>
      <p:sp>
        <p:nvSpPr>
          <p:cNvPr id="455" name="Google Shape;455;p12"/>
          <p:cNvSpPr/>
          <p:nvPr/>
        </p:nvSpPr>
        <p:spPr>
          <a:xfrm>
            <a:off x="3415275" y="5614815"/>
            <a:ext cx="2327100" cy="684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 txBox="1"/>
          <p:nvPr/>
        </p:nvSpPr>
        <p:spPr>
          <a:xfrm>
            <a:off x="3523291" y="5810264"/>
            <a:ext cx="2196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 </a:t>
            </a: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갱신 후 비교</a:t>
            </a:r>
            <a:endParaRPr sz="2100"/>
          </a:p>
        </p:txBody>
      </p:sp>
      <p:sp>
        <p:nvSpPr>
          <p:cNvPr id="457" name="Google Shape;457;p12"/>
          <p:cNvSpPr/>
          <p:nvPr/>
        </p:nvSpPr>
        <p:spPr>
          <a:xfrm>
            <a:off x="6013700" y="4849117"/>
            <a:ext cx="5328000" cy="1449600"/>
          </a:xfrm>
          <a:prstGeom prst="rect">
            <a:avLst/>
          </a:prstGeom>
          <a:solidFill>
            <a:srgbClr val="160607"/>
          </a:solidFill>
          <a:ln cap="flat" cmpd="sng" w="22225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2"/>
          <p:cNvSpPr txBox="1"/>
          <p:nvPr/>
        </p:nvSpPr>
        <p:spPr>
          <a:xfrm>
            <a:off x="6214557" y="4966555"/>
            <a:ext cx="475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LLM 벤치마크와 다른 점</a:t>
            </a:r>
            <a:endParaRPr>
              <a:solidFill>
                <a:srgbClr val="FF2733"/>
              </a:solidFill>
            </a:endParaRPr>
          </a:p>
        </p:txBody>
      </p:sp>
      <p:sp>
        <p:nvSpPr>
          <p:cNvPr id="459" name="Google Shape;459;p12"/>
          <p:cNvSpPr txBox="1"/>
          <p:nvPr/>
        </p:nvSpPr>
        <p:spPr>
          <a:xfrm>
            <a:off x="6214545" y="5433596"/>
            <a:ext cx="4995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정답을 채점표가 아니라 사람이 정합니다</a:t>
            </a:r>
            <a:endParaRPr b="1" sz="18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점수와 함께 왜 걸렸는지가 문장으로 남습니다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f9dd5f40ea_12_0"/>
          <p:cNvSpPr/>
          <p:nvPr/>
        </p:nvSpPr>
        <p:spPr>
          <a:xfrm>
            <a:off x="0" y="0"/>
            <a:ext cx="121917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g3f9dd5f40ea_12_0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g3f9dd5f40ea_12_0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07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g3f9dd5f40ea_12_0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600"/>
              <a:buFont typeface="Malgun Gothic"/>
              <a:buNone/>
            </a:pPr>
            <a:r>
              <a:rPr b="0"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사업성</a:t>
            </a:r>
            <a:endParaRPr b="0"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469" name="Google Shape;469;g3f9dd5f40ea_12_0"/>
          <p:cNvSpPr/>
          <p:nvPr/>
        </p:nvSpPr>
        <p:spPr>
          <a:xfrm>
            <a:off x="598575" y="2139700"/>
            <a:ext cx="6254700" cy="42480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3f9dd5f40ea_12_0"/>
          <p:cNvSpPr txBox="1"/>
          <p:nvPr/>
        </p:nvSpPr>
        <p:spPr>
          <a:xfrm>
            <a:off x="918622" y="2433066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600"/>
              <a:buFont typeface="Malgun Gothic"/>
              <a:buNone/>
            </a:pPr>
            <a:r>
              <a:rPr b="1" i="0" lang="en-US" sz="27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g3f9dd5f40ea_12_0"/>
          <p:cNvSpPr txBox="1"/>
          <p:nvPr/>
        </p:nvSpPr>
        <p:spPr>
          <a:xfrm>
            <a:off x="918622" y="2838831"/>
            <a:ext cx="5760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Google AdSense · 인트로 화면 광고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g3f9dd5f40ea_12_0"/>
          <p:cNvSpPr txBox="1"/>
          <p:nvPr/>
        </p:nvSpPr>
        <p:spPr>
          <a:xfrm>
            <a:off x="836810" y="3376803"/>
            <a:ext cx="914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위치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3f9dd5f40ea_12_0"/>
          <p:cNvSpPr txBox="1"/>
          <p:nvPr/>
        </p:nvSpPr>
        <p:spPr>
          <a:xfrm>
            <a:off x="1838796" y="3364428"/>
            <a:ext cx="5014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400"/>
              <a:buFont typeface="Malgun Gothic"/>
              <a:buNone/>
            </a:pPr>
            <a:r>
              <a:rPr b="1" lang="en-US" sz="15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로비</a:t>
            </a:r>
            <a:r>
              <a:rPr b="1" i="0" lang="en-US" sz="15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· 대기실 </a:t>
            </a:r>
            <a:r>
              <a:rPr b="1" lang="en-US" sz="15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결과 </a:t>
            </a:r>
            <a:r>
              <a:rPr b="1" i="0" lang="en-US" sz="15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 게임 화면</a:t>
            </a:r>
            <a:r>
              <a:rPr b="1" lang="en-US" sz="15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제외하고</a:t>
            </a:r>
            <a:r>
              <a:rPr b="1" i="0" lang="en-US" sz="15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배치합니다.</a:t>
            </a:r>
            <a:endParaRPr b="1" i="0" sz="15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4" name="Google Shape;474;g3f9dd5f40ea_12_0"/>
          <p:cNvSpPr txBox="1"/>
          <p:nvPr/>
        </p:nvSpPr>
        <p:spPr>
          <a:xfrm>
            <a:off x="836814" y="4037450"/>
            <a:ext cx="914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600"/>
              <a:buFont typeface="Malgun Gothic"/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제외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f9dd5f40ea_12_0"/>
          <p:cNvSpPr txBox="1"/>
          <p:nvPr/>
        </p:nvSpPr>
        <p:spPr>
          <a:xfrm>
            <a:off x="1838800" y="4033668"/>
            <a:ext cx="4755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 화면에</a:t>
            </a:r>
            <a:r>
              <a:rPr b="1" lang="en-US" sz="13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삽입하면</a:t>
            </a:r>
            <a:r>
              <a:rPr b="1" i="0" lang="en-US" sz="13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몰입을 깨고, 화면 정보와 섞</a:t>
            </a:r>
            <a:r>
              <a:rPr b="1" lang="en-US" sz="13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 버립니다.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g3f9dd5f40ea_12_0"/>
          <p:cNvSpPr txBox="1"/>
          <p:nvPr/>
        </p:nvSpPr>
        <p:spPr>
          <a:xfrm>
            <a:off x="836810" y="4802886"/>
            <a:ext cx="914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목적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f9dd5f40ea_12_0"/>
          <p:cNvSpPr txBox="1"/>
          <p:nvPr/>
        </p:nvSpPr>
        <p:spPr>
          <a:xfrm>
            <a:off x="1838800" y="4800039"/>
            <a:ext cx="4755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300"/>
              <a:buFont typeface="Malgun Gothic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큰 수익이 아니라 서버 유지비 충당입니다.</a:t>
            </a:r>
            <a:endParaRPr b="1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3f9dd5f40ea_12_0"/>
          <p:cNvSpPr txBox="1"/>
          <p:nvPr/>
        </p:nvSpPr>
        <p:spPr>
          <a:xfrm>
            <a:off x="836810" y="5568315"/>
            <a:ext cx="914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f9dd5f40ea_12_0"/>
          <p:cNvSpPr txBox="1"/>
          <p:nvPr/>
        </p:nvSpPr>
        <p:spPr>
          <a:xfrm>
            <a:off x="1838800" y="5574993"/>
            <a:ext cx="4755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300"/>
              <a:buFont typeface="Malgun Gothic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애드블록 사용자에게는 애초에 노출되지 않습니다.</a:t>
            </a:r>
            <a:endParaRPr b="1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g3f9dd5f40ea_12_0"/>
          <p:cNvSpPr txBox="1"/>
          <p:nvPr/>
        </p:nvSpPr>
        <p:spPr>
          <a:xfrm>
            <a:off x="7137155" y="2425560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600"/>
              <a:buFont typeface="Malgun Gothic"/>
              <a:buNone/>
            </a:pPr>
            <a:r>
              <a:rPr b="1" i="0" lang="en-US" sz="27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SUB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f9dd5f40ea_12_0"/>
          <p:cNvSpPr txBox="1"/>
          <p:nvPr/>
        </p:nvSpPr>
        <p:spPr>
          <a:xfrm>
            <a:off x="7137158" y="2858242"/>
            <a:ext cx="395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영어 버전 글로벌 동시 런칭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f9dd5f40ea_12_0"/>
          <p:cNvSpPr txBox="1"/>
          <p:nvPr/>
        </p:nvSpPr>
        <p:spPr>
          <a:xfrm>
            <a:off x="7126201" y="3299235"/>
            <a:ext cx="4755000" cy="23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개발 리소스는 1회, 언어만 추가하면 됩니다</a:t>
            </a:r>
            <a:endParaRPr b="1" i="0" sz="1800" u="none" cap="none" strike="noStrike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t/>
            </a:r>
            <a:endParaRPr b="1" sz="1800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텍스트 UI라 현지화 비용이 낮습니다</a:t>
            </a:r>
            <a:endParaRPr b="1" i="0" sz="1800" u="none" cap="none" strike="noStrike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t/>
            </a:r>
            <a:endParaRPr b="1" sz="1800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1" lang="en-US" sz="1800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Google AdSense 광고 단가</a:t>
            </a:r>
            <a:endParaRPr b="1" sz="1800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b="1" lang="en-US" sz="1800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─ 미국이 한국의 4 ~ 8배</a:t>
            </a:r>
            <a:endParaRPr b="1" sz="1800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f9f5e3993b_0_7"/>
          <p:cNvSpPr/>
          <p:nvPr/>
        </p:nvSpPr>
        <p:spPr>
          <a:xfrm>
            <a:off x="0" y="0"/>
            <a:ext cx="121917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g3f9f5e3993b_0_7"/>
          <p:cNvSpPr/>
          <p:nvPr/>
        </p:nvSpPr>
        <p:spPr>
          <a:xfrm>
            <a:off x="0" y="1755648"/>
            <a:ext cx="12191700" cy="321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g3f9f5e3993b_0_7"/>
          <p:cNvSpPr/>
          <p:nvPr/>
        </p:nvSpPr>
        <p:spPr>
          <a:xfrm>
            <a:off x="850392" y="445861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500"/>
              <a:buFont typeface="Hahmlet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07 · 사업성</a:t>
            </a:r>
            <a:endParaRPr i="0" sz="2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1" name="Google Shape;491;g3f9f5e3993b_0_7"/>
          <p:cNvSpPr/>
          <p:nvPr/>
        </p:nvSpPr>
        <p:spPr>
          <a:xfrm>
            <a:off x="850392" y="879656"/>
            <a:ext cx="8595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ahmlet"/>
              <a:buNone/>
            </a:pPr>
            <a:r>
              <a:rPr b="1" i="0" lang="en-US" sz="3200" u="none" cap="none" strike="noStrike">
                <a:solidFill>
                  <a:srgbClr val="F3E6E6"/>
                </a:solidFill>
                <a:latin typeface="Hahmlet"/>
                <a:ea typeface="Hahmlet"/>
                <a:cs typeface="Hahmlet"/>
                <a:sym typeface="Hahmlet"/>
              </a:rPr>
              <a:t>언제 흑자가 되나</a:t>
            </a:r>
            <a:endParaRPr b="0" i="0" sz="3200" u="none" cap="none" strike="noStrike">
              <a:solidFill>
                <a:srgbClr val="F3E6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g3f9f5e3993b_0_7"/>
          <p:cNvSpPr/>
          <p:nvPr/>
        </p:nvSpPr>
        <p:spPr>
          <a:xfrm>
            <a:off x="850392" y="2103120"/>
            <a:ext cx="3108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Hahmlet"/>
              <a:buNone/>
            </a:pPr>
            <a:r>
              <a:rPr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 단가별 판당 마진</a:t>
            </a:r>
            <a:endParaRPr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3" name="Google Shape;493;g3f9f5e3993b_0_7"/>
          <p:cNvSpPr/>
          <p:nvPr/>
        </p:nvSpPr>
        <p:spPr>
          <a:xfrm>
            <a:off x="3480706" y="2134840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Hahmlet"/>
              <a:buNone/>
            </a:pPr>
            <a:r>
              <a:rPr i="0" lang="en-US" sz="1800" u="none" cap="none" strike="noStrike">
                <a:solidFill>
                  <a:srgbClr val="FFFFFF"/>
                </a:solidFill>
                <a:highlight>
                  <a:srgbClr val="000000"/>
                </a:highlight>
                <a:latin typeface="Malgun Gothic"/>
                <a:ea typeface="Malgun Gothic"/>
                <a:cs typeface="Malgun Gothic"/>
                <a:sym typeface="Malgun Gothic"/>
              </a:rPr>
              <a:t>노출 = 판당 사람 수 × 광고 화면 수</a:t>
            </a:r>
            <a:endParaRPr i="0" sz="1800" u="none" cap="none" strike="noStrike">
              <a:solidFill>
                <a:srgbClr val="FFFFFF"/>
              </a:solidFill>
              <a:highlight>
                <a:srgbClr val="000000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4" name="Google Shape;494;g3f9f5e3993b_0_7"/>
          <p:cNvSpPr/>
          <p:nvPr/>
        </p:nvSpPr>
        <p:spPr>
          <a:xfrm>
            <a:off x="1874520" y="2615184"/>
            <a:ext cx="1042500" cy="2962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f9f5e3993b_0_7"/>
          <p:cNvSpPr/>
          <p:nvPr/>
        </p:nvSpPr>
        <p:spPr>
          <a:xfrm>
            <a:off x="1874520" y="2670048"/>
            <a:ext cx="1042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Hahmlet"/>
              <a:buNone/>
            </a:pPr>
            <a:r>
              <a:rPr b="1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한국 $1~2</a:t>
            </a:r>
            <a:endParaRPr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6" name="Google Shape;496;g3f9f5e3993b_0_7"/>
          <p:cNvSpPr/>
          <p:nvPr/>
        </p:nvSpPr>
        <p:spPr>
          <a:xfrm>
            <a:off x="2916936" y="2670048"/>
            <a:ext cx="4169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Hahmlet"/>
              <a:buNone/>
            </a:pPr>
            <a:r>
              <a:rPr b="1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영어권 $2~6</a:t>
            </a:r>
            <a:endParaRPr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7" name="Google Shape;497;g3f9f5e3993b_0_7"/>
          <p:cNvSpPr/>
          <p:nvPr/>
        </p:nvSpPr>
        <p:spPr>
          <a:xfrm rot="-5400000">
            <a:off x="-84" y="3730776"/>
            <a:ext cx="146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Hahmlet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판당 마진</a:t>
            </a:r>
            <a:endParaRPr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98" name="Google Shape;498;g3f9f5e3993b_0_7"/>
          <p:cNvCxnSpPr/>
          <p:nvPr/>
        </p:nvCxnSpPr>
        <p:spPr>
          <a:xfrm>
            <a:off x="1874520" y="2615184"/>
            <a:ext cx="0" cy="2962800"/>
          </a:xfrm>
          <a:prstGeom prst="straightConnector1">
            <a:avLst/>
          </a:prstGeom>
          <a:noFill/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9" name="Google Shape;499;g3f9f5e3993b_0_7"/>
          <p:cNvSpPr/>
          <p:nvPr/>
        </p:nvSpPr>
        <p:spPr>
          <a:xfrm>
            <a:off x="1161288" y="2625123"/>
            <a:ext cx="621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100"/>
              <a:buFont typeface="Consolas"/>
              <a:buNone/>
            </a:pPr>
            <a:r>
              <a:rPr i="0" lang="en-US" sz="11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＋90원</a:t>
            </a:r>
            <a:endParaRPr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0" name="Google Shape;500;g3f9f5e3993b_0_7"/>
          <p:cNvSpPr/>
          <p:nvPr/>
        </p:nvSpPr>
        <p:spPr>
          <a:xfrm>
            <a:off x="1161288" y="4943723"/>
            <a:ext cx="621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0원</a:t>
            </a:r>
            <a:endParaRPr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1" name="Google Shape;501;g3f9f5e3993b_0_7"/>
          <p:cNvSpPr/>
          <p:nvPr/>
        </p:nvSpPr>
        <p:spPr>
          <a:xfrm>
            <a:off x="1161288" y="5358384"/>
            <a:ext cx="621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100"/>
              <a:buFont typeface="Consolas"/>
              <a:buNone/>
            </a:pPr>
            <a:r>
              <a:rPr i="0" lang="en-US" sz="11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－20원</a:t>
            </a:r>
            <a:endParaRPr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02" name="Google Shape;502;g3f9f5e3993b_0_7"/>
          <p:cNvCxnSpPr/>
          <p:nvPr/>
        </p:nvCxnSpPr>
        <p:spPr>
          <a:xfrm>
            <a:off x="1874520" y="5062595"/>
            <a:ext cx="5212200" cy="0"/>
          </a:xfrm>
          <a:prstGeom prst="straightConnector1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3" name="Google Shape;503;g3f9f5e3993b_0_7"/>
          <p:cNvSpPr/>
          <p:nvPr/>
        </p:nvSpPr>
        <p:spPr>
          <a:xfrm>
            <a:off x="1600200" y="5650992"/>
            <a:ext cx="548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$1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3f9f5e3993b_0_7"/>
          <p:cNvSpPr/>
          <p:nvPr/>
        </p:nvSpPr>
        <p:spPr>
          <a:xfrm>
            <a:off x="2642616" y="5650992"/>
            <a:ext cx="548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$2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g3f9f5e3993b_0_7"/>
          <p:cNvSpPr/>
          <p:nvPr/>
        </p:nvSpPr>
        <p:spPr>
          <a:xfrm>
            <a:off x="3685032" y="5650992"/>
            <a:ext cx="548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$3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g3f9f5e3993b_0_7"/>
          <p:cNvSpPr/>
          <p:nvPr/>
        </p:nvSpPr>
        <p:spPr>
          <a:xfrm>
            <a:off x="4727448" y="5650992"/>
            <a:ext cx="548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$4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g3f9f5e3993b_0_7"/>
          <p:cNvSpPr/>
          <p:nvPr/>
        </p:nvSpPr>
        <p:spPr>
          <a:xfrm>
            <a:off x="5769864" y="5650992"/>
            <a:ext cx="548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$5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g3f9f5e3993b_0_7"/>
          <p:cNvSpPr/>
          <p:nvPr/>
        </p:nvSpPr>
        <p:spPr>
          <a:xfrm>
            <a:off x="6812280" y="5650992"/>
            <a:ext cx="548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$6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g3f9f5e3993b_0_7"/>
          <p:cNvSpPr/>
          <p:nvPr/>
        </p:nvSpPr>
        <p:spPr>
          <a:xfrm>
            <a:off x="1874520" y="5961888"/>
            <a:ext cx="5212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Hahmlet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 단가 RPM — 광고 1,000회 노출당 수익</a:t>
            </a:r>
            <a:endParaRPr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10" name="Google Shape;510;g3f9f5e3993b_0_7"/>
          <p:cNvCxnSpPr/>
          <p:nvPr/>
        </p:nvCxnSpPr>
        <p:spPr>
          <a:xfrm flipH="1" rot="10800000">
            <a:off x="1874520" y="4859574"/>
            <a:ext cx="5212200" cy="705900"/>
          </a:xfrm>
          <a:prstGeom prst="straightConnector1">
            <a:avLst/>
          </a:prstGeom>
          <a:noFill/>
          <a:ln cap="flat" cmpd="sng" w="31750">
            <a:solidFill>
              <a:srgbClr val="F0857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1" name="Google Shape;511;g3f9f5e3993b_0_7"/>
          <p:cNvSpPr/>
          <p:nvPr/>
        </p:nvSpPr>
        <p:spPr>
          <a:xfrm>
            <a:off x="5537359" y="5012303"/>
            <a:ext cx="100500" cy="100500"/>
          </a:xfrm>
          <a:prstGeom prst="ellipse">
            <a:avLst/>
          </a:prstGeom>
          <a:solidFill>
            <a:srgbClr val="F0857E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2" name="Google Shape;512;g3f9f5e3993b_0_7"/>
          <p:cNvCxnSpPr/>
          <p:nvPr/>
        </p:nvCxnSpPr>
        <p:spPr>
          <a:xfrm flipH="1" rot="10800000">
            <a:off x="1874520" y="4647880"/>
            <a:ext cx="5212200" cy="882300"/>
          </a:xfrm>
          <a:prstGeom prst="straightConnector1">
            <a:avLst/>
          </a:prstGeom>
          <a:noFill/>
          <a:ln cap="flat" cmpd="sng" w="31750">
            <a:solidFill>
              <a:srgbClr val="DC4A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3" name="Google Shape;513;g3f9f5e3993b_0_7"/>
          <p:cNvSpPr/>
          <p:nvPr/>
        </p:nvSpPr>
        <p:spPr>
          <a:xfrm>
            <a:off x="4586250" y="5012303"/>
            <a:ext cx="100500" cy="100500"/>
          </a:xfrm>
          <a:prstGeom prst="ellipse">
            <a:avLst/>
          </a:prstGeom>
          <a:solidFill>
            <a:srgbClr val="DC4A4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4" name="Google Shape;514;g3f9f5e3993b_0_7"/>
          <p:cNvCxnSpPr/>
          <p:nvPr/>
        </p:nvCxnSpPr>
        <p:spPr>
          <a:xfrm flipH="1" rot="10800000">
            <a:off x="1874520" y="3589108"/>
            <a:ext cx="5212200" cy="1764600"/>
          </a:xfrm>
          <a:prstGeom prst="straightConnector1">
            <a:avLst/>
          </a:prstGeom>
          <a:noFill/>
          <a:ln cap="flat" cmpd="sng" w="31750">
            <a:solidFill>
              <a:srgbClr val="C216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5" name="Google Shape;515;g3f9f5e3993b_0_7"/>
          <p:cNvSpPr/>
          <p:nvPr/>
        </p:nvSpPr>
        <p:spPr>
          <a:xfrm>
            <a:off x="2684031" y="5012303"/>
            <a:ext cx="100500" cy="100500"/>
          </a:xfrm>
          <a:prstGeom prst="ellipse">
            <a:avLst/>
          </a:prstGeom>
          <a:solidFill>
            <a:srgbClr val="C2162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6" name="Google Shape;516;g3f9f5e3993b_0_7"/>
          <p:cNvCxnSpPr/>
          <p:nvPr/>
        </p:nvCxnSpPr>
        <p:spPr>
          <a:xfrm flipH="1" rot="10800000">
            <a:off x="1874520" y="2742031"/>
            <a:ext cx="5212200" cy="2470500"/>
          </a:xfrm>
          <a:prstGeom prst="straightConnector1">
            <a:avLst/>
          </a:prstGeom>
          <a:noFill/>
          <a:ln cap="flat" cmpd="sng" w="31750">
            <a:solidFill>
              <a:srgbClr val="7E0D1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7" name="Google Shape;517;g3f9f5e3993b_0_7"/>
          <p:cNvSpPr/>
          <p:nvPr/>
        </p:nvSpPr>
        <p:spPr>
          <a:xfrm>
            <a:off x="2140540" y="5012303"/>
            <a:ext cx="100500" cy="100500"/>
          </a:xfrm>
          <a:prstGeom prst="ellipse">
            <a:avLst/>
          </a:prstGeom>
          <a:solidFill>
            <a:srgbClr val="7E0D1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g3f9f5e3993b_0_7"/>
          <p:cNvSpPr/>
          <p:nvPr/>
        </p:nvSpPr>
        <p:spPr>
          <a:xfrm>
            <a:off x="5203603" y="5154035"/>
            <a:ext cx="768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857E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0857E"/>
                </a:solidFill>
                <a:latin typeface="Consolas"/>
                <a:ea typeface="Consolas"/>
                <a:cs typeface="Consolas"/>
                <a:sym typeface="Consolas"/>
              </a:rPr>
              <a:t>$4.56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g3f9f5e3993b_0_7"/>
          <p:cNvSpPr/>
          <p:nvPr/>
        </p:nvSpPr>
        <p:spPr>
          <a:xfrm>
            <a:off x="4252532" y="5321954"/>
            <a:ext cx="768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4A4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DC4A44"/>
                </a:solidFill>
                <a:latin typeface="Consolas"/>
                <a:ea typeface="Consolas"/>
                <a:cs typeface="Consolas"/>
                <a:sym typeface="Consolas"/>
              </a:rPr>
              <a:t>$3.65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g3f9f5e3993b_0_7"/>
          <p:cNvSpPr/>
          <p:nvPr/>
        </p:nvSpPr>
        <p:spPr>
          <a:xfrm>
            <a:off x="2350275" y="5154035"/>
            <a:ext cx="768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$1.82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g3f9f5e3993b_0_7"/>
          <p:cNvSpPr/>
          <p:nvPr/>
        </p:nvSpPr>
        <p:spPr>
          <a:xfrm>
            <a:off x="1874520" y="5246992"/>
            <a:ext cx="768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0D1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7E0D14"/>
                </a:solidFill>
                <a:latin typeface="Consolas"/>
                <a:ea typeface="Consolas"/>
                <a:cs typeface="Consolas"/>
                <a:sym typeface="Consolas"/>
              </a:rPr>
              <a:t>$1.30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g3f9f5e3993b_0_7"/>
          <p:cNvSpPr/>
          <p:nvPr/>
        </p:nvSpPr>
        <p:spPr>
          <a:xfrm>
            <a:off x="7178040" y="2586486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0D14"/>
              </a:buClr>
              <a:buSzPts val="1300"/>
              <a:buFont typeface="Hahmlet"/>
              <a:buNone/>
            </a:pPr>
            <a:r>
              <a:rPr b="1" i="0" lang="en-US" sz="1300" u="none" cap="none" strike="noStrike">
                <a:solidFill>
                  <a:srgbClr val="7E0D14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노출 14</a:t>
            </a:r>
            <a:endParaRPr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3" name="Google Shape;523;g3f9f5e3993b_0_7"/>
          <p:cNvSpPr/>
          <p:nvPr/>
        </p:nvSpPr>
        <p:spPr>
          <a:xfrm>
            <a:off x="7178040" y="2842518"/>
            <a:ext cx="914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050"/>
              <a:buFont typeface="Hahmlet"/>
              <a:buNone/>
            </a:pPr>
            <a:r>
              <a:rPr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7명 × 2화면</a:t>
            </a:r>
            <a:endParaRPr i="0" sz="105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4" name="Google Shape;524;g3f9f5e3993b_0_7"/>
          <p:cNvSpPr/>
          <p:nvPr/>
        </p:nvSpPr>
        <p:spPr>
          <a:xfrm>
            <a:off x="7178040" y="3433548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300"/>
              <a:buFont typeface="Hahmlet"/>
              <a:buNone/>
            </a:pPr>
            <a:r>
              <a:rPr b="1" i="0" lang="en-US" sz="13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노출 10</a:t>
            </a:r>
            <a:endParaRPr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5" name="Google Shape;525;g3f9f5e3993b_0_7"/>
          <p:cNvSpPr/>
          <p:nvPr/>
        </p:nvSpPr>
        <p:spPr>
          <a:xfrm>
            <a:off x="7178040" y="3689580"/>
            <a:ext cx="914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050"/>
              <a:buFont typeface="Hahmlet"/>
              <a:buNone/>
            </a:pPr>
            <a:r>
              <a:rPr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5명 × 2화면</a:t>
            </a:r>
            <a:endParaRPr i="0" sz="105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6" name="Google Shape;526;g3f9f5e3993b_0_7"/>
          <p:cNvSpPr/>
          <p:nvPr/>
        </p:nvSpPr>
        <p:spPr>
          <a:xfrm>
            <a:off x="7178040" y="4492376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4A44"/>
              </a:buClr>
              <a:buSzPts val="1300"/>
              <a:buFont typeface="Hahmlet"/>
              <a:buNone/>
            </a:pPr>
            <a:r>
              <a:rPr b="1" i="0" lang="en-US" sz="1300" u="none" cap="none" strike="noStrike">
                <a:solidFill>
                  <a:srgbClr val="DC4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노출 5</a:t>
            </a:r>
            <a:endParaRPr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7" name="Google Shape;527;g3f9f5e3993b_0_7"/>
          <p:cNvSpPr/>
          <p:nvPr/>
        </p:nvSpPr>
        <p:spPr>
          <a:xfrm>
            <a:off x="7178040" y="4748408"/>
            <a:ext cx="914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050"/>
              <a:buFont typeface="Hahmlet"/>
              <a:buNone/>
            </a:pPr>
            <a:r>
              <a:rPr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5명 × 1화면</a:t>
            </a:r>
            <a:endParaRPr i="0" sz="105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8" name="Google Shape;528;g3f9f5e3993b_0_7"/>
          <p:cNvSpPr/>
          <p:nvPr/>
        </p:nvSpPr>
        <p:spPr>
          <a:xfrm>
            <a:off x="7178040" y="5004440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57E"/>
              </a:buClr>
              <a:buSzPts val="1300"/>
              <a:buFont typeface="Hahmlet"/>
              <a:buNone/>
            </a:pPr>
            <a:r>
              <a:rPr b="1" i="0" lang="en-US" sz="1300" u="none" cap="none" strike="noStrike">
                <a:solidFill>
                  <a:srgbClr val="F0857E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노출 4</a:t>
            </a:r>
            <a:endParaRPr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9" name="Google Shape;529;g3f9f5e3993b_0_7"/>
          <p:cNvSpPr/>
          <p:nvPr/>
        </p:nvSpPr>
        <p:spPr>
          <a:xfrm>
            <a:off x="7178040" y="5260472"/>
            <a:ext cx="914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050"/>
              <a:buFont typeface="Hahmlet"/>
              <a:buNone/>
            </a:pPr>
            <a:r>
              <a:rPr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4명 × 1화면</a:t>
            </a:r>
            <a:endParaRPr i="0" sz="105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0" name="Google Shape;530;g3f9f5e3993b_0_7"/>
          <p:cNvSpPr/>
          <p:nvPr/>
        </p:nvSpPr>
        <p:spPr>
          <a:xfrm>
            <a:off x="8183880" y="2615184"/>
            <a:ext cx="3154800" cy="1572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g3f9f5e3993b_0_7"/>
          <p:cNvSpPr/>
          <p:nvPr/>
        </p:nvSpPr>
        <p:spPr>
          <a:xfrm>
            <a:off x="8439912" y="2761488"/>
            <a:ext cx="2642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5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한국 구간</a:t>
            </a:r>
            <a:endParaRPr i="0" sz="2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2" name="Google Shape;532;g3f9f5e3993b_0_7"/>
          <p:cNvSpPr/>
          <p:nvPr/>
        </p:nvSpPr>
        <p:spPr>
          <a:xfrm>
            <a:off x="8439900" y="3182097"/>
            <a:ext cx="2752200" cy="8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Hahmlet"/>
              <a:buNone/>
            </a:pPr>
            <a:r>
              <a:rPr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 화면이 2개여야</a:t>
            </a:r>
            <a:endParaRPr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Hahmlet"/>
              <a:buNone/>
            </a:pPr>
            <a:r>
              <a:rPr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0원을 넘습니다.</a:t>
            </a:r>
            <a:endParaRPr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3" name="Google Shape;533;g3f9f5e3993b_0_7"/>
          <p:cNvSpPr/>
          <p:nvPr/>
        </p:nvSpPr>
        <p:spPr>
          <a:xfrm>
            <a:off x="8183880" y="4334256"/>
            <a:ext cx="3154800" cy="1737300"/>
          </a:xfrm>
          <a:prstGeom prst="rect">
            <a:avLst/>
          </a:prstGeom>
          <a:solidFill>
            <a:srgbClr val="1F0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g3f9f5e3993b_0_7"/>
          <p:cNvSpPr/>
          <p:nvPr/>
        </p:nvSpPr>
        <p:spPr>
          <a:xfrm>
            <a:off x="8439912" y="4480560"/>
            <a:ext cx="2642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500"/>
              <a:buFont typeface="Hahmlet"/>
              <a:buNone/>
            </a:pPr>
            <a:r>
              <a:rPr b="1" i="0" lang="en-US" sz="18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서버비를 덮는 하루 판 수</a:t>
            </a:r>
            <a:endParaRPr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5" name="Google Shape;535;g3f9f5e3993b_0_7"/>
          <p:cNvSpPr/>
          <p:nvPr/>
        </p:nvSpPr>
        <p:spPr>
          <a:xfrm>
            <a:off x="8439912" y="4846320"/>
            <a:ext cx="658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400"/>
              <a:buFont typeface="Hahmlet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영어권</a:t>
            </a:r>
            <a:endParaRPr i="0" sz="14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6" name="Google Shape;536;g3f9f5e3993b_0_7"/>
          <p:cNvSpPr/>
          <p:nvPr/>
        </p:nvSpPr>
        <p:spPr>
          <a:xfrm>
            <a:off x="9116568" y="4873752"/>
            <a:ext cx="123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050"/>
              <a:buFont typeface="Hahmlet"/>
              <a:buNone/>
            </a:pPr>
            <a:r>
              <a:rPr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5명 × 2화면 · $4</a:t>
            </a:r>
            <a:endParaRPr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7" name="Google Shape;537;g3f9f5e3993b_0_7"/>
          <p:cNvSpPr/>
          <p:nvPr/>
        </p:nvSpPr>
        <p:spPr>
          <a:xfrm>
            <a:off x="10332720" y="4809744"/>
            <a:ext cx="777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800"/>
              <a:buFont typeface="Hahmlet"/>
              <a:buNone/>
            </a:pPr>
            <a:r>
              <a:rPr b="1" i="0" lang="en-US" sz="18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46판</a:t>
            </a:r>
            <a:endParaRPr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8" name="Google Shape;538;g3f9f5e3993b_0_7"/>
          <p:cNvSpPr/>
          <p:nvPr/>
        </p:nvSpPr>
        <p:spPr>
          <a:xfrm>
            <a:off x="8439912" y="5394960"/>
            <a:ext cx="658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400"/>
              <a:buFont typeface="Hahmlet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한국</a:t>
            </a:r>
            <a:endParaRPr i="0" sz="14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9" name="Google Shape;539;g3f9f5e3993b_0_7"/>
          <p:cNvSpPr/>
          <p:nvPr/>
        </p:nvSpPr>
        <p:spPr>
          <a:xfrm>
            <a:off x="9116568" y="5422392"/>
            <a:ext cx="123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050"/>
              <a:buFont typeface="Hahmlet"/>
              <a:buNone/>
            </a:pPr>
            <a:r>
              <a:rPr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5명 × 2화면 · $2</a:t>
            </a:r>
            <a:endParaRPr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0" name="Google Shape;540;g3f9f5e3993b_0_7"/>
          <p:cNvSpPr/>
          <p:nvPr/>
        </p:nvSpPr>
        <p:spPr>
          <a:xfrm>
            <a:off x="10332720" y="5358384"/>
            <a:ext cx="777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800"/>
              <a:buFont typeface="Hahmlet"/>
              <a:buNone/>
            </a:pPr>
            <a:r>
              <a:rPr b="1" i="0" lang="en-US" sz="18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571판</a:t>
            </a:r>
            <a:endParaRPr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1" name="Google Shape;541;g3f9f5e3993b_0_7"/>
          <p:cNvSpPr/>
          <p:nvPr/>
        </p:nvSpPr>
        <p:spPr>
          <a:xfrm>
            <a:off x="8439912" y="5742432"/>
            <a:ext cx="2642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100"/>
              <a:buFont typeface="Hahmlet"/>
              <a:buNone/>
            </a:pPr>
            <a:r>
              <a:rPr i="0" lang="en-US" sz="11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서버비 월 $30 기준</a:t>
            </a:r>
            <a:endParaRPr i="0" sz="1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2" name="Google Shape;542;g3f9f5e3993b_0_7"/>
          <p:cNvSpPr/>
          <p:nvPr/>
        </p:nvSpPr>
        <p:spPr>
          <a:xfrm>
            <a:off x="850392" y="6309360"/>
            <a:ext cx="104910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g3f9f5e3993b_0_7"/>
          <p:cNvSpPr/>
          <p:nvPr/>
        </p:nvSpPr>
        <p:spPr>
          <a:xfrm>
            <a:off x="850392" y="6391656"/>
            <a:ext cx="10491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Hahmlet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실측 </a:t>
            </a:r>
            <a:r>
              <a:rPr i="0" lang="en-US" sz="11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원가 판당 25원(알리바바 콘솔, 2판 10K 토큰)     </a:t>
            </a:r>
            <a:r>
              <a:rPr b="1" i="0" lang="en-US" sz="1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가정 </a:t>
            </a:r>
            <a:r>
              <a:rPr i="0" lang="en-US" sz="11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RPM $1~6은 공개 참고범위. · 환율 1,370원 · 서버비 월 $30 · 광고 외 수익 0</a:t>
            </a:r>
            <a:endParaRPr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f9dd5f40ea_14_0"/>
          <p:cNvSpPr/>
          <p:nvPr/>
        </p:nvSpPr>
        <p:spPr>
          <a:xfrm>
            <a:off x="0" y="0"/>
            <a:ext cx="12188952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g3f9dd5f40ea_14_0"/>
          <p:cNvSpPr/>
          <p:nvPr/>
        </p:nvSpPr>
        <p:spPr>
          <a:xfrm>
            <a:off x="0" y="1755648"/>
            <a:ext cx="12188952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g3f9dd5f40ea_14_0"/>
          <p:cNvSpPr txBox="1"/>
          <p:nvPr/>
        </p:nvSpPr>
        <p:spPr>
          <a:xfrm>
            <a:off x="850392" y="5669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07 · 사업성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g3f9dd5f40ea_14_0"/>
          <p:cNvSpPr txBox="1"/>
          <p:nvPr/>
        </p:nvSpPr>
        <p:spPr>
          <a:xfrm>
            <a:off x="850392" y="896112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algun Gothic"/>
              <a:buNone/>
            </a:pPr>
            <a:r>
              <a:rPr b="1" lang="en-US" sz="3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수익화 로드맵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g3f9dd5f40ea_14_0"/>
          <p:cNvSpPr txBox="1"/>
          <p:nvPr/>
        </p:nvSpPr>
        <p:spPr>
          <a:xfrm>
            <a:off x="7498080" y="60350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g3f9dd5f40ea_14_0"/>
          <p:cNvSpPr/>
          <p:nvPr/>
        </p:nvSpPr>
        <p:spPr>
          <a:xfrm>
            <a:off x="850392" y="2139696"/>
            <a:ext cx="3108960" cy="3291840"/>
          </a:xfrm>
          <a:prstGeom prst="rect">
            <a:avLst/>
          </a:prstGeom>
          <a:solidFill>
            <a:srgbClr val="1F0A0C"/>
          </a:solidFill>
          <a:ln cap="flat" cmpd="sng" w="22225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g3f9dd5f40ea_14_0"/>
          <p:cNvSpPr txBox="1"/>
          <p:nvPr/>
        </p:nvSpPr>
        <p:spPr>
          <a:xfrm>
            <a:off x="1088136" y="2340864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0단계 · 진행 중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g3f9dd5f40ea_14_0"/>
          <p:cNvSpPr txBox="1"/>
          <p:nvPr/>
        </p:nvSpPr>
        <p:spPr>
          <a:xfrm>
            <a:off x="1088136" y="2633472"/>
            <a:ext cx="2633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트래픽 0에서도 가능한 것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g3f9dd5f40ea_14_0"/>
          <p:cNvSpPr/>
          <p:nvPr/>
        </p:nvSpPr>
        <p:spPr>
          <a:xfrm>
            <a:off x="1088136" y="3163824"/>
            <a:ext cx="2633472" cy="10973"/>
          </a:xfrm>
          <a:prstGeom prst="rect">
            <a:avLst/>
          </a:prstGeom>
          <a:solidFill>
            <a:srgbClr val="4A14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g3f9dd5f40ea_14_0"/>
          <p:cNvSpPr txBox="1"/>
          <p:nvPr/>
        </p:nvSpPr>
        <p:spPr>
          <a:xfrm>
            <a:off x="1088136" y="3282696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애드센스로 서버비 충당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g3f9dd5f40ea_14_0"/>
          <p:cNvSpPr txBox="1"/>
          <p:nvPr/>
        </p:nvSpPr>
        <p:spPr>
          <a:xfrm>
            <a:off x="1088136" y="3538728"/>
            <a:ext cx="2633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사이트 심사 신청 — 심사 중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g3f9dd5f40ea_14_0"/>
          <p:cNvSpPr txBox="1"/>
          <p:nvPr/>
        </p:nvSpPr>
        <p:spPr>
          <a:xfrm>
            <a:off x="1088136" y="3813048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교육기관 도입 의향 문의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g3f9dd5f40ea_14_0"/>
          <p:cNvSpPr txBox="1"/>
          <p:nvPr/>
        </p:nvSpPr>
        <p:spPr>
          <a:xfrm>
            <a:off x="1088136" y="4069080"/>
            <a:ext cx="2633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4곳 발송 완료 · 회신 대기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g3f9dd5f40ea_14_0"/>
          <p:cNvSpPr txBox="1"/>
          <p:nvPr/>
        </p:nvSpPr>
        <p:spPr>
          <a:xfrm>
            <a:off x="1088136" y="4343400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교원 커뮤니티 의견 요청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g3f9dd5f40ea_14_0"/>
          <p:cNvSpPr txBox="1"/>
          <p:nvPr/>
        </p:nvSpPr>
        <p:spPr>
          <a:xfrm>
            <a:off x="1088136" y="4599432"/>
            <a:ext cx="2633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카페 게시 완료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g3f9dd5f40ea_14_0"/>
          <p:cNvSpPr txBox="1"/>
          <p:nvPr/>
        </p:nvSpPr>
        <p:spPr>
          <a:xfrm>
            <a:off x="1088136" y="4873752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무료 채널 유저 확보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g3f9dd5f40ea_14_0"/>
          <p:cNvSpPr txBox="1"/>
          <p:nvPr/>
        </p:nvSpPr>
        <p:spPr>
          <a:xfrm>
            <a:off x="1088136" y="5129784"/>
            <a:ext cx="2633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디스코드 · 레딧 · 숏폼 — 준비 중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g3f9dd5f40ea_14_0"/>
          <p:cNvSpPr txBox="1"/>
          <p:nvPr/>
        </p:nvSpPr>
        <p:spPr>
          <a:xfrm>
            <a:off x="3959352" y="2139696"/>
            <a:ext cx="576072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2000"/>
              <a:buFont typeface="Malgun Gothic"/>
              <a:buNone/>
            </a:pPr>
            <a:r>
              <a:rPr b="0" i="0" lang="en-US" sz="20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g3f9dd5f40ea_14_0"/>
          <p:cNvSpPr/>
          <p:nvPr/>
        </p:nvSpPr>
        <p:spPr>
          <a:xfrm>
            <a:off x="4535424" y="2139696"/>
            <a:ext cx="3108960" cy="329184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g3f9dd5f40ea_14_0"/>
          <p:cNvSpPr txBox="1"/>
          <p:nvPr/>
        </p:nvSpPr>
        <p:spPr>
          <a:xfrm>
            <a:off x="4773168" y="2340864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1단계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g3f9dd5f40ea_14_0"/>
          <p:cNvSpPr txBox="1"/>
          <p:nvPr/>
        </p:nvSpPr>
        <p:spPr>
          <a:xfrm>
            <a:off x="4773168" y="2633472"/>
            <a:ext cx="2633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보이스챗 · 교사용 도구 완성 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g3f9dd5f40ea_14_0"/>
          <p:cNvSpPr/>
          <p:nvPr/>
        </p:nvSpPr>
        <p:spPr>
          <a:xfrm>
            <a:off x="4773168" y="3163824"/>
            <a:ext cx="2633472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g3f9dd5f40ea_14_0"/>
          <p:cNvSpPr txBox="1"/>
          <p:nvPr/>
        </p:nvSpPr>
        <p:spPr>
          <a:xfrm>
            <a:off x="4773168" y="3282696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교육기관 판매 개시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g3f9dd5f40ea_14_0"/>
          <p:cNvSpPr txBox="1"/>
          <p:nvPr/>
        </p:nvSpPr>
        <p:spPr>
          <a:xfrm>
            <a:off x="4773168" y="3538728"/>
            <a:ext cx="2633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어학당 → 해외 한국어학과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g3f9dd5f40ea_14_0"/>
          <p:cNvSpPr txBox="1"/>
          <p:nvPr/>
        </p:nvSpPr>
        <p:spPr>
          <a:xfrm>
            <a:off x="4773168" y="3813048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개인 유료 출시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g3f9dd5f40ea_14_0"/>
          <p:cNvSpPr txBox="1"/>
          <p:nvPr/>
        </p:nvSpPr>
        <p:spPr>
          <a:xfrm>
            <a:off x="4773168" y="4069080"/>
            <a:ext cx="2633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 5,900원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g3f9dd5f40ea_14_0"/>
          <p:cNvSpPr txBox="1"/>
          <p:nvPr/>
        </p:nvSpPr>
        <p:spPr>
          <a:xfrm>
            <a:off x="7644384" y="2139696"/>
            <a:ext cx="576072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2000"/>
              <a:buFont typeface="Malgun Gothic"/>
              <a:buNone/>
            </a:pPr>
            <a:r>
              <a:rPr b="0" i="0" lang="en-US" sz="20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g3f9dd5f40ea_14_0"/>
          <p:cNvSpPr/>
          <p:nvPr/>
        </p:nvSpPr>
        <p:spPr>
          <a:xfrm>
            <a:off x="8220456" y="2139696"/>
            <a:ext cx="3108960" cy="329184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g3f9dd5f40ea_14_0"/>
          <p:cNvSpPr txBox="1"/>
          <p:nvPr/>
        </p:nvSpPr>
        <p:spPr>
          <a:xfrm>
            <a:off x="8458200" y="2340864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2단계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g3f9dd5f40ea_14_0"/>
          <p:cNvSpPr txBox="1"/>
          <p:nvPr/>
        </p:nvSpPr>
        <p:spPr>
          <a:xfrm>
            <a:off x="8458200" y="2633472"/>
            <a:ext cx="2633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유저풀 · 수익 확보 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g3f9dd5f40ea_14_0"/>
          <p:cNvSpPr/>
          <p:nvPr/>
        </p:nvSpPr>
        <p:spPr>
          <a:xfrm>
            <a:off x="8458200" y="3163824"/>
            <a:ext cx="2633472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g3f9dd5f40ea_14_0"/>
          <p:cNvSpPr txBox="1"/>
          <p:nvPr/>
        </p:nvSpPr>
        <p:spPr>
          <a:xfrm>
            <a:off x="8458200" y="3282696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유료 홍보 채널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g3f9dd5f40ea_14_0"/>
          <p:cNvSpPr txBox="1"/>
          <p:nvPr/>
        </p:nvSpPr>
        <p:spPr>
          <a:xfrm>
            <a:off x="8458200" y="3538728"/>
            <a:ext cx="2633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유튜브 · 게임 인플루언서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g3f9dd5f40ea_14_0"/>
          <p:cNvSpPr txBox="1"/>
          <p:nvPr/>
        </p:nvSpPr>
        <p:spPr>
          <a:xfrm>
            <a:off x="8458200" y="3813048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꾸미기 · 아바타 확장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g3f9dd5f40ea_14_0"/>
          <p:cNvSpPr txBox="1"/>
          <p:nvPr/>
        </p:nvSpPr>
        <p:spPr>
          <a:xfrm>
            <a:off x="8458200" y="4069080"/>
            <a:ext cx="2633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계정 기반 수익원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f9dd5f40ea_14_40"/>
          <p:cNvSpPr/>
          <p:nvPr/>
        </p:nvSpPr>
        <p:spPr>
          <a:xfrm>
            <a:off x="0" y="0"/>
            <a:ext cx="12188952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g3f9dd5f40ea_14_40"/>
          <p:cNvSpPr/>
          <p:nvPr/>
        </p:nvSpPr>
        <p:spPr>
          <a:xfrm>
            <a:off x="0" y="1755648"/>
            <a:ext cx="12188952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g3f9dd5f40ea_14_40"/>
          <p:cNvSpPr txBox="1"/>
          <p:nvPr/>
        </p:nvSpPr>
        <p:spPr>
          <a:xfrm>
            <a:off x="850392" y="5669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07 · 사업성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g3f9dd5f40ea_14_40"/>
          <p:cNvSpPr txBox="1"/>
          <p:nvPr/>
        </p:nvSpPr>
        <p:spPr>
          <a:xfrm>
            <a:off x="850392" y="896112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algun Gothic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유료 구조 </a:t>
            </a:r>
            <a:r>
              <a:rPr b="1" lang="en-US" sz="3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3가지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g3f9dd5f40ea_14_40"/>
          <p:cNvSpPr txBox="1"/>
          <p:nvPr/>
        </p:nvSpPr>
        <p:spPr>
          <a:xfrm>
            <a:off x="7498080" y="60350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g3f9dd5f40ea_14_40"/>
          <p:cNvSpPr/>
          <p:nvPr/>
        </p:nvSpPr>
        <p:spPr>
          <a:xfrm>
            <a:off x="850392" y="2139696"/>
            <a:ext cx="3282696" cy="251460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g3f9dd5f40ea_14_40"/>
          <p:cNvSpPr txBox="1"/>
          <p:nvPr/>
        </p:nvSpPr>
        <p:spPr>
          <a:xfrm>
            <a:off x="1106424" y="2359152"/>
            <a:ext cx="27706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g3f9dd5f40ea_14_40"/>
          <p:cNvSpPr txBox="1"/>
          <p:nvPr/>
        </p:nvSpPr>
        <p:spPr>
          <a:xfrm>
            <a:off x="1106424" y="2688336"/>
            <a:ext cx="27706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재미 · 광고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g3f9dd5f40ea_14_40"/>
          <p:cNvSpPr txBox="1"/>
          <p:nvPr/>
        </p:nvSpPr>
        <p:spPr>
          <a:xfrm>
            <a:off x="1106424" y="3310128"/>
            <a:ext cx="27706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 플레이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AI봇 저가 모델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g3f9dd5f40ea_14_40"/>
          <p:cNvSpPr txBox="1"/>
          <p:nvPr/>
        </p:nvSpPr>
        <p:spPr>
          <a:xfrm>
            <a:off x="1106424" y="4014216"/>
            <a:ext cx="27706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—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g3f9dd5f40ea_14_40"/>
          <p:cNvSpPr/>
          <p:nvPr/>
        </p:nvSpPr>
        <p:spPr>
          <a:xfrm>
            <a:off x="4453128" y="2139696"/>
            <a:ext cx="3282696" cy="251460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g3f9dd5f40ea_14_40"/>
          <p:cNvSpPr txBox="1"/>
          <p:nvPr/>
        </p:nvSpPr>
        <p:spPr>
          <a:xfrm>
            <a:off x="4709160" y="2359152"/>
            <a:ext cx="27706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개인 유료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g3f9dd5f40ea_14_40"/>
          <p:cNvSpPr txBox="1"/>
          <p:nvPr/>
        </p:nvSpPr>
        <p:spPr>
          <a:xfrm>
            <a:off x="4709160" y="2688336"/>
            <a:ext cx="27706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보이스챗 · 랭킹 · 기록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g3f9dd5f40ea_14_40"/>
          <p:cNvSpPr txBox="1"/>
          <p:nvPr/>
        </p:nvSpPr>
        <p:spPr>
          <a:xfrm>
            <a:off x="4709160" y="3310128"/>
            <a:ext cx="27706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꾸미기 · 광고 제거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보이스챗 · 꾸미기 개발 중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g3f9dd5f40ea_14_40"/>
          <p:cNvSpPr txBox="1"/>
          <p:nvPr/>
        </p:nvSpPr>
        <p:spPr>
          <a:xfrm>
            <a:off x="4709160" y="4014216"/>
            <a:ext cx="27706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 5,900원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g3f9dd5f40ea_14_40"/>
          <p:cNvSpPr/>
          <p:nvPr/>
        </p:nvSpPr>
        <p:spPr>
          <a:xfrm>
            <a:off x="8055864" y="2139696"/>
            <a:ext cx="3282696" cy="2514600"/>
          </a:xfrm>
          <a:prstGeom prst="rect">
            <a:avLst/>
          </a:prstGeom>
          <a:solidFill>
            <a:srgbClr val="1F0A0C"/>
          </a:solidFill>
          <a:ln cap="flat" cmpd="sng" w="22225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g3f9dd5f40ea_14_40"/>
          <p:cNvSpPr txBox="1"/>
          <p:nvPr/>
        </p:nvSpPr>
        <p:spPr>
          <a:xfrm>
            <a:off x="8311896" y="2359152"/>
            <a:ext cx="27706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교육기관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g3f9dd5f40ea_14_40"/>
          <p:cNvSpPr txBox="1"/>
          <p:nvPr/>
        </p:nvSpPr>
        <p:spPr>
          <a:xfrm>
            <a:off x="8311896" y="2688336"/>
            <a:ext cx="27706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수업 내 발화 시간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g3f9dd5f40ea_14_40"/>
          <p:cNvSpPr txBox="1"/>
          <p:nvPr/>
        </p:nvSpPr>
        <p:spPr>
          <a:xfrm>
            <a:off x="8311896" y="3310128"/>
            <a:ext cx="27706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교사용 도구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어휘 지정 · 참여 확인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g3f9dd5f40ea_14_40"/>
          <p:cNvSpPr txBox="1"/>
          <p:nvPr/>
        </p:nvSpPr>
        <p:spPr>
          <a:xfrm>
            <a:off x="8311896" y="4014216"/>
            <a:ext cx="27706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 30~70만 원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g3f9dd5f40ea_14_40"/>
          <p:cNvSpPr/>
          <p:nvPr/>
        </p:nvSpPr>
        <p:spPr>
          <a:xfrm>
            <a:off x="850392" y="4983480"/>
            <a:ext cx="1965960" cy="566928"/>
          </a:xfrm>
          <a:prstGeom prst="rect">
            <a:avLst/>
          </a:prstGeom>
          <a:solidFill>
            <a:srgbClr val="1F0A0C"/>
          </a:solidFill>
          <a:ln cap="flat" cmpd="sng" w="22225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g3f9dd5f40ea_14_40"/>
          <p:cNvSpPr txBox="1"/>
          <p:nvPr/>
        </p:nvSpPr>
        <p:spPr>
          <a:xfrm>
            <a:off x="850392" y="4983480"/>
            <a:ext cx="1965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교육기관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g3f9dd5f40ea_14_40"/>
          <p:cNvSpPr txBox="1"/>
          <p:nvPr/>
        </p:nvSpPr>
        <p:spPr>
          <a:xfrm>
            <a:off x="2816352" y="49834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g3f9dd5f40ea_14_40"/>
          <p:cNvSpPr/>
          <p:nvPr/>
        </p:nvSpPr>
        <p:spPr>
          <a:xfrm>
            <a:off x="3383280" y="4983480"/>
            <a:ext cx="196596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g3f9dd5f40ea_14_40"/>
          <p:cNvSpPr txBox="1"/>
          <p:nvPr/>
        </p:nvSpPr>
        <p:spPr>
          <a:xfrm>
            <a:off x="3383280" y="4983480"/>
            <a:ext cx="1965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개인 유료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g3f9dd5f40ea_14_40"/>
          <p:cNvSpPr txBox="1"/>
          <p:nvPr/>
        </p:nvSpPr>
        <p:spPr>
          <a:xfrm>
            <a:off x="5669280" y="4983480"/>
            <a:ext cx="2926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Malgun Gothic"/>
              <a:buNone/>
            </a:pPr>
            <a:r>
              <a:rPr b="0" i="1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무료는 전 구간 병행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g3f9dd5f40ea_14_40"/>
          <p:cNvSpPr/>
          <p:nvPr/>
        </p:nvSpPr>
        <p:spPr>
          <a:xfrm>
            <a:off x="850392" y="5870448"/>
            <a:ext cx="10488168" cy="32004"/>
          </a:xfrm>
          <a:prstGeom prst="rect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g3f9dd5f40ea_14_40"/>
          <p:cNvSpPr txBox="1"/>
          <p:nvPr/>
        </p:nvSpPr>
        <p:spPr>
          <a:xfrm>
            <a:off x="850392" y="5989320"/>
            <a:ext cx="104881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기관 요금은 시장가 미확인 가정치입니다. 기관은 트래픽이 없어도 제안할 수 있어 먼저 갑니다.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f9dd5f40ea_14_72"/>
          <p:cNvSpPr/>
          <p:nvPr/>
        </p:nvSpPr>
        <p:spPr>
          <a:xfrm>
            <a:off x="0" y="0"/>
            <a:ext cx="12188952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g3f9dd5f40ea_14_72"/>
          <p:cNvSpPr/>
          <p:nvPr/>
        </p:nvSpPr>
        <p:spPr>
          <a:xfrm>
            <a:off x="0" y="1755648"/>
            <a:ext cx="12188952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g3f9dd5f40ea_14_72"/>
          <p:cNvSpPr txBox="1"/>
          <p:nvPr/>
        </p:nvSpPr>
        <p:spPr>
          <a:xfrm>
            <a:off x="850392" y="5669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07 · 사업성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g3f9dd5f40ea_14_72"/>
          <p:cNvSpPr txBox="1"/>
          <p:nvPr/>
        </p:nvSpPr>
        <p:spPr>
          <a:xfrm>
            <a:off x="850392" y="896112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algun Gothic"/>
              <a:buNone/>
            </a:pPr>
            <a:r>
              <a:rPr b="1" lang="en-US" sz="3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원가 자립 지점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g3f9dd5f40ea_14_72"/>
          <p:cNvSpPr txBox="1"/>
          <p:nvPr/>
        </p:nvSpPr>
        <p:spPr>
          <a:xfrm>
            <a:off x="7498080" y="60350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g3f9dd5f40ea_14_72"/>
          <p:cNvSpPr txBox="1"/>
          <p:nvPr/>
        </p:nvSpPr>
        <p:spPr>
          <a:xfrm>
            <a:off x="850392" y="21396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원가 구조 · 모델 선택이 흑자와 적자를 가릅니다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g3f9dd5f40ea_14_72"/>
          <p:cNvSpPr txBox="1"/>
          <p:nvPr/>
        </p:nvSpPr>
        <p:spPr>
          <a:xfrm>
            <a:off x="850392" y="2450592"/>
            <a:ext cx="2377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5200"/>
              <a:buFont typeface="Malgun Gothic"/>
              <a:buNone/>
            </a:pPr>
            <a:r>
              <a:rPr b="1" i="0" lang="en-US" sz="52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40배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g3f9dd5f40ea_14_72"/>
          <p:cNvSpPr txBox="1"/>
          <p:nvPr/>
        </p:nvSpPr>
        <p:spPr>
          <a:xfrm>
            <a:off x="3456432" y="2523744"/>
            <a:ext cx="78821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판당 70원</a:t>
            </a:r>
            <a:r>
              <a:rPr b="0"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→  </a:t>
            </a:r>
            <a:r>
              <a:rPr b="1"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판당 1.75원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판 5,000토큰(실측). 모델 등급과 프롬프트 캐싱만으로 벌어지는 차이입니다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g3f9dd5f40ea_14_72"/>
          <p:cNvSpPr/>
          <p:nvPr/>
        </p:nvSpPr>
        <p:spPr>
          <a:xfrm>
            <a:off x="3456432" y="3346704"/>
            <a:ext cx="7882128" cy="71323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g3f9dd5f40ea_14_72"/>
          <p:cNvSpPr txBox="1"/>
          <p:nvPr/>
        </p:nvSpPr>
        <p:spPr>
          <a:xfrm>
            <a:off x="3639312" y="3401568"/>
            <a:ext cx="7516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판당 광고 수익 (추정)  </a:t>
            </a:r>
            <a:r>
              <a:rPr b="1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국내 10.8원 · 영어권 32.8원</a:t>
            </a:r>
            <a:r>
              <a:rPr b="0" i="0" lang="en-US" sz="14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(5인 방 · 사람 4명 각자 노출)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g3f9dd5f40ea_14_72"/>
          <p:cNvSpPr txBox="1"/>
          <p:nvPr/>
        </p:nvSpPr>
        <p:spPr>
          <a:xfrm>
            <a:off x="3639312" y="3712464"/>
            <a:ext cx="7516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모델이면 광고 수익의 6.5배가 원가로 나가고, </a:t>
            </a:r>
            <a:r>
              <a:rPr b="1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저가 모델 + 캐싱이면 그 1/6입니다.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g3f9dd5f40ea_14_72"/>
          <p:cNvSpPr/>
          <p:nvPr/>
        </p:nvSpPr>
        <p:spPr>
          <a:xfrm>
            <a:off x="850392" y="4224528"/>
            <a:ext cx="10488168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g3f9dd5f40ea_14_72"/>
          <p:cNvSpPr txBox="1"/>
          <p:nvPr/>
        </p:nvSpPr>
        <p:spPr>
          <a:xfrm>
            <a:off x="850392" y="44074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자립 지점 · 서버비(연 49만 원)를 덮는 최소 규모 — 경로별 근사치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g3f9dd5f40ea_14_72"/>
          <p:cNvSpPr/>
          <p:nvPr/>
        </p:nvSpPr>
        <p:spPr>
          <a:xfrm>
            <a:off x="946404" y="4700016"/>
            <a:ext cx="2926080" cy="960120"/>
          </a:xfrm>
          <a:prstGeom prst="rect">
            <a:avLst/>
          </a:prstGeom>
          <a:solidFill>
            <a:srgbClr val="1F0A0C"/>
          </a:solidFill>
          <a:ln cap="flat" cmpd="sng" w="22225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g3f9dd5f40ea_14_72"/>
          <p:cNvSpPr txBox="1"/>
          <p:nvPr/>
        </p:nvSpPr>
        <p:spPr>
          <a:xfrm>
            <a:off x="946404" y="4809744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2곳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g3f9dd5f40ea_14_72"/>
          <p:cNvSpPr txBox="1"/>
          <p:nvPr/>
        </p:nvSpPr>
        <p:spPr>
          <a:xfrm>
            <a:off x="946404" y="5321808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교육기관 계약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g3f9dd5f40ea_14_72"/>
          <p:cNvSpPr txBox="1"/>
          <p:nvPr/>
        </p:nvSpPr>
        <p:spPr>
          <a:xfrm>
            <a:off x="3872484" y="4700016"/>
            <a:ext cx="75895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=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g3f9dd5f40ea_14_72"/>
          <p:cNvSpPr/>
          <p:nvPr/>
        </p:nvSpPr>
        <p:spPr>
          <a:xfrm>
            <a:off x="4631436" y="4700016"/>
            <a:ext cx="2926080" cy="96012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g3f9dd5f40ea_14_72"/>
          <p:cNvSpPr txBox="1"/>
          <p:nvPr/>
        </p:nvSpPr>
        <p:spPr>
          <a:xfrm>
            <a:off x="4631436" y="4809744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8명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g3f9dd5f40ea_14_72"/>
          <p:cNvSpPr txBox="1"/>
          <p:nvPr/>
        </p:nvSpPr>
        <p:spPr>
          <a:xfrm>
            <a:off x="4631436" y="5321808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개인 유료 회원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g3f9dd5f40ea_14_72"/>
          <p:cNvSpPr txBox="1"/>
          <p:nvPr/>
        </p:nvSpPr>
        <p:spPr>
          <a:xfrm>
            <a:off x="7557516" y="4700016"/>
            <a:ext cx="75895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=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g3f9dd5f40ea_14_72"/>
          <p:cNvSpPr/>
          <p:nvPr/>
        </p:nvSpPr>
        <p:spPr>
          <a:xfrm>
            <a:off x="8316468" y="4700016"/>
            <a:ext cx="2926080" cy="96012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g3f9dd5f40ea_14_72"/>
          <p:cNvSpPr txBox="1"/>
          <p:nvPr/>
        </p:nvSpPr>
        <p:spPr>
          <a:xfrm>
            <a:off x="8316468" y="4809744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하루 125판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g3f9dd5f40ea_14_72"/>
          <p:cNvSpPr txBox="1"/>
          <p:nvPr/>
        </p:nvSpPr>
        <p:spPr>
          <a:xfrm>
            <a:off x="8316468" y="5321808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 · 국내 트래픽 기준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g3f9dd5f40ea_14_72"/>
          <p:cNvSpPr/>
          <p:nvPr/>
        </p:nvSpPr>
        <p:spPr>
          <a:xfrm>
            <a:off x="850392" y="5870448"/>
            <a:ext cx="10488168" cy="32004"/>
          </a:xfrm>
          <a:prstGeom prst="rect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g3f9dd5f40ea_14_72"/>
          <p:cNvSpPr txBox="1"/>
          <p:nvPr/>
        </p:nvSpPr>
        <p:spPr>
          <a:xfrm>
            <a:off x="850392" y="5989320"/>
            <a:ext cx="104881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광고가 덮는 것은 서버비까지입니다. 그 위의 성장 비용은 유료 구조가 맡습니다.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5"/>
          <p:cNvSpPr/>
          <p:nvPr/>
        </p:nvSpPr>
        <p:spPr>
          <a:xfrm>
            <a:off x="0" y="0"/>
            <a:ext cx="121917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5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5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08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5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개발 히스토리와 결론</a:t>
            </a:r>
            <a:endParaRPr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657" name="Google Shape;657;p15"/>
          <p:cNvSpPr/>
          <p:nvPr/>
        </p:nvSpPr>
        <p:spPr>
          <a:xfrm>
            <a:off x="850392" y="2507376"/>
            <a:ext cx="104910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5"/>
          <p:cNvSpPr/>
          <p:nvPr/>
        </p:nvSpPr>
        <p:spPr>
          <a:xfrm>
            <a:off x="868680" y="2397648"/>
            <a:ext cx="228600" cy="2286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5"/>
          <p:cNvSpPr txBox="1"/>
          <p:nvPr/>
        </p:nvSpPr>
        <p:spPr>
          <a:xfrm>
            <a:off x="1088045" y="2726832"/>
            <a:ext cx="159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 </a:t>
            </a: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5"/>
          <p:cNvSpPr txBox="1"/>
          <p:nvPr/>
        </p:nvSpPr>
        <p:spPr>
          <a:xfrm>
            <a:off x="1088050" y="3197306"/>
            <a:ext cx="20418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Malgun Gothic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여러 명이 섞인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마피아 게임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1" name="Google Shape;661;p15"/>
          <p:cNvSpPr/>
          <p:nvPr/>
        </p:nvSpPr>
        <p:spPr>
          <a:xfrm>
            <a:off x="3197824" y="2397648"/>
            <a:ext cx="228600" cy="2286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5"/>
          <p:cNvSpPr txBox="1"/>
          <p:nvPr/>
        </p:nvSpPr>
        <p:spPr>
          <a:xfrm>
            <a:off x="3417190" y="2726832"/>
            <a:ext cx="159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 </a:t>
            </a: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확정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5"/>
          <p:cNvSpPr txBox="1"/>
          <p:nvPr/>
        </p:nvSpPr>
        <p:spPr>
          <a:xfrm>
            <a:off x="3407651" y="3186281"/>
            <a:ext cx="24996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Font typeface="Malgun Gothic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라이어 게임으로 변경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Malgun Gothic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1명 고정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5"/>
          <p:cNvSpPr/>
          <p:nvPr/>
        </p:nvSpPr>
        <p:spPr>
          <a:xfrm>
            <a:off x="5817816" y="2397648"/>
            <a:ext cx="228600" cy="2286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5"/>
          <p:cNvSpPr txBox="1"/>
          <p:nvPr/>
        </p:nvSpPr>
        <p:spPr>
          <a:xfrm>
            <a:off x="6037182" y="2726832"/>
            <a:ext cx="159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중간발표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5"/>
          <p:cNvSpPr txBox="1"/>
          <p:nvPr/>
        </p:nvSpPr>
        <p:spPr>
          <a:xfrm>
            <a:off x="6125911" y="3158581"/>
            <a:ext cx="1742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DB · Railway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b="1" lang="en-US" sz="18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18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루프</a:t>
            </a: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적용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5"/>
          <p:cNvSpPr/>
          <p:nvPr/>
        </p:nvSpPr>
        <p:spPr>
          <a:xfrm>
            <a:off x="7866166" y="2397648"/>
            <a:ext cx="228600" cy="2286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5"/>
          <p:cNvSpPr txBox="1"/>
          <p:nvPr/>
        </p:nvSpPr>
        <p:spPr>
          <a:xfrm>
            <a:off x="8085531" y="2726832"/>
            <a:ext cx="159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피드백 반영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5"/>
          <p:cNvSpPr txBox="1"/>
          <p:nvPr/>
        </p:nvSpPr>
        <p:spPr>
          <a:xfrm>
            <a:off x="8158826" y="3164705"/>
            <a:ext cx="18831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리플레이</a:t>
            </a:r>
            <a:b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방목록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0" name="Google Shape;670;p15"/>
          <p:cNvSpPr/>
          <p:nvPr/>
        </p:nvSpPr>
        <p:spPr>
          <a:xfrm>
            <a:off x="9763506" y="2397648"/>
            <a:ext cx="228600" cy="228600"/>
          </a:xfrm>
          <a:prstGeom prst="ellipse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5"/>
          <p:cNvSpPr txBox="1"/>
          <p:nvPr/>
        </p:nvSpPr>
        <p:spPr>
          <a:xfrm>
            <a:off x="9982871" y="2726832"/>
            <a:ext cx="159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발표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5"/>
          <p:cNvSpPr txBox="1"/>
          <p:nvPr/>
        </p:nvSpPr>
        <p:spPr>
          <a:xfrm>
            <a:off x="10015034" y="3165847"/>
            <a:ext cx="15960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오늘</a:t>
            </a:r>
            <a:endParaRPr b="1" i="0" sz="2100" u="none" cap="none" strike="noStrike">
              <a:solidFill>
                <a:srgbClr val="C216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3" name="Google Shape;673;p15"/>
          <p:cNvGrpSpPr/>
          <p:nvPr/>
        </p:nvGrpSpPr>
        <p:grpSpPr>
          <a:xfrm>
            <a:off x="850392" y="4316730"/>
            <a:ext cx="10626610" cy="1810512"/>
            <a:chOff x="850392" y="4754880"/>
            <a:chExt cx="10626610" cy="1810512"/>
          </a:xfrm>
        </p:grpSpPr>
        <p:sp>
          <p:nvSpPr>
            <p:cNvPr id="674" name="Google Shape;674;p15"/>
            <p:cNvSpPr/>
            <p:nvPr/>
          </p:nvSpPr>
          <p:spPr>
            <a:xfrm>
              <a:off x="850392" y="4754880"/>
              <a:ext cx="10490911" cy="1810512"/>
            </a:xfrm>
            <a:prstGeom prst="rect">
              <a:avLst/>
            </a:prstGeom>
            <a:solidFill>
              <a:srgbClr val="1606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5"/>
            <p:cNvSpPr txBox="1"/>
            <p:nvPr/>
          </p:nvSpPr>
          <p:spPr>
            <a:xfrm>
              <a:off x="1041153" y="4965467"/>
              <a:ext cx="9759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2733"/>
                </a:buClr>
                <a:buSzPts val="2600"/>
                <a:buFont typeface="Malgun Gothic"/>
                <a:buNone/>
              </a:pPr>
              <a:r>
                <a:rPr b="1" i="0" lang="en-US" sz="2600" u="none" cap="none" strike="noStrike">
                  <a:solidFill>
                    <a:srgbClr val="FF27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결론 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15"/>
            <p:cNvSpPr txBox="1"/>
            <p:nvPr/>
          </p:nvSpPr>
          <p:spPr>
            <a:xfrm>
              <a:off x="1075102" y="5466745"/>
              <a:ext cx="10401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840"/>
                <a:buFont typeface="Malgun Gothic"/>
                <a:buNone/>
              </a:pPr>
              <a:r>
                <a:rPr b="1" lang="en-US" sz="214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오프라인</a:t>
              </a:r>
              <a:r>
                <a:rPr b="1" lang="en-US" sz="214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의 게임 규칙은</a:t>
              </a:r>
              <a:r>
                <a:rPr b="1" lang="en-US" sz="214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코드로 옮기는 순간 "어떻게 강제할 것인가"가 됐습니다.</a:t>
              </a:r>
              <a:endParaRPr b="1" sz="214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840"/>
                <a:buFont typeface="Malgun Gothic"/>
                <a:buNone/>
              </a:pPr>
              <a:r>
                <a:rPr b="1" lang="en-US" sz="214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그리고 그 중 봇의 규칙은, 이제 사람이 아니라 게임 스스로 고칩니다. </a:t>
              </a:r>
              <a:endParaRPr b="1" sz="214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0607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6"/>
          <p:cNvSpPr txBox="1"/>
          <p:nvPr/>
        </p:nvSpPr>
        <p:spPr>
          <a:xfrm>
            <a:off x="448950" y="2016081"/>
            <a:ext cx="11294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 u="sng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3"/>
              </a:rPr>
              <a:t>https://zeteo-deploy.up.railway.app/</a:t>
            </a:r>
            <a:endParaRPr b="1" sz="5000" u="sng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83" name="Google Shape;683;p16"/>
          <p:cNvGrpSpPr/>
          <p:nvPr/>
        </p:nvGrpSpPr>
        <p:grpSpPr>
          <a:xfrm>
            <a:off x="1850742" y="3115031"/>
            <a:ext cx="3485700" cy="3430200"/>
            <a:chOff x="769550" y="3141100"/>
            <a:chExt cx="3485700" cy="3430200"/>
          </a:xfrm>
        </p:grpSpPr>
        <p:sp>
          <p:nvSpPr>
            <p:cNvPr id="684" name="Google Shape;684;p16"/>
            <p:cNvSpPr/>
            <p:nvPr/>
          </p:nvSpPr>
          <p:spPr>
            <a:xfrm>
              <a:off x="769550" y="3141100"/>
              <a:ext cx="3485700" cy="3430200"/>
            </a:xfrm>
            <a:prstGeom prst="roundRect">
              <a:avLst>
                <a:gd fmla="val 16667" name="adj"/>
              </a:avLst>
            </a:prstGeom>
            <a:solidFill>
              <a:srgbClr val="5B0F00"/>
            </a:solidFill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6"/>
            <p:cNvSpPr txBox="1"/>
            <p:nvPr/>
          </p:nvSpPr>
          <p:spPr>
            <a:xfrm>
              <a:off x="1641575" y="3171381"/>
              <a:ext cx="1720500" cy="68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lt1"/>
                  </a:solidFill>
                </a:rPr>
                <a:t>ZETEO</a:t>
              </a:r>
              <a:endParaRPr sz="3600">
                <a:solidFill>
                  <a:schemeClr val="lt1"/>
                </a:solidFill>
              </a:endParaRPr>
            </a:p>
          </p:txBody>
        </p:sp>
        <p:sp>
          <p:nvSpPr>
            <p:cNvPr id="686" name="Google Shape;686;p16"/>
            <p:cNvSpPr txBox="1"/>
            <p:nvPr/>
          </p:nvSpPr>
          <p:spPr>
            <a:xfrm>
              <a:off x="1397150" y="3825974"/>
              <a:ext cx="2230500" cy="60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lt1"/>
                  </a:solidFill>
                  <a:latin typeface="Hahmlet ExtraBold"/>
                  <a:ea typeface="Hahmlet ExtraBold"/>
                  <a:cs typeface="Hahmlet ExtraBold"/>
                  <a:sym typeface="Hahmlet ExtraBold"/>
                </a:rPr>
                <a:t>라이어 게임</a:t>
              </a:r>
              <a:endParaRPr sz="3200">
                <a:solidFill>
                  <a:schemeClr val="lt1"/>
                </a:solidFill>
                <a:latin typeface="Hahmlet ExtraBold"/>
                <a:ea typeface="Hahmlet ExtraBold"/>
                <a:cs typeface="Hahmlet ExtraBold"/>
                <a:sym typeface="Hahmlet ExtraBold"/>
              </a:endParaRPr>
            </a:p>
          </p:txBody>
        </p:sp>
        <p:sp>
          <p:nvSpPr>
            <p:cNvPr id="687" name="Google Shape;687;p16"/>
            <p:cNvSpPr txBox="1"/>
            <p:nvPr/>
          </p:nvSpPr>
          <p:spPr>
            <a:xfrm>
              <a:off x="904275" y="4714297"/>
              <a:ext cx="976500" cy="42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E6B8AF"/>
                  </a:solidFill>
                </a:rPr>
                <a:t>닉네임</a:t>
              </a:r>
              <a:endParaRPr sz="1800">
                <a:solidFill>
                  <a:srgbClr val="E6B8AF"/>
                </a:solidFill>
              </a:endParaRPr>
            </a:p>
          </p:txBody>
        </p:sp>
        <p:sp>
          <p:nvSpPr>
            <p:cNvPr id="688" name="Google Shape;688;p16"/>
            <p:cNvSpPr/>
            <p:nvPr/>
          </p:nvSpPr>
          <p:spPr>
            <a:xfrm>
              <a:off x="866458" y="5238469"/>
              <a:ext cx="3291900" cy="543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762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1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닉네임 입력 후 </a:t>
              </a:r>
              <a:r>
                <a:rPr b="1" i="1" lang="en-US" sz="2100">
                  <a:solidFill>
                    <a:srgbClr val="FF27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시작</a:t>
              </a:r>
              <a:r>
                <a:rPr b="1" i="1" lang="en-US" sz="21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클릭</a:t>
              </a:r>
              <a:endParaRPr b="1" i="1" sz="2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9" name="Google Shape;689;p16"/>
            <p:cNvSpPr/>
            <p:nvPr/>
          </p:nvSpPr>
          <p:spPr>
            <a:xfrm>
              <a:off x="1012775" y="5883848"/>
              <a:ext cx="2978100" cy="422100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시 작</a:t>
              </a:r>
              <a:endParaRPr b="1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90" name="Google Shape;690;p16"/>
          <p:cNvGrpSpPr/>
          <p:nvPr/>
        </p:nvGrpSpPr>
        <p:grpSpPr>
          <a:xfrm>
            <a:off x="6685213" y="3115031"/>
            <a:ext cx="3485700" cy="3430200"/>
            <a:chOff x="769550" y="3141100"/>
            <a:chExt cx="3485700" cy="3430200"/>
          </a:xfrm>
        </p:grpSpPr>
        <p:sp>
          <p:nvSpPr>
            <p:cNvPr id="691" name="Google Shape;691;p16"/>
            <p:cNvSpPr/>
            <p:nvPr/>
          </p:nvSpPr>
          <p:spPr>
            <a:xfrm>
              <a:off x="769550" y="3141100"/>
              <a:ext cx="3485700" cy="3430200"/>
            </a:xfrm>
            <a:prstGeom prst="roundRect">
              <a:avLst>
                <a:gd fmla="val 16667" name="adj"/>
              </a:avLst>
            </a:prstGeom>
            <a:solidFill>
              <a:srgbClr val="5B0F00"/>
            </a:solidFill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6"/>
            <p:cNvSpPr txBox="1"/>
            <p:nvPr/>
          </p:nvSpPr>
          <p:spPr>
            <a:xfrm>
              <a:off x="1852407" y="3146841"/>
              <a:ext cx="1320000" cy="60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lt1"/>
                  </a:solidFill>
                  <a:latin typeface="Hahmlet ExtraBold"/>
                  <a:ea typeface="Hahmlet ExtraBold"/>
                  <a:cs typeface="Hahmlet ExtraBold"/>
                  <a:sym typeface="Hahmlet ExtraBold"/>
                </a:rPr>
                <a:t>방목록</a:t>
              </a:r>
              <a:endParaRPr sz="3200">
                <a:solidFill>
                  <a:schemeClr val="lt1"/>
                </a:solidFill>
                <a:latin typeface="Hahmlet ExtraBold"/>
                <a:ea typeface="Hahmlet ExtraBold"/>
                <a:cs typeface="Hahmlet ExtraBold"/>
                <a:sym typeface="Hahmlet ExtraBold"/>
              </a:endParaRPr>
            </a:p>
          </p:txBody>
        </p:sp>
        <p:sp>
          <p:nvSpPr>
            <p:cNvPr id="693" name="Google Shape;693;p16"/>
            <p:cNvSpPr/>
            <p:nvPr/>
          </p:nvSpPr>
          <p:spPr>
            <a:xfrm>
              <a:off x="896762" y="5022825"/>
              <a:ext cx="3231300" cy="11679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762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b="1" i="1" lang="en-US" sz="15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en-US" sz="15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#방이름 방장닉네임</a:t>
              </a:r>
              <a:endParaRPr b="1" sz="15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b="1" i="1" lang="en-US" sz="21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1" lang="en-US" sz="21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대기방 클릭하여 </a:t>
              </a:r>
              <a:r>
                <a:rPr b="1" i="1" lang="en-US" sz="2100">
                  <a:solidFill>
                    <a:srgbClr val="FF27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입장</a:t>
              </a:r>
              <a:br>
                <a:rPr b="1" i="1" lang="en-US" sz="2100">
                  <a:solidFill>
                    <a:srgbClr val="FF27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endParaRPr b="1" i="1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4" name="Google Shape;694;p16"/>
            <p:cNvSpPr/>
            <p:nvPr/>
          </p:nvSpPr>
          <p:spPr>
            <a:xfrm>
              <a:off x="1023362" y="4434579"/>
              <a:ext cx="1452600" cy="422100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전체</a:t>
              </a:r>
              <a:endParaRPr b="1" sz="15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95" name="Google Shape;695;p16"/>
          <p:cNvSpPr/>
          <p:nvPr/>
        </p:nvSpPr>
        <p:spPr>
          <a:xfrm>
            <a:off x="6939013" y="3813734"/>
            <a:ext cx="2978100" cy="4221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 만들기</a:t>
            </a:r>
            <a:endParaRPr b="1"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6" name="Google Shape;696;p16"/>
          <p:cNvSpPr/>
          <p:nvPr/>
        </p:nvSpPr>
        <p:spPr>
          <a:xfrm>
            <a:off x="8464525" y="4353736"/>
            <a:ext cx="1452600" cy="4221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참여 가능</a:t>
            </a:r>
            <a:endParaRPr b="1" sz="15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7" name="Google Shape;697;p16"/>
          <p:cNvSpPr/>
          <p:nvPr/>
        </p:nvSpPr>
        <p:spPr>
          <a:xfrm>
            <a:off x="9116725" y="5062675"/>
            <a:ext cx="800400" cy="3258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 cap="flat" cmpd="sng" w="3810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대기중</a:t>
            </a:r>
            <a:endParaRPr b="1" sz="1800">
              <a:solidFill>
                <a:srgbClr val="00FF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8" name="Google Shape;698;p16"/>
          <p:cNvSpPr/>
          <p:nvPr/>
        </p:nvSpPr>
        <p:spPr>
          <a:xfrm>
            <a:off x="5658054" y="4376698"/>
            <a:ext cx="800400" cy="108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0F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6"/>
          <p:cNvSpPr txBox="1"/>
          <p:nvPr/>
        </p:nvSpPr>
        <p:spPr>
          <a:xfrm>
            <a:off x="850392" y="457200"/>
            <a:ext cx="10491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6"/>
          <p:cNvSpPr txBox="1"/>
          <p:nvPr/>
        </p:nvSpPr>
        <p:spPr>
          <a:xfrm>
            <a:off x="850392" y="804672"/>
            <a:ext cx="7863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lang="en-US" sz="4600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시연</a:t>
            </a:r>
            <a:endParaRPr i="0" sz="46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0607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17"/>
          <p:cNvSpPr/>
          <p:nvPr/>
        </p:nvSpPr>
        <p:spPr>
          <a:xfrm>
            <a:off x="4754880" y="1272540"/>
            <a:ext cx="2651760" cy="2651760"/>
          </a:xfrm>
          <a:prstGeom prst="ellipse">
            <a:avLst/>
          </a:prstGeom>
          <a:noFill/>
          <a:ln cap="flat" cmpd="sng" w="25400">
            <a:solidFill>
              <a:srgbClr val="4A14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7"/>
          <p:cNvSpPr txBox="1"/>
          <p:nvPr/>
        </p:nvSpPr>
        <p:spPr>
          <a:xfrm>
            <a:off x="4754880" y="1272540"/>
            <a:ext cx="26517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9600"/>
              <a:buFont typeface="Malgun Gothic"/>
              <a:buNone/>
            </a:pPr>
            <a:r>
              <a:rPr b="1" i="0" lang="en-US" sz="96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?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7"/>
          <p:cNvSpPr txBox="1"/>
          <p:nvPr/>
        </p:nvSpPr>
        <p:spPr>
          <a:xfrm>
            <a:off x="0" y="4567737"/>
            <a:ext cx="12191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i="0" lang="en-US" sz="30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우리 중 하나는 사람이 아닙니다</a:t>
            </a:r>
            <a:endParaRPr i="0" sz="3000" u="none" cap="none" strike="noStrike">
              <a:solidFill>
                <a:srgbClr val="F3E6E6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709" name="Google Shape;709;p17"/>
          <p:cNvSpPr/>
          <p:nvPr/>
        </p:nvSpPr>
        <p:spPr>
          <a:xfrm>
            <a:off x="5410048" y="5249727"/>
            <a:ext cx="1371600" cy="321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7"/>
          <p:cNvSpPr txBox="1"/>
          <p:nvPr/>
        </p:nvSpPr>
        <p:spPr>
          <a:xfrm>
            <a:off x="0" y="5429250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  ·  Q &amp; A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7"/>
          <p:cNvSpPr txBox="1"/>
          <p:nvPr/>
        </p:nvSpPr>
        <p:spPr>
          <a:xfrm>
            <a:off x="0" y="5958840"/>
            <a:ext cx="1219169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7C7E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9B7C7E"/>
                </a:solidFill>
                <a:latin typeface="Malgun Gothic"/>
                <a:ea typeface="Malgun Gothic"/>
                <a:cs typeface="Malgun Gothic"/>
                <a:sym typeface="Malgun Gothic"/>
              </a:rPr>
              <a:t>TeamB   박진 · 이현우 · 유민성 · 김정현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2" name="Google Shape;712;p17"/>
          <p:cNvGrpSpPr/>
          <p:nvPr/>
        </p:nvGrpSpPr>
        <p:grpSpPr>
          <a:xfrm>
            <a:off x="4686021" y="370559"/>
            <a:ext cx="2820432" cy="4063743"/>
            <a:chOff x="6754971" y="392342"/>
            <a:chExt cx="3019411" cy="4235271"/>
          </a:xfrm>
        </p:grpSpPr>
        <p:sp>
          <p:nvSpPr>
            <p:cNvPr id="713" name="Google Shape;713;p17"/>
            <p:cNvSpPr/>
            <p:nvPr/>
          </p:nvSpPr>
          <p:spPr>
            <a:xfrm>
              <a:off x="6754971" y="392342"/>
              <a:ext cx="3019411" cy="4235271"/>
            </a:xfrm>
            <a:prstGeom prst="rect">
              <a:avLst/>
            </a:prstGeom>
            <a:solidFill>
              <a:srgbClr val="C21620"/>
            </a:solidFill>
            <a:ln cap="flat" cmpd="sng" w="12700">
              <a:solidFill>
                <a:srgbClr val="C2162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C2162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14" name="Google Shape;714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802596" y="435358"/>
              <a:ext cx="2928769" cy="414616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8"/>
          <p:cNvSpPr txBox="1"/>
          <p:nvPr/>
        </p:nvSpPr>
        <p:spPr>
          <a:xfrm>
            <a:off x="502920" y="310896"/>
            <a:ext cx="1828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부록</a:t>
            </a:r>
            <a:endParaRPr/>
          </a:p>
        </p:txBody>
      </p:sp>
      <p:sp>
        <p:nvSpPr>
          <p:cNvPr id="722" name="Google Shape;722;p18"/>
          <p:cNvSpPr txBox="1"/>
          <p:nvPr/>
        </p:nvSpPr>
        <p:spPr>
          <a:xfrm>
            <a:off x="502920" y="548640"/>
            <a:ext cx="6400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디자인 컴포넌트 · 타이포 · 도식</a:t>
            </a:r>
            <a:endParaRPr/>
          </a:p>
        </p:txBody>
      </p:sp>
      <p:sp>
        <p:nvSpPr>
          <p:cNvPr id="723" name="Google Shape;723;p18"/>
          <p:cNvSpPr txBox="1"/>
          <p:nvPr/>
        </p:nvSpPr>
        <p:spPr>
          <a:xfrm>
            <a:off x="7482809" y="566928"/>
            <a:ext cx="4206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발표에는 사용하지 않는 페이지입니다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필요한 요소를 이 장에서 복사해 쓰세요</a:t>
            </a:r>
            <a:endParaRPr/>
          </a:p>
        </p:txBody>
      </p:sp>
      <p:sp>
        <p:nvSpPr>
          <p:cNvPr id="724" name="Google Shape;724;p18"/>
          <p:cNvSpPr/>
          <p:nvPr/>
        </p:nvSpPr>
        <p:spPr>
          <a:xfrm>
            <a:off x="502920" y="1133856"/>
            <a:ext cx="11186100" cy="273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8"/>
          <p:cNvSpPr txBox="1"/>
          <p:nvPr/>
        </p:nvSpPr>
        <p:spPr>
          <a:xfrm>
            <a:off x="502920" y="1371600"/>
            <a:ext cx="3612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COLOR  ·  tokens.css</a:t>
            </a:r>
            <a:endParaRPr/>
          </a:p>
        </p:txBody>
      </p:sp>
      <p:sp>
        <p:nvSpPr>
          <p:cNvPr id="726" name="Google Shape;726;p18"/>
          <p:cNvSpPr/>
          <p:nvPr/>
        </p:nvSpPr>
        <p:spPr>
          <a:xfrm>
            <a:off x="502920" y="1627632"/>
            <a:ext cx="36120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8"/>
          <p:cNvSpPr/>
          <p:nvPr/>
        </p:nvSpPr>
        <p:spPr>
          <a:xfrm>
            <a:off x="502920" y="1792224"/>
            <a:ext cx="274200" cy="237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8"/>
          <p:cNvSpPr txBox="1"/>
          <p:nvPr/>
        </p:nvSpPr>
        <p:spPr>
          <a:xfrm>
            <a:off x="868680" y="1773936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#160607</a:t>
            </a:r>
            <a:endParaRPr/>
          </a:p>
        </p:txBody>
      </p:sp>
      <p:sp>
        <p:nvSpPr>
          <p:cNvPr id="729" name="Google Shape;729;p18"/>
          <p:cNvSpPr txBox="1"/>
          <p:nvPr/>
        </p:nvSpPr>
        <p:spPr>
          <a:xfrm>
            <a:off x="868680" y="1920240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배경 (다크)</a:t>
            </a:r>
            <a:endParaRPr/>
          </a:p>
        </p:txBody>
      </p:sp>
      <p:sp>
        <p:nvSpPr>
          <p:cNvPr id="730" name="Google Shape;730;p18"/>
          <p:cNvSpPr/>
          <p:nvPr/>
        </p:nvSpPr>
        <p:spPr>
          <a:xfrm>
            <a:off x="2308860" y="1792224"/>
            <a:ext cx="274200" cy="23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8"/>
          <p:cNvSpPr txBox="1"/>
          <p:nvPr/>
        </p:nvSpPr>
        <p:spPr>
          <a:xfrm>
            <a:off x="2674620" y="1773936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#FFFFFF</a:t>
            </a:r>
            <a:endParaRPr/>
          </a:p>
        </p:txBody>
      </p:sp>
      <p:sp>
        <p:nvSpPr>
          <p:cNvPr id="732" name="Google Shape;732;p18"/>
          <p:cNvSpPr txBox="1"/>
          <p:nvPr/>
        </p:nvSpPr>
        <p:spPr>
          <a:xfrm>
            <a:off x="2674620" y="1920240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배경 (라이트)</a:t>
            </a:r>
            <a:endParaRPr/>
          </a:p>
        </p:txBody>
      </p:sp>
      <p:sp>
        <p:nvSpPr>
          <p:cNvPr id="733" name="Google Shape;733;p18"/>
          <p:cNvSpPr/>
          <p:nvPr/>
        </p:nvSpPr>
        <p:spPr>
          <a:xfrm>
            <a:off x="502920" y="2121408"/>
            <a:ext cx="274200" cy="237600"/>
          </a:xfrm>
          <a:prstGeom prst="rect">
            <a:avLst/>
          </a:prstGeom>
          <a:solidFill>
            <a:srgbClr val="1F0A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8"/>
          <p:cNvSpPr txBox="1"/>
          <p:nvPr/>
        </p:nvSpPr>
        <p:spPr>
          <a:xfrm>
            <a:off x="868680" y="2103120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#1F0A0C</a:t>
            </a:r>
            <a:endParaRPr/>
          </a:p>
        </p:txBody>
      </p:sp>
      <p:sp>
        <p:nvSpPr>
          <p:cNvPr id="735" name="Google Shape;735;p18"/>
          <p:cNvSpPr txBox="1"/>
          <p:nvPr/>
        </p:nvSpPr>
        <p:spPr>
          <a:xfrm>
            <a:off x="868680" y="2249424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 (다크)</a:t>
            </a:r>
            <a:endParaRPr/>
          </a:p>
        </p:txBody>
      </p:sp>
      <p:sp>
        <p:nvSpPr>
          <p:cNvPr id="736" name="Google Shape;736;p18"/>
          <p:cNvSpPr/>
          <p:nvPr/>
        </p:nvSpPr>
        <p:spPr>
          <a:xfrm>
            <a:off x="2308860" y="2121408"/>
            <a:ext cx="274200" cy="23760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8"/>
          <p:cNvSpPr txBox="1"/>
          <p:nvPr/>
        </p:nvSpPr>
        <p:spPr>
          <a:xfrm>
            <a:off x="2674620" y="2103120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#F4F4F4</a:t>
            </a:r>
            <a:endParaRPr/>
          </a:p>
        </p:txBody>
      </p:sp>
      <p:sp>
        <p:nvSpPr>
          <p:cNvPr id="738" name="Google Shape;738;p18"/>
          <p:cNvSpPr txBox="1"/>
          <p:nvPr/>
        </p:nvSpPr>
        <p:spPr>
          <a:xfrm>
            <a:off x="2674620" y="2249424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 (라이트)</a:t>
            </a:r>
            <a:endParaRPr/>
          </a:p>
        </p:txBody>
      </p:sp>
      <p:sp>
        <p:nvSpPr>
          <p:cNvPr id="739" name="Google Shape;739;p18"/>
          <p:cNvSpPr/>
          <p:nvPr/>
        </p:nvSpPr>
        <p:spPr>
          <a:xfrm>
            <a:off x="502920" y="2450591"/>
            <a:ext cx="274200" cy="237600"/>
          </a:xfrm>
          <a:prstGeom prst="rect">
            <a:avLst/>
          </a:prstGeom>
          <a:solidFill>
            <a:srgbClr val="F3E6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8"/>
          <p:cNvSpPr txBox="1"/>
          <p:nvPr/>
        </p:nvSpPr>
        <p:spPr>
          <a:xfrm>
            <a:off x="868680" y="2432303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#F3E6E6</a:t>
            </a:r>
            <a:endParaRPr/>
          </a:p>
        </p:txBody>
      </p:sp>
      <p:sp>
        <p:nvSpPr>
          <p:cNvPr id="741" name="Google Shape;741;p18"/>
          <p:cNvSpPr txBox="1"/>
          <p:nvPr/>
        </p:nvSpPr>
        <p:spPr>
          <a:xfrm>
            <a:off x="868680" y="2578608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본문 (다크)</a:t>
            </a:r>
            <a:endParaRPr/>
          </a:p>
        </p:txBody>
      </p:sp>
      <p:sp>
        <p:nvSpPr>
          <p:cNvPr id="742" name="Google Shape;742;p18"/>
          <p:cNvSpPr/>
          <p:nvPr/>
        </p:nvSpPr>
        <p:spPr>
          <a:xfrm>
            <a:off x="2308860" y="2450591"/>
            <a:ext cx="274200" cy="237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8"/>
          <p:cNvSpPr txBox="1"/>
          <p:nvPr/>
        </p:nvSpPr>
        <p:spPr>
          <a:xfrm>
            <a:off x="2674620" y="2432303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#1A1A1A</a:t>
            </a:r>
            <a:endParaRPr/>
          </a:p>
        </p:txBody>
      </p:sp>
      <p:sp>
        <p:nvSpPr>
          <p:cNvPr id="744" name="Google Shape;744;p18"/>
          <p:cNvSpPr txBox="1"/>
          <p:nvPr/>
        </p:nvSpPr>
        <p:spPr>
          <a:xfrm>
            <a:off x="2674620" y="2578608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본문 (라이트)</a:t>
            </a:r>
            <a:endParaRPr/>
          </a:p>
        </p:txBody>
      </p:sp>
      <p:sp>
        <p:nvSpPr>
          <p:cNvPr id="745" name="Google Shape;745;p18"/>
          <p:cNvSpPr/>
          <p:nvPr/>
        </p:nvSpPr>
        <p:spPr>
          <a:xfrm>
            <a:off x="502920" y="2779776"/>
            <a:ext cx="274200" cy="237600"/>
          </a:xfrm>
          <a:prstGeom prst="rect">
            <a:avLst/>
          </a:prstGeom>
          <a:solidFill>
            <a:srgbClr val="D3BF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8"/>
          <p:cNvSpPr txBox="1"/>
          <p:nvPr/>
        </p:nvSpPr>
        <p:spPr>
          <a:xfrm>
            <a:off x="868680" y="2761488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#D3BFC0</a:t>
            </a:r>
            <a:endParaRPr/>
          </a:p>
        </p:txBody>
      </p:sp>
      <p:sp>
        <p:nvSpPr>
          <p:cNvPr id="747" name="Google Shape;747;p18"/>
          <p:cNvSpPr txBox="1"/>
          <p:nvPr/>
        </p:nvSpPr>
        <p:spPr>
          <a:xfrm>
            <a:off x="868680" y="2907792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보조 (다크)</a:t>
            </a:r>
            <a:endParaRPr/>
          </a:p>
        </p:txBody>
      </p:sp>
      <p:sp>
        <p:nvSpPr>
          <p:cNvPr id="748" name="Google Shape;748;p18"/>
          <p:cNvSpPr/>
          <p:nvPr/>
        </p:nvSpPr>
        <p:spPr>
          <a:xfrm>
            <a:off x="2308860" y="2779776"/>
            <a:ext cx="274200" cy="237600"/>
          </a:xfrm>
          <a:prstGeom prst="rect">
            <a:avLst/>
          </a:prstGeom>
          <a:solidFill>
            <a:srgbClr val="5757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8"/>
          <p:cNvSpPr txBox="1"/>
          <p:nvPr/>
        </p:nvSpPr>
        <p:spPr>
          <a:xfrm>
            <a:off x="2674620" y="2761488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#575757</a:t>
            </a:r>
            <a:endParaRPr/>
          </a:p>
        </p:txBody>
      </p:sp>
      <p:sp>
        <p:nvSpPr>
          <p:cNvPr id="750" name="Google Shape;750;p18"/>
          <p:cNvSpPr txBox="1"/>
          <p:nvPr/>
        </p:nvSpPr>
        <p:spPr>
          <a:xfrm>
            <a:off x="2674620" y="2907792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보조 (라이트)</a:t>
            </a:r>
            <a:endParaRPr/>
          </a:p>
        </p:txBody>
      </p:sp>
      <p:sp>
        <p:nvSpPr>
          <p:cNvPr id="751" name="Google Shape;751;p18"/>
          <p:cNvSpPr/>
          <p:nvPr/>
        </p:nvSpPr>
        <p:spPr>
          <a:xfrm>
            <a:off x="502920" y="3108960"/>
            <a:ext cx="274200" cy="2376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8"/>
          <p:cNvSpPr txBox="1"/>
          <p:nvPr/>
        </p:nvSpPr>
        <p:spPr>
          <a:xfrm>
            <a:off x="868680" y="3090672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#FF2733</a:t>
            </a:r>
            <a:endParaRPr/>
          </a:p>
        </p:txBody>
      </p:sp>
      <p:sp>
        <p:nvSpPr>
          <p:cNvPr id="753" name="Google Shape;753;p18"/>
          <p:cNvSpPr txBox="1"/>
          <p:nvPr/>
        </p:nvSpPr>
        <p:spPr>
          <a:xfrm>
            <a:off x="868680" y="3236976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강조 (다크)</a:t>
            </a:r>
            <a:endParaRPr/>
          </a:p>
        </p:txBody>
      </p:sp>
      <p:sp>
        <p:nvSpPr>
          <p:cNvPr id="754" name="Google Shape;754;p18"/>
          <p:cNvSpPr/>
          <p:nvPr/>
        </p:nvSpPr>
        <p:spPr>
          <a:xfrm>
            <a:off x="2308860" y="3108960"/>
            <a:ext cx="274200" cy="237600"/>
          </a:xfrm>
          <a:prstGeom prst="rect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8"/>
          <p:cNvSpPr txBox="1"/>
          <p:nvPr/>
        </p:nvSpPr>
        <p:spPr>
          <a:xfrm>
            <a:off x="2674620" y="3090672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#C21620</a:t>
            </a:r>
            <a:endParaRPr/>
          </a:p>
        </p:txBody>
      </p:sp>
      <p:sp>
        <p:nvSpPr>
          <p:cNvPr id="756" name="Google Shape;756;p18"/>
          <p:cNvSpPr txBox="1"/>
          <p:nvPr/>
        </p:nvSpPr>
        <p:spPr>
          <a:xfrm>
            <a:off x="2674620" y="3236976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강조 (라이트)</a:t>
            </a:r>
            <a:endParaRPr/>
          </a:p>
        </p:txBody>
      </p:sp>
      <p:sp>
        <p:nvSpPr>
          <p:cNvPr id="757" name="Google Shape;757;p18"/>
          <p:cNvSpPr/>
          <p:nvPr/>
        </p:nvSpPr>
        <p:spPr>
          <a:xfrm>
            <a:off x="502920" y="3438144"/>
            <a:ext cx="274200" cy="237600"/>
          </a:xfrm>
          <a:prstGeom prst="rect">
            <a:avLst/>
          </a:prstGeom>
          <a:solidFill>
            <a:srgbClr val="4A14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8"/>
          <p:cNvSpPr txBox="1"/>
          <p:nvPr/>
        </p:nvSpPr>
        <p:spPr>
          <a:xfrm>
            <a:off x="868680" y="3419856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#4A1418</a:t>
            </a:r>
            <a:endParaRPr/>
          </a:p>
        </p:txBody>
      </p:sp>
      <p:sp>
        <p:nvSpPr>
          <p:cNvPr id="759" name="Google Shape;759;p18"/>
          <p:cNvSpPr txBox="1"/>
          <p:nvPr/>
        </p:nvSpPr>
        <p:spPr>
          <a:xfrm>
            <a:off x="868680" y="3566160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 (다크)</a:t>
            </a:r>
            <a:endParaRPr/>
          </a:p>
        </p:txBody>
      </p:sp>
      <p:sp>
        <p:nvSpPr>
          <p:cNvPr id="760" name="Google Shape;760;p18"/>
          <p:cNvSpPr/>
          <p:nvPr/>
        </p:nvSpPr>
        <p:spPr>
          <a:xfrm>
            <a:off x="2308860" y="3438144"/>
            <a:ext cx="274200" cy="2376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8"/>
          <p:cNvSpPr txBox="1"/>
          <p:nvPr/>
        </p:nvSpPr>
        <p:spPr>
          <a:xfrm>
            <a:off x="2674620" y="3419856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#DCDCDC</a:t>
            </a:r>
            <a:endParaRPr/>
          </a:p>
        </p:txBody>
      </p:sp>
      <p:sp>
        <p:nvSpPr>
          <p:cNvPr id="762" name="Google Shape;762;p18"/>
          <p:cNvSpPr txBox="1"/>
          <p:nvPr/>
        </p:nvSpPr>
        <p:spPr>
          <a:xfrm>
            <a:off x="2674620" y="3566160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 (라이트)</a:t>
            </a:r>
            <a:endParaRPr/>
          </a:p>
        </p:txBody>
      </p:sp>
      <p:sp>
        <p:nvSpPr>
          <p:cNvPr id="763" name="Google Shape;763;p18"/>
          <p:cNvSpPr txBox="1"/>
          <p:nvPr/>
        </p:nvSpPr>
        <p:spPr>
          <a:xfrm>
            <a:off x="4343400" y="1371600"/>
            <a:ext cx="3612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TYPE SCALE  ·  맑은 고딕</a:t>
            </a:r>
            <a:endParaRPr/>
          </a:p>
        </p:txBody>
      </p:sp>
      <p:sp>
        <p:nvSpPr>
          <p:cNvPr id="764" name="Google Shape;764;p18"/>
          <p:cNvSpPr/>
          <p:nvPr/>
        </p:nvSpPr>
        <p:spPr>
          <a:xfrm>
            <a:off x="4343400" y="1627632"/>
            <a:ext cx="36120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18"/>
          <p:cNvSpPr txBox="1"/>
          <p:nvPr/>
        </p:nvSpPr>
        <p:spPr>
          <a:xfrm>
            <a:off x="4343400" y="1792224"/>
            <a:ext cx="567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46pt</a:t>
            </a:r>
            <a:endParaRPr/>
          </a:p>
        </p:txBody>
      </p:sp>
      <p:sp>
        <p:nvSpPr>
          <p:cNvPr id="766" name="Google Shape;766;p18"/>
          <p:cNvSpPr txBox="1"/>
          <p:nvPr/>
        </p:nvSpPr>
        <p:spPr>
          <a:xfrm>
            <a:off x="4965192" y="1792224"/>
            <a:ext cx="114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표지 대제목</a:t>
            </a:r>
            <a:endParaRPr/>
          </a:p>
        </p:txBody>
      </p:sp>
      <p:sp>
        <p:nvSpPr>
          <p:cNvPr id="767" name="Google Shape;767;p18"/>
          <p:cNvSpPr txBox="1"/>
          <p:nvPr/>
        </p:nvSpPr>
        <p:spPr>
          <a:xfrm>
            <a:off x="6149340" y="1792224"/>
            <a:ext cx="567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40pt</a:t>
            </a:r>
            <a:endParaRPr/>
          </a:p>
        </p:txBody>
      </p:sp>
      <p:sp>
        <p:nvSpPr>
          <p:cNvPr id="768" name="Google Shape;768;p18"/>
          <p:cNvSpPr txBox="1"/>
          <p:nvPr/>
        </p:nvSpPr>
        <p:spPr>
          <a:xfrm>
            <a:off x="6771131" y="1792224"/>
            <a:ext cx="114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섹션 도입</a:t>
            </a:r>
            <a:endParaRPr/>
          </a:p>
        </p:txBody>
      </p:sp>
      <p:sp>
        <p:nvSpPr>
          <p:cNvPr id="769" name="Google Shape;769;p18"/>
          <p:cNvSpPr txBox="1"/>
          <p:nvPr/>
        </p:nvSpPr>
        <p:spPr>
          <a:xfrm>
            <a:off x="4343400" y="2103120"/>
            <a:ext cx="567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-US" sz="1100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pt</a:t>
            </a:r>
            <a:endParaRPr/>
          </a:p>
        </p:txBody>
      </p:sp>
      <p:sp>
        <p:nvSpPr>
          <p:cNvPr id="770" name="Google Shape;770;p18"/>
          <p:cNvSpPr txBox="1"/>
          <p:nvPr/>
        </p:nvSpPr>
        <p:spPr>
          <a:xfrm>
            <a:off x="4965192" y="2103120"/>
            <a:ext cx="114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슬라이드 제목</a:t>
            </a:r>
            <a:endParaRPr/>
          </a:p>
        </p:txBody>
      </p:sp>
      <p:sp>
        <p:nvSpPr>
          <p:cNvPr id="771" name="Google Shape;771;p18"/>
          <p:cNvSpPr txBox="1"/>
          <p:nvPr/>
        </p:nvSpPr>
        <p:spPr>
          <a:xfrm>
            <a:off x="6149340" y="2103120"/>
            <a:ext cx="567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27pt</a:t>
            </a:r>
            <a:endParaRPr/>
          </a:p>
        </p:txBody>
      </p:sp>
      <p:sp>
        <p:nvSpPr>
          <p:cNvPr id="772" name="Google Shape;772;p18"/>
          <p:cNvSpPr txBox="1"/>
          <p:nvPr/>
        </p:nvSpPr>
        <p:spPr>
          <a:xfrm>
            <a:off x="6771131" y="2103120"/>
            <a:ext cx="114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파트 제목</a:t>
            </a:r>
            <a:endParaRPr/>
          </a:p>
        </p:txBody>
      </p:sp>
      <p:sp>
        <p:nvSpPr>
          <p:cNvPr id="773" name="Google Shape;773;p18"/>
          <p:cNvSpPr txBox="1"/>
          <p:nvPr/>
        </p:nvSpPr>
        <p:spPr>
          <a:xfrm>
            <a:off x="4343400" y="2414016"/>
            <a:ext cx="567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26pt</a:t>
            </a:r>
            <a:endParaRPr/>
          </a:p>
        </p:txBody>
      </p:sp>
      <p:sp>
        <p:nvSpPr>
          <p:cNvPr id="774" name="Google Shape;774;p18"/>
          <p:cNvSpPr txBox="1"/>
          <p:nvPr/>
        </p:nvSpPr>
        <p:spPr>
          <a:xfrm>
            <a:off x="4965192" y="2414016"/>
            <a:ext cx="114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이니셜 · 숫자</a:t>
            </a:r>
            <a:endParaRPr/>
          </a:p>
        </p:txBody>
      </p:sp>
      <p:sp>
        <p:nvSpPr>
          <p:cNvPr id="775" name="Google Shape;775;p18"/>
          <p:cNvSpPr txBox="1"/>
          <p:nvPr/>
        </p:nvSpPr>
        <p:spPr>
          <a:xfrm>
            <a:off x="6149340" y="2414016"/>
            <a:ext cx="567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21pt</a:t>
            </a:r>
            <a:endParaRPr/>
          </a:p>
        </p:txBody>
      </p:sp>
      <p:sp>
        <p:nvSpPr>
          <p:cNvPr id="776" name="Google Shape;776;p18"/>
          <p:cNvSpPr txBox="1"/>
          <p:nvPr/>
        </p:nvSpPr>
        <p:spPr>
          <a:xfrm>
            <a:off x="6771131" y="2414016"/>
            <a:ext cx="114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본문 · 카드 제목</a:t>
            </a:r>
            <a:endParaRPr/>
          </a:p>
        </p:txBody>
      </p:sp>
      <p:sp>
        <p:nvSpPr>
          <p:cNvPr id="777" name="Google Shape;777;p18"/>
          <p:cNvSpPr txBox="1"/>
          <p:nvPr/>
        </p:nvSpPr>
        <p:spPr>
          <a:xfrm>
            <a:off x="4343400" y="2724912"/>
            <a:ext cx="567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 sz="1100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pt</a:t>
            </a:r>
            <a:endParaRPr/>
          </a:p>
        </p:txBody>
      </p:sp>
      <p:sp>
        <p:nvSpPr>
          <p:cNvPr id="778" name="Google Shape;778;p18"/>
          <p:cNvSpPr txBox="1"/>
          <p:nvPr/>
        </p:nvSpPr>
        <p:spPr>
          <a:xfrm>
            <a:off x="4965192" y="2724912"/>
            <a:ext cx="114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설명 · 캡션</a:t>
            </a:r>
            <a:endParaRPr/>
          </a:p>
        </p:txBody>
      </p:sp>
      <p:sp>
        <p:nvSpPr>
          <p:cNvPr id="779" name="Google Shape;779;p18"/>
          <p:cNvSpPr txBox="1"/>
          <p:nvPr/>
        </p:nvSpPr>
        <p:spPr>
          <a:xfrm>
            <a:off x="6149340" y="2724912"/>
            <a:ext cx="567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15pt</a:t>
            </a:r>
            <a:endParaRPr/>
          </a:p>
        </p:txBody>
      </p:sp>
      <p:sp>
        <p:nvSpPr>
          <p:cNvPr id="780" name="Google Shape;780;p18"/>
          <p:cNvSpPr txBox="1"/>
          <p:nvPr/>
        </p:nvSpPr>
        <p:spPr>
          <a:xfrm>
            <a:off x="6771131" y="2724912"/>
            <a:ext cx="114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보조 설명</a:t>
            </a:r>
            <a:endParaRPr/>
          </a:p>
        </p:txBody>
      </p:sp>
      <p:sp>
        <p:nvSpPr>
          <p:cNvPr id="781" name="Google Shape;781;p18"/>
          <p:cNvSpPr txBox="1"/>
          <p:nvPr/>
        </p:nvSpPr>
        <p:spPr>
          <a:xfrm>
            <a:off x="4343400" y="3035808"/>
            <a:ext cx="567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12pt</a:t>
            </a:r>
            <a:endParaRPr/>
          </a:p>
        </p:txBody>
      </p:sp>
      <p:sp>
        <p:nvSpPr>
          <p:cNvPr id="782" name="Google Shape;782;p18"/>
          <p:cNvSpPr txBox="1"/>
          <p:nvPr/>
        </p:nvSpPr>
        <p:spPr>
          <a:xfrm>
            <a:off x="4965192" y="3035808"/>
            <a:ext cx="114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작은 캡션</a:t>
            </a:r>
            <a:endParaRPr/>
          </a:p>
        </p:txBody>
      </p:sp>
      <p:sp>
        <p:nvSpPr>
          <p:cNvPr id="783" name="Google Shape;783;p18"/>
          <p:cNvSpPr txBox="1"/>
          <p:nvPr/>
        </p:nvSpPr>
        <p:spPr>
          <a:xfrm>
            <a:off x="6149340" y="3035808"/>
            <a:ext cx="567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10.5pt</a:t>
            </a:r>
            <a:endParaRPr/>
          </a:p>
        </p:txBody>
      </p:sp>
      <p:sp>
        <p:nvSpPr>
          <p:cNvPr id="784" name="Google Shape;784;p18"/>
          <p:cNvSpPr txBox="1"/>
          <p:nvPr/>
        </p:nvSpPr>
        <p:spPr>
          <a:xfrm>
            <a:off x="6771131" y="3035808"/>
            <a:ext cx="114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키커 라벨</a:t>
            </a:r>
            <a:endParaRPr/>
          </a:p>
        </p:txBody>
      </p:sp>
      <p:sp>
        <p:nvSpPr>
          <p:cNvPr id="785" name="Google Shape;785;p18"/>
          <p:cNvSpPr txBox="1"/>
          <p:nvPr/>
        </p:nvSpPr>
        <p:spPr>
          <a:xfrm>
            <a:off x="4343400" y="3401568"/>
            <a:ext cx="361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코드 · 날짜는 Consolas 8 ~ 10.5pt</a:t>
            </a:r>
            <a:endParaRPr/>
          </a:p>
        </p:txBody>
      </p:sp>
      <p:sp>
        <p:nvSpPr>
          <p:cNvPr id="786" name="Google Shape;786;p18"/>
          <p:cNvSpPr txBox="1"/>
          <p:nvPr/>
        </p:nvSpPr>
        <p:spPr>
          <a:xfrm>
            <a:off x="4343400" y="3657600"/>
            <a:ext cx="361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본문 기본값 21pt — 심사 기준 하한선</a:t>
            </a:r>
            <a:endParaRPr/>
          </a:p>
        </p:txBody>
      </p:sp>
      <p:sp>
        <p:nvSpPr>
          <p:cNvPr id="787" name="Google Shape;787;p18"/>
          <p:cNvSpPr txBox="1"/>
          <p:nvPr/>
        </p:nvSpPr>
        <p:spPr>
          <a:xfrm>
            <a:off x="8183879" y="1371600"/>
            <a:ext cx="3505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LAYOUT  ·  그리드</a:t>
            </a:r>
            <a:endParaRPr/>
          </a:p>
        </p:txBody>
      </p:sp>
      <p:sp>
        <p:nvSpPr>
          <p:cNvPr id="788" name="Google Shape;788;p18"/>
          <p:cNvSpPr/>
          <p:nvPr/>
        </p:nvSpPr>
        <p:spPr>
          <a:xfrm>
            <a:off x="8183879" y="1627632"/>
            <a:ext cx="35052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18"/>
          <p:cNvSpPr/>
          <p:nvPr/>
        </p:nvSpPr>
        <p:spPr>
          <a:xfrm>
            <a:off x="8183879" y="1773936"/>
            <a:ext cx="2788800" cy="1152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8"/>
          <p:cNvSpPr/>
          <p:nvPr/>
        </p:nvSpPr>
        <p:spPr>
          <a:xfrm>
            <a:off x="8183879" y="1773936"/>
            <a:ext cx="2788800" cy="3474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18"/>
          <p:cNvSpPr/>
          <p:nvPr/>
        </p:nvSpPr>
        <p:spPr>
          <a:xfrm>
            <a:off x="8183879" y="2121408"/>
            <a:ext cx="2788800" cy="183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18"/>
          <p:cNvSpPr txBox="1"/>
          <p:nvPr/>
        </p:nvSpPr>
        <p:spPr>
          <a:xfrm>
            <a:off x="8375904" y="1874519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제목 3</a:t>
            </a:r>
            <a:r>
              <a:rPr b="1" lang="en-US" sz="9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r>
              <a:rPr b="1" i="0" lang="en-US" sz="9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pt</a:t>
            </a:r>
            <a:endParaRPr/>
          </a:p>
        </p:txBody>
      </p:sp>
      <p:sp>
        <p:nvSpPr>
          <p:cNvPr id="793" name="Google Shape;793;p18"/>
          <p:cNvSpPr txBox="1"/>
          <p:nvPr/>
        </p:nvSpPr>
        <p:spPr>
          <a:xfrm>
            <a:off x="10424160" y="1883664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메타</a:t>
            </a:r>
            <a:endParaRPr/>
          </a:p>
        </p:txBody>
      </p:sp>
      <p:sp>
        <p:nvSpPr>
          <p:cNvPr id="794" name="Google Shape;794;p18"/>
          <p:cNvSpPr/>
          <p:nvPr/>
        </p:nvSpPr>
        <p:spPr>
          <a:xfrm>
            <a:off x="8375904" y="2267712"/>
            <a:ext cx="658500" cy="5487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18"/>
          <p:cNvSpPr/>
          <p:nvPr/>
        </p:nvSpPr>
        <p:spPr>
          <a:xfrm>
            <a:off x="9198864" y="2267712"/>
            <a:ext cx="658500" cy="5487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18"/>
          <p:cNvSpPr/>
          <p:nvPr/>
        </p:nvSpPr>
        <p:spPr>
          <a:xfrm>
            <a:off x="10021824" y="2267712"/>
            <a:ext cx="658500" cy="5487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18"/>
          <p:cNvSpPr/>
          <p:nvPr/>
        </p:nvSpPr>
        <p:spPr>
          <a:xfrm>
            <a:off x="8183879" y="1773936"/>
            <a:ext cx="192000" cy="1152000"/>
          </a:xfrm>
          <a:prstGeom prst="rect">
            <a:avLst/>
          </a:prstGeom>
          <a:noFill/>
          <a:ln cap="flat" cmpd="sng" w="9525">
            <a:solidFill>
              <a:srgbClr val="B4B4B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18"/>
          <p:cNvSpPr/>
          <p:nvPr/>
        </p:nvSpPr>
        <p:spPr>
          <a:xfrm>
            <a:off x="10780776" y="1773936"/>
            <a:ext cx="192000" cy="1152000"/>
          </a:xfrm>
          <a:prstGeom prst="rect">
            <a:avLst/>
          </a:prstGeom>
          <a:noFill/>
          <a:ln cap="flat" cmpd="sng" w="9525">
            <a:solidFill>
              <a:srgbClr val="B4B4B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18"/>
          <p:cNvSpPr txBox="1"/>
          <p:nvPr/>
        </p:nvSpPr>
        <p:spPr>
          <a:xfrm>
            <a:off x="8183879" y="3017520"/>
            <a:ext cx="960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슬라이드</a:t>
            </a:r>
            <a:endParaRPr/>
          </a:p>
        </p:txBody>
      </p:sp>
      <p:sp>
        <p:nvSpPr>
          <p:cNvPr id="800" name="Google Shape;800;p18"/>
          <p:cNvSpPr txBox="1"/>
          <p:nvPr/>
        </p:nvSpPr>
        <p:spPr>
          <a:xfrm>
            <a:off x="9189719" y="3017520"/>
            <a:ext cx="249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13.33 × 7.5 in (16:9)</a:t>
            </a:r>
            <a:endParaRPr/>
          </a:p>
        </p:txBody>
      </p:sp>
      <p:sp>
        <p:nvSpPr>
          <p:cNvPr id="801" name="Google Shape;801;p18"/>
          <p:cNvSpPr txBox="1"/>
          <p:nvPr/>
        </p:nvSpPr>
        <p:spPr>
          <a:xfrm>
            <a:off x="8183879" y="3236976"/>
            <a:ext cx="960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좌우 여백</a:t>
            </a:r>
            <a:endParaRPr/>
          </a:p>
        </p:txBody>
      </p:sp>
      <p:sp>
        <p:nvSpPr>
          <p:cNvPr id="802" name="Google Shape;802;p18"/>
          <p:cNvSpPr txBox="1"/>
          <p:nvPr/>
        </p:nvSpPr>
        <p:spPr>
          <a:xfrm>
            <a:off x="9189719" y="3236976"/>
            <a:ext cx="249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0.93 in — 모든 요소의 기준선</a:t>
            </a:r>
            <a:endParaRPr/>
          </a:p>
        </p:txBody>
      </p:sp>
      <p:sp>
        <p:nvSpPr>
          <p:cNvPr id="803" name="Google Shape;803;p18"/>
          <p:cNvSpPr txBox="1"/>
          <p:nvPr/>
        </p:nvSpPr>
        <p:spPr>
          <a:xfrm>
            <a:off x="8183879" y="3456432"/>
            <a:ext cx="960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상단 띠</a:t>
            </a:r>
            <a:endParaRPr/>
          </a:p>
        </p:txBody>
      </p:sp>
      <p:sp>
        <p:nvSpPr>
          <p:cNvPr id="804" name="Google Shape;804;p18"/>
          <p:cNvSpPr txBox="1"/>
          <p:nvPr/>
        </p:nvSpPr>
        <p:spPr>
          <a:xfrm>
            <a:off x="9189719" y="3456432"/>
            <a:ext cx="249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1.92 in + 붉은 선 0.035 in</a:t>
            </a:r>
            <a:endParaRPr/>
          </a:p>
        </p:txBody>
      </p:sp>
      <p:sp>
        <p:nvSpPr>
          <p:cNvPr id="805" name="Google Shape;805;p18"/>
          <p:cNvSpPr txBox="1"/>
          <p:nvPr/>
        </p:nvSpPr>
        <p:spPr>
          <a:xfrm>
            <a:off x="8183879" y="3675887"/>
            <a:ext cx="960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시작</a:t>
            </a:r>
            <a:endParaRPr/>
          </a:p>
        </p:txBody>
      </p:sp>
      <p:sp>
        <p:nvSpPr>
          <p:cNvPr id="806" name="Google Shape;806;p18"/>
          <p:cNvSpPr txBox="1"/>
          <p:nvPr/>
        </p:nvSpPr>
        <p:spPr>
          <a:xfrm>
            <a:off x="9189719" y="3675887"/>
            <a:ext cx="249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y = 2.34 in · 간격 0.22 / 0.35</a:t>
            </a:r>
            <a:endParaRPr/>
          </a:p>
        </p:txBody>
      </p:sp>
      <p:sp>
        <p:nvSpPr>
          <p:cNvPr id="807" name="Google Shape;807;p18"/>
          <p:cNvSpPr/>
          <p:nvPr/>
        </p:nvSpPr>
        <p:spPr>
          <a:xfrm>
            <a:off x="502920" y="3895344"/>
            <a:ext cx="111861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18"/>
          <p:cNvSpPr txBox="1"/>
          <p:nvPr/>
        </p:nvSpPr>
        <p:spPr>
          <a:xfrm>
            <a:off x="502920" y="4005072"/>
            <a:ext cx="5486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COMPONENT  ·  복사해서 쓰는 조각</a:t>
            </a:r>
            <a:endParaRPr/>
          </a:p>
        </p:txBody>
      </p:sp>
      <p:sp>
        <p:nvSpPr>
          <p:cNvPr id="809" name="Google Shape;809;p18"/>
          <p:cNvSpPr txBox="1"/>
          <p:nvPr/>
        </p:nvSpPr>
        <p:spPr>
          <a:xfrm>
            <a:off x="502920" y="4169663"/>
            <a:ext cx="2618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 (기본)</a:t>
            </a:r>
            <a:endParaRPr/>
          </a:p>
        </p:txBody>
      </p:sp>
      <p:sp>
        <p:nvSpPr>
          <p:cNvPr id="810" name="Google Shape;810;p18"/>
          <p:cNvSpPr/>
          <p:nvPr/>
        </p:nvSpPr>
        <p:spPr>
          <a:xfrm>
            <a:off x="502920" y="4352544"/>
            <a:ext cx="2618100" cy="100590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18"/>
          <p:cNvSpPr txBox="1"/>
          <p:nvPr/>
        </p:nvSpPr>
        <p:spPr>
          <a:xfrm>
            <a:off x="685800" y="4498848"/>
            <a:ext cx="2252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 제목 21pt</a:t>
            </a:r>
            <a:endParaRPr/>
          </a:p>
        </p:txBody>
      </p:sp>
      <p:sp>
        <p:nvSpPr>
          <p:cNvPr id="812" name="Google Shape;812;p18"/>
          <p:cNvSpPr txBox="1"/>
          <p:nvPr/>
        </p:nvSpPr>
        <p:spPr>
          <a:xfrm>
            <a:off x="685800" y="4809744"/>
            <a:ext cx="2252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설명 15pt · #575757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행간 1.35</a:t>
            </a:r>
            <a:endParaRPr/>
          </a:p>
        </p:txBody>
      </p:sp>
      <p:sp>
        <p:nvSpPr>
          <p:cNvPr id="813" name="Google Shape;813;p18"/>
          <p:cNvSpPr txBox="1"/>
          <p:nvPr/>
        </p:nvSpPr>
        <p:spPr>
          <a:xfrm>
            <a:off x="3358888" y="4169663"/>
            <a:ext cx="2618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 (강조 · 채택)</a:t>
            </a:r>
            <a:endParaRPr/>
          </a:p>
        </p:txBody>
      </p:sp>
      <p:sp>
        <p:nvSpPr>
          <p:cNvPr id="814" name="Google Shape;814;p18"/>
          <p:cNvSpPr/>
          <p:nvPr/>
        </p:nvSpPr>
        <p:spPr>
          <a:xfrm>
            <a:off x="3358888" y="4352544"/>
            <a:ext cx="2618100" cy="1005900"/>
          </a:xfrm>
          <a:prstGeom prst="rect">
            <a:avLst/>
          </a:prstGeom>
          <a:solidFill>
            <a:srgbClr val="160607"/>
          </a:solidFill>
          <a:ln cap="flat" cmpd="sng" w="22225">
            <a:solidFill>
              <a:srgbClr val="FF273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18"/>
          <p:cNvSpPr txBox="1"/>
          <p:nvPr/>
        </p:nvSpPr>
        <p:spPr>
          <a:xfrm>
            <a:off x="3541768" y="4498848"/>
            <a:ext cx="2252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 제목 21pt</a:t>
            </a:r>
            <a:endParaRPr/>
          </a:p>
        </p:txBody>
      </p:sp>
      <p:sp>
        <p:nvSpPr>
          <p:cNvPr id="816" name="Google Shape;816;p18"/>
          <p:cNvSpPr txBox="1"/>
          <p:nvPr/>
        </p:nvSpPr>
        <p:spPr>
          <a:xfrm>
            <a:off x="3541768" y="4809744"/>
            <a:ext cx="2252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설명 15pt · #D3BFC0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테두리 #FF2733 1.75pt</a:t>
            </a:r>
            <a:endParaRPr/>
          </a:p>
        </p:txBody>
      </p:sp>
      <p:sp>
        <p:nvSpPr>
          <p:cNvPr id="817" name="Google Shape;817;p18"/>
          <p:cNvSpPr txBox="1"/>
          <p:nvPr/>
        </p:nvSpPr>
        <p:spPr>
          <a:xfrm>
            <a:off x="6214856" y="4169663"/>
            <a:ext cx="2618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스탯 타일</a:t>
            </a:r>
            <a:endParaRPr/>
          </a:p>
        </p:txBody>
      </p:sp>
      <p:sp>
        <p:nvSpPr>
          <p:cNvPr id="818" name="Google Shape;818;p18"/>
          <p:cNvSpPr/>
          <p:nvPr/>
        </p:nvSpPr>
        <p:spPr>
          <a:xfrm>
            <a:off x="6214856" y="4352544"/>
            <a:ext cx="2618100" cy="1005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18"/>
          <p:cNvSpPr txBox="1"/>
          <p:nvPr/>
        </p:nvSpPr>
        <p:spPr>
          <a:xfrm>
            <a:off x="6397736" y="4462272"/>
            <a:ext cx="2252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13개 → 5개</a:t>
            </a:r>
            <a:endParaRPr/>
          </a:p>
        </p:txBody>
      </p:sp>
      <p:sp>
        <p:nvSpPr>
          <p:cNvPr id="820" name="Google Shape;820;p18"/>
          <p:cNvSpPr txBox="1"/>
          <p:nvPr/>
        </p:nvSpPr>
        <p:spPr>
          <a:xfrm>
            <a:off x="6397736" y="4846320"/>
            <a:ext cx="2252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라벨 14pt</a:t>
            </a:r>
            <a:endParaRPr/>
          </a:p>
        </p:txBody>
      </p:sp>
      <p:sp>
        <p:nvSpPr>
          <p:cNvPr id="821" name="Google Shape;821;p18"/>
          <p:cNvSpPr txBox="1"/>
          <p:nvPr/>
        </p:nvSpPr>
        <p:spPr>
          <a:xfrm>
            <a:off x="6397736" y="5074920"/>
            <a:ext cx="2252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보충 설명 12pt</a:t>
            </a:r>
            <a:endParaRPr/>
          </a:p>
        </p:txBody>
      </p:sp>
      <p:sp>
        <p:nvSpPr>
          <p:cNvPr id="822" name="Google Shape;822;p18"/>
          <p:cNvSpPr txBox="1"/>
          <p:nvPr/>
        </p:nvSpPr>
        <p:spPr>
          <a:xfrm>
            <a:off x="9070825" y="4169663"/>
            <a:ext cx="2618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배지 · 넘버 · 칩</a:t>
            </a:r>
            <a:endParaRPr/>
          </a:p>
        </p:txBody>
      </p:sp>
      <p:sp>
        <p:nvSpPr>
          <p:cNvPr id="823" name="Google Shape;823;p18"/>
          <p:cNvSpPr/>
          <p:nvPr/>
        </p:nvSpPr>
        <p:spPr>
          <a:xfrm>
            <a:off x="9070825" y="4352544"/>
            <a:ext cx="2618100" cy="100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18"/>
          <p:cNvSpPr/>
          <p:nvPr/>
        </p:nvSpPr>
        <p:spPr>
          <a:xfrm>
            <a:off x="9253705" y="4480559"/>
            <a:ext cx="621900" cy="2559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18"/>
          <p:cNvSpPr txBox="1"/>
          <p:nvPr/>
        </p:nvSpPr>
        <p:spPr>
          <a:xfrm>
            <a:off x="9253705" y="4480559"/>
            <a:ext cx="62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기각</a:t>
            </a:r>
            <a:endParaRPr/>
          </a:p>
        </p:txBody>
      </p:sp>
      <p:sp>
        <p:nvSpPr>
          <p:cNvPr id="826" name="Google Shape;826;p18"/>
          <p:cNvSpPr/>
          <p:nvPr/>
        </p:nvSpPr>
        <p:spPr>
          <a:xfrm>
            <a:off x="9966937" y="4480559"/>
            <a:ext cx="621900" cy="2559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18"/>
          <p:cNvSpPr txBox="1"/>
          <p:nvPr/>
        </p:nvSpPr>
        <p:spPr>
          <a:xfrm>
            <a:off x="9966937" y="4480559"/>
            <a:ext cx="62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60607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채택</a:t>
            </a:r>
            <a:endParaRPr/>
          </a:p>
        </p:txBody>
      </p:sp>
      <p:sp>
        <p:nvSpPr>
          <p:cNvPr id="828" name="Google Shape;828;p18"/>
          <p:cNvSpPr txBox="1"/>
          <p:nvPr/>
        </p:nvSpPr>
        <p:spPr>
          <a:xfrm>
            <a:off x="9253705" y="4828031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/>
          </a:p>
        </p:txBody>
      </p:sp>
      <p:sp>
        <p:nvSpPr>
          <p:cNvPr id="829" name="Google Shape;829;p18"/>
          <p:cNvSpPr/>
          <p:nvPr/>
        </p:nvSpPr>
        <p:spPr>
          <a:xfrm>
            <a:off x="9784057" y="4846320"/>
            <a:ext cx="841200" cy="27420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18"/>
          <p:cNvSpPr txBox="1"/>
          <p:nvPr/>
        </p:nvSpPr>
        <p:spPr>
          <a:xfrm>
            <a:off x="9784057" y="4846320"/>
            <a:ext cx="84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단계 칩</a:t>
            </a:r>
            <a:endParaRPr/>
          </a:p>
        </p:txBody>
      </p:sp>
      <p:sp>
        <p:nvSpPr>
          <p:cNvPr id="831" name="Google Shape;831;p18"/>
          <p:cNvSpPr/>
          <p:nvPr/>
        </p:nvSpPr>
        <p:spPr>
          <a:xfrm>
            <a:off x="10698457" y="4846320"/>
            <a:ext cx="841200" cy="274200"/>
          </a:xfrm>
          <a:prstGeom prst="rect">
            <a:avLst/>
          </a:prstGeom>
          <a:solidFill>
            <a:srgbClr val="160607"/>
          </a:solidFill>
          <a:ln cap="flat" cmpd="sng" w="19050">
            <a:solidFill>
              <a:srgbClr val="FF273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18"/>
          <p:cNvSpPr txBox="1"/>
          <p:nvPr/>
        </p:nvSpPr>
        <p:spPr>
          <a:xfrm>
            <a:off x="10698457" y="4846320"/>
            <a:ext cx="84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강조 칩</a:t>
            </a:r>
            <a:endParaRPr/>
          </a:p>
        </p:txBody>
      </p:sp>
      <p:sp>
        <p:nvSpPr>
          <p:cNvPr id="833" name="Google Shape;833;p18"/>
          <p:cNvSpPr txBox="1"/>
          <p:nvPr/>
        </p:nvSpPr>
        <p:spPr>
          <a:xfrm>
            <a:off x="502920" y="5559551"/>
            <a:ext cx="2618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 카드</a:t>
            </a:r>
            <a:endParaRPr/>
          </a:p>
        </p:txBody>
      </p:sp>
      <p:sp>
        <p:nvSpPr>
          <p:cNvPr id="834" name="Google Shape;834;p18"/>
          <p:cNvSpPr/>
          <p:nvPr/>
        </p:nvSpPr>
        <p:spPr>
          <a:xfrm>
            <a:off x="502920" y="5742431"/>
            <a:ext cx="2618100" cy="896100"/>
          </a:xfrm>
          <a:prstGeom prst="rect">
            <a:avLst/>
          </a:prstGeom>
          <a:solidFill>
            <a:srgbClr val="1F0A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18"/>
          <p:cNvSpPr txBox="1"/>
          <p:nvPr/>
        </p:nvSpPr>
        <p:spPr>
          <a:xfrm>
            <a:off x="685800" y="5852159"/>
            <a:ext cx="2252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2733"/>
                </a:solidFill>
                <a:latin typeface="Consolas"/>
                <a:ea typeface="Consolas"/>
                <a:cs typeface="Consolas"/>
                <a:sym typeface="Consolas"/>
              </a:rPr>
              <a:t>GameScreen.tsx</a:t>
            </a:r>
            <a:endParaRPr/>
          </a:p>
        </p:txBody>
      </p:sp>
      <p:sp>
        <p:nvSpPr>
          <p:cNvPr id="836" name="Google Shape;836;p18"/>
          <p:cNvSpPr txBox="1"/>
          <p:nvPr/>
        </p:nvSpPr>
        <p:spPr>
          <a:xfrm>
            <a:off x="685800" y="6089903"/>
            <a:ext cx="2252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3BFC0"/>
                </a:solidFill>
                <a:latin typeface="Consolas"/>
                <a:ea typeface="Consolas"/>
                <a:cs typeface="Consolas"/>
                <a:sym typeface="Consolas"/>
              </a:rPr>
              <a:t>const m = modalFor(state);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3BFC0"/>
                </a:solidFill>
                <a:latin typeface="Consolas"/>
                <a:ea typeface="Consolas"/>
                <a:cs typeface="Consolas"/>
                <a:sym typeface="Consolas"/>
              </a:rPr>
              <a:t>return &lt;MainScreen … /&gt;;</a:t>
            </a:r>
            <a:endParaRPr/>
          </a:p>
        </p:txBody>
      </p:sp>
      <p:sp>
        <p:nvSpPr>
          <p:cNvPr id="837" name="Google Shape;837;p18"/>
          <p:cNvSpPr txBox="1"/>
          <p:nvPr/>
        </p:nvSpPr>
        <p:spPr>
          <a:xfrm>
            <a:off x="3358888" y="5559551"/>
            <a:ext cx="2618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도식 · 타임라인</a:t>
            </a:r>
            <a:endParaRPr/>
          </a:p>
        </p:txBody>
      </p:sp>
      <p:sp>
        <p:nvSpPr>
          <p:cNvPr id="838" name="Google Shape;838;p18"/>
          <p:cNvSpPr/>
          <p:nvPr/>
        </p:nvSpPr>
        <p:spPr>
          <a:xfrm>
            <a:off x="3358888" y="5742431"/>
            <a:ext cx="2618100" cy="896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18"/>
          <p:cNvSpPr/>
          <p:nvPr/>
        </p:nvSpPr>
        <p:spPr>
          <a:xfrm>
            <a:off x="3541768" y="6144768"/>
            <a:ext cx="22524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18"/>
          <p:cNvSpPr/>
          <p:nvPr/>
        </p:nvSpPr>
        <p:spPr>
          <a:xfrm>
            <a:off x="3578344" y="6053327"/>
            <a:ext cx="183000" cy="1830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18"/>
          <p:cNvSpPr txBox="1"/>
          <p:nvPr/>
        </p:nvSpPr>
        <p:spPr>
          <a:xfrm>
            <a:off x="3468616" y="5861303"/>
            <a:ext cx="502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07/29</a:t>
            </a:r>
            <a:endParaRPr/>
          </a:p>
        </p:txBody>
      </p:sp>
      <p:sp>
        <p:nvSpPr>
          <p:cNvPr id="842" name="Google Shape;842;p18"/>
          <p:cNvSpPr txBox="1"/>
          <p:nvPr/>
        </p:nvSpPr>
        <p:spPr>
          <a:xfrm>
            <a:off x="3486904" y="6291071"/>
            <a:ext cx="502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v1.0</a:t>
            </a:r>
            <a:endParaRPr/>
          </a:p>
        </p:txBody>
      </p:sp>
      <p:sp>
        <p:nvSpPr>
          <p:cNvPr id="843" name="Google Shape;843;p18"/>
          <p:cNvSpPr/>
          <p:nvPr/>
        </p:nvSpPr>
        <p:spPr>
          <a:xfrm>
            <a:off x="4283445" y="6053327"/>
            <a:ext cx="183000" cy="1830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18"/>
          <p:cNvSpPr txBox="1"/>
          <p:nvPr/>
        </p:nvSpPr>
        <p:spPr>
          <a:xfrm>
            <a:off x="4173717" y="5861303"/>
            <a:ext cx="502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08/19</a:t>
            </a:r>
            <a:endParaRPr/>
          </a:p>
        </p:txBody>
      </p:sp>
      <p:sp>
        <p:nvSpPr>
          <p:cNvPr id="845" name="Google Shape;845;p18"/>
          <p:cNvSpPr txBox="1"/>
          <p:nvPr/>
        </p:nvSpPr>
        <p:spPr>
          <a:xfrm>
            <a:off x="4192005" y="6291071"/>
            <a:ext cx="502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</a:t>
            </a:r>
            <a:endParaRPr/>
          </a:p>
        </p:txBody>
      </p:sp>
      <p:sp>
        <p:nvSpPr>
          <p:cNvPr id="846" name="Google Shape;846;p18"/>
          <p:cNvSpPr/>
          <p:nvPr/>
        </p:nvSpPr>
        <p:spPr>
          <a:xfrm>
            <a:off x="4988547" y="6053327"/>
            <a:ext cx="183000" cy="1830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18"/>
          <p:cNvSpPr txBox="1"/>
          <p:nvPr/>
        </p:nvSpPr>
        <p:spPr>
          <a:xfrm>
            <a:off x="4878819" y="5861303"/>
            <a:ext cx="502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08/30</a:t>
            </a:r>
            <a:endParaRPr/>
          </a:p>
        </p:txBody>
      </p:sp>
      <p:sp>
        <p:nvSpPr>
          <p:cNvPr id="848" name="Google Shape;848;p18"/>
          <p:cNvSpPr txBox="1"/>
          <p:nvPr/>
        </p:nvSpPr>
        <p:spPr>
          <a:xfrm>
            <a:off x="4897107" y="6291071"/>
            <a:ext cx="502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동결</a:t>
            </a:r>
            <a:endParaRPr/>
          </a:p>
        </p:txBody>
      </p:sp>
      <p:sp>
        <p:nvSpPr>
          <p:cNvPr id="849" name="Google Shape;849;p18"/>
          <p:cNvSpPr/>
          <p:nvPr/>
        </p:nvSpPr>
        <p:spPr>
          <a:xfrm>
            <a:off x="5693648" y="6053327"/>
            <a:ext cx="183000" cy="183000"/>
          </a:xfrm>
          <a:prstGeom prst="ellipse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18"/>
          <p:cNvSpPr txBox="1"/>
          <p:nvPr/>
        </p:nvSpPr>
        <p:spPr>
          <a:xfrm>
            <a:off x="5583920" y="5861303"/>
            <a:ext cx="502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09/08</a:t>
            </a:r>
            <a:endParaRPr/>
          </a:p>
        </p:txBody>
      </p:sp>
      <p:sp>
        <p:nvSpPr>
          <p:cNvPr id="851" name="Google Shape;851;p18"/>
          <p:cNvSpPr txBox="1"/>
          <p:nvPr/>
        </p:nvSpPr>
        <p:spPr>
          <a:xfrm>
            <a:off x="5602208" y="6291071"/>
            <a:ext cx="502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</a:t>
            </a:r>
            <a:endParaRPr/>
          </a:p>
        </p:txBody>
      </p:sp>
      <p:sp>
        <p:nvSpPr>
          <p:cNvPr id="852" name="Google Shape;852;p18"/>
          <p:cNvSpPr txBox="1"/>
          <p:nvPr/>
        </p:nvSpPr>
        <p:spPr>
          <a:xfrm>
            <a:off x="6214856" y="5559551"/>
            <a:ext cx="2618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도식 · 흐름</a:t>
            </a:r>
            <a:endParaRPr/>
          </a:p>
        </p:txBody>
      </p:sp>
      <p:sp>
        <p:nvSpPr>
          <p:cNvPr id="853" name="Google Shape;853;p18"/>
          <p:cNvSpPr/>
          <p:nvPr/>
        </p:nvSpPr>
        <p:spPr>
          <a:xfrm>
            <a:off x="6214856" y="5742431"/>
            <a:ext cx="2618100" cy="896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18"/>
          <p:cNvSpPr/>
          <p:nvPr/>
        </p:nvSpPr>
        <p:spPr>
          <a:xfrm>
            <a:off x="6397736" y="5998464"/>
            <a:ext cx="603600" cy="36570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18"/>
          <p:cNvSpPr txBox="1"/>
          <p:nvPr/>
        </p:nvSpPr>
        <p:spPr>
          <a:xfrm>
            <a:off x="6397736" y="5998464"/>
            <a:ext cx="60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묘사</a:t>
            </a:r>
            <a:endParaRPr/>
          </a:p>
        </p:txBody>
      </p:sp>
      <p:sp>
        <p:nvSpPr>
          <p:cNvPr id="856" name="Google Shape;856;p18"/>
          <p:cNvSpPr txBox="1"/>
          <p:nvPr/>
        </p:nvSpPr>
        <p:spPr>
          <a:xfrm>
            <a:off x="7001240" y="6016751"/>
            <a:ext cx="21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857" name="Google Shape;857;p18"/>
          <p:cNvSpPr/>
          <p:nvPr/>
        </p:nvSpPr>
        <p:spPr>
          <a:xfrm>
            <a:off x="7220696" y="5998464"/>
            <a:ext cx="603600" cy="36570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18"/>
          <p:cNvSpPr txBox="1"/>
          <p:nvPr/>
        </p:nvSpPr>
        <p:spPr>
          <a:xfrm>
            <a:off x="7220696" y="5998464"/>
            <a:ext cx="60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토론</a:t>
            </a:r>
            <a:endParaRPr/>
          </a:p>
        </p:txBody>
      </p:sp>
      <p:sp>
        <p:nvSpPr>
          <p:cNvPr id="859" name="Google Shape;859;p18"/>
          <p:cNvSpPr txBox="1"/>
          <p:nvPr/>
        </p:nvSpPr>
        <p:spPr>
          <a:xfrm>
            <a:off x="7824200" y="6016751"/>
            <a:ext cx="21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860" name="Google Shape;860;p18"/>
          <p:cNvSpPr/>
          <p:nvPr/>
        </p:nvSpPr>
        <p:spPr>
          <a:xfrm>
            <a:off x="8043656" y="5998464"/>
            <a:ext cx="603600" cy="365700"/>
          </a:xfrm>
          <a:prstGeom prst="rect">
            <a:avLst/>
          </a:prstGeom>
          <a:solidFill>
            <a:srgbClr val="160607"/>
          </a:solidFill>
          <a:ln cap="flat" cmpd="sng" w="19050">
            <a:solidFill>
              <a:srgbClr val="FF273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18"/>
          <p:cNvSpPr txBox="1"/>
          <p:nvPr/>
        </p:nvSpPr>
        <p:spPr>
          <a:xfrm>
            <a:off x="8043656" y="5998464"/>
            <a:ext cx="60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지목</a:t>
            </a:r>
            <a:endParaRPr/>
          </a:p>
        </p:txBody>
      </p:sp>
      <p:sp>
        <p:nvSpPr>
          <p:cNvPr id="862" name="Google Shape;862;p18"/>
          <p:cNvSpPr txBox="1"/>
          <p:nvPr/>
        </p:nvSpPr>
        <p:spPr>
          <a:xfrm>
            <a:off x="9070825" y="5559551"/>
            <a:ext cx="2618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 · 강조 바</a:t>
            </a:r>
            <a:endParaRPr/>
          </a:p>
        </p:txBody>
      </p:sp>
      <p:sp>
        <p:nvSpPr>
          <p:cNvPr id="863" name="Google Shape;863;p18"/>
          <p:cNvSpPr/>
          <p:nvPr/>
        </p:nvSpPr>
        <p:spPr>
          <a:xfrm>
            <a:off x="9070825" y="5742431"/>
            <a:ext cx="2618100" cy="896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18"/>
          <p:cNvSpPr/>
          <p:nvPr/>
        </p:nvSpPr>
        <p:spPr>
          <a:xfrm>
            <a:off x="9253705" y="5925312"/>
            <a:ext cx="22524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18"/>
          <p:cNvSpPr txBox="1"/>
          <p:nvPr/>
        </p:nvSpPr>
        <p:spPr>
          <a:xfrm>
            <a:off x="9253705" y="5980175"/>
            <a:ext cx="2252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구분선 0.012in #DCDCDC</a:t>
            </a:r>
            <a:endParaRPr/>
          </a:p>
        </p:txBody>
      </p:sp>
      <p:sp>
        <p:nvSpPr>
          <p:cNvPr id="866" name="Google Shape;866;p18"/>
          <p:cNvSpPr/>
          <p:nvPr/>
        </p:nvSpPr>
        <p:spPr>
          <a:xfrm>
            <a:off x="9253705" y="6199631"/>
            <a:ext cx="1005900" cy="321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18"/>
          <p:cNvSpPr txBox="1"/>
          <p:nvPr/>
        </p:nvSpPr>
        <p:spPr>
          <a:xfrm>
            <a:off x="9253705" y="6254496"/>
            <a:ext cx="2252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강조 선 0.035in #FF2733</a:t>
            </a:r>
            <a:endParaRPr/>
          </a:p>
        </p:txBody>
      </p:sp>
      <p:sp>
        <p:nvSpPr>
          <p:cNvPr id="868" name="Google Shape;868;p18"/>
          <p:cNvSpPr/>
          <p:nvPr/>
        </p:nvSpPr>
        <p:spPr>
          <a:xfrm>
            <a:off x="9253705" y="6473951"/>
            <a:ext cx="32100" cy="1281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18"/>
          <p:cNvSpPr txBox="1"/>
          <p:nvPr/>
        </p:nvSpPr>
        <p:spPr>
          <a:xfrm>
            <a:off x="9363433" y="6455664"/>
            <a:ext cx="2160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인용 바 (세로)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f9dd5f40ea_14_102"/>
          <p:cNvSpPr/>
          <p:nvPr/>
        </p:nvSpPr>
        <p:spPr>
          <a:xfrm>
            <a:off x="0" y="0"/>
            <a:ext cx="12188952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g3f9dd5f40ea_14_102"/>
          <p:cNvSpPr/>
          <p:nvPr/>
        </p:nvSpPr>
        <p:spPr>
          <a:xfrm>
            <a:off x="0" y="1755648"/>
            <a:ext cx="12188952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g3f9dd5f40ea_14_102"/>
          <p:cNvSpPr txBox="1"/>
          <p:nvPr/>
        </p:nvSpPr>
        <p:spPr>
          <a:xfrm>
            <a:off x="850392" y="5669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부록 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g3f9dd5f40ea_14_102"/>
          <p:cNvSpPr txBox="1"/>
          <p:nvPr/>
        </p:nvSpPr>
        <p:spPr>
          <a:xfrm>
            <a:off x="850392" y="896112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algun Gothic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원가 상세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g3f9dd5f40ea_14_102"/>
          <p:cNvSpPr txBox="1"/>
          <p:nvPr/>
        </p:nvSpPr>
        <p:spPr>
          <a:xfrm>
            <a:off x="7498080" y="60350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발표에는 사용하지 않는 페이지입니다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g3f9dd5f40ea_14_102"/>
          <p:cNvSpPr txBox="1"/>
          <p:nvPr/>
        </p:nvSpPr>
        <p:spPr>
          <a:xfrm>
            <a:off x="850392" y="2139696"/>
            <a:ext cx="10488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판당 원가 — 한 판 5,000토큰 기준 (입력 약 4,000 / 출력 약 1,000)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g3f9dd5f40ea_14_102"/>
          <p:cNvSpPr/>
          <p:nvPr/>
        </p:nvSpPr>
        <p:spPr>
          <a:xfrm>
            <a:off x="850392" y="2523744"/>
            <a:ext cx="10488168" cy="3200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g3f9dd5f40ea_14_102"/>
          <p:cNvSpPr txBox="1"/>
          <p:nvPr/>
        </p:nvSpPr>
        <p:spPr>
          <a:xfrm>
            <a:off x="960120" y="254203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g3f9dd5f40ea_14_102"/>
          <p:cNvSpPr txBox="1"/>
          <p:nvPr/>
        </p:nvSpPr>
        <p:spPr>
          <a:xfrm>
            <a:off x="5166360" y="254203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단가 (input / output, 100만 토큰당)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g3f9dd5f40ea_14_102"/>
          <p:cNvSpPr txBox="1"/>
          <p:nvPr/>
        </p:nvSpPr>
        <p:spPr>
          <a:xfrm>
            <a:off x="8366760" y="254203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판당 원가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g3f9dd5f40ea_14_102"/>
          <p:cNvSpPr/>
          <p:nvPr/>
        </p:nvSpPr>
        <p:spPr>
          <a:xfrm>
            <a:off x="850392" y="3218688"/>
            <a:ext cx="10488168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g3f9dd5f40ea_14_102"/>
          <p:cNvSpPr txBox="1"/>
          <p:nvPr/>
        </p:nvSpPr>
        <p:spPr>
          <a:xfrm>
            <a:off x="960120" y="2916936"/>
            <a:ext cx="402336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GPT-5.6 Sol (현재 사용)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g3f9dd5f40ea_14_102"/>
          <p:cNvSpPr txBox="1"/>
          <p:nvPr/>
        </p:nvSpPr>
        <p:spPr>
          <a:xfrm>
            <a:off x="5166360" y="2916936"/>
            <a:ext cx="30175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$5.00 / $30.00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g3f9dd5f40ea_14_102"/>
          <p:cNvSpPr txBox="1"/>
          <p:nvPr/>
        </p:nvSpPr>
        <p:spPr>
          <a:xfrm>
            <a:off x="8366760" y="2916936"/>
            <a:ext cx="29260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70원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g3f9dd5f40ea_14_102"/>
          <p:cNvSpPr/>
          <p:nvPr/>
        </p:nvSpPr>
        <p:spPr>
          <a:xfrm>
            <a:off x="850392" y="3529584"/>
            <a:ext cx="10488168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g3f9dd5f40ea_14_102"/>
          <p:cNvSpPr txBox="1"/>
          <p:nvPr/>
        </p:nvSpPr>
        <p:spPr>
          <a:xfrm>
            <a:off x="960120" y="3227832"/>
            <a:ext cx="402336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QWEN 3.8 max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g3f9dd5f40ea_14_102"/>
          <p:cNvSpPr txBox="1"/>
          <p:nvPr/>
        </p:nvSpPr>
        <p:spPr>
          <a:xfrm>
            <a:off x="5166360" y="3227832"/>
            <a:ext cx="30175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g3f9dd5f40ea_14_102"/>
          <p:cNvSpPr txBox="1"/>
          <p:nvPr/>
        </p:nvSpPr>
        <p:spPr>
          <a:xfrm>
            <a:off x="8366760" y="3227832"/>
            <a:ext cx="29260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25원 · 미채택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g3f9dd5f40ea_14_102"/>
          <p:cNvSpPr/>
          <p:nvPr/>
        </p:nvSpPr>
        <p:spPr>
          <a:xfrm>
            <a:off x="850392" y="3840480"/>
            <a:ext cx="10488168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g3f9dd5f40ea_14_102"/>
          <p:cNvSpPr txBox="1"/>
          <p:nvPr/>
        </p:nvSpPr>
        <p:spPr>
          <a:xfrm>
            <a:off x="960120" y="3538728"/>
            <a:ext cx="402336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GPT-5 mini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g3f9dd5f40ea_14_102"/>
          <p:cNvSpPr txBox="1"/>
          <p:nvPr/>
        </p:nvSpPr>
        <p:spPr>
          <a:xfrm>
            <a:off x="5166360" y="3538728"/>
            <a:ext cx="30175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$0.25 / $2.00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g3f9dd5f40ea_14_102"/>
          <p:cNvSpPr txBox="1"/>
          <p:nvPr/>
        </p:nvSpPr>
        <p:spPr>
          <a:xfrm>
            <a:off x="8366760" y="3538728"/>
            <a:ext cx="29260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약 4원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g3f9dd5f40ea_14_102"/>
          <p:cNvSpPr/>
          <p:nvPr/>
        </p:nvSpPr>
        <p:spPr>
          <a:xfrm>
            <a:off x="850392" y="4151376"/>
            <a:ext cx="10488168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g3f9dd5f40ea_14_102"/>
          <p:cNvSpPr txBox="1"/>
          <p:nvPr/>
        </p:nvSpPr>
        <p:spPr>
          <a:xfrm>
            <a:off x="960120" y="3849624"/>
            <a:ext cx="402336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gpt-5.6-luna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g3f9dd5f40ea_14_102"/>
          <p:cNvSpPr txBox="1"/>
          <p:nvPr/>
        </p:nvSpPr>
        <p:spPr>
          <a:xfrm>
            <a:off x="5166360" y="3849624"/>
            <a:ext cx="30175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$0.20 / $1.20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g3f9dd5f40ea_14_102"/>
          <p:cNvSpPr txBox="1"/>
          <p:nvPr/>
        </p:nvSpPr>
        <p:spPr>
          <a:xfrm>
            <a:off x="8366760" y="3849624"/>
            <a:ext cx="29260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약 2.7원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g3f9dd5f40ea_14_102"/>
          <p:cNvSpPr/>
          <p:nvPr/>
        </p:nvSpPr>
        <p:spPr>
          <a:xfrm>
            <a:off x="850392" y="4462272"/>
            <a:ext cx="10488168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g3f9dd5f40ea_14_102"/>
          <p:cNvSpPr txBox="1"/>
          <p:nvPr/>
        </p:nvSpPr>
        <p:spPr>
          <a:xfrm>
            <a:off x="960120" y="4160520"/>
            <a:ext cx="402336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gpt-5.6-luna + 프롬프트 캐싱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g3f9dd5f40ea_14_102"/>
          <p:cNvSpPr txBox="1"/>
          <p:nvPr/>
        </p:nvSpPr>
        <p:spPr>
          <a:xfrm>
            <a:off x="5166360" y="4160520"/>
            <a:ext cx="30175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 90% 절감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g3f9dd5f40ea_14_102"/>
          <p:cNvSpPr txBox="1"/>
          <p:nvPr/>
        </p:nvSpPr>
        <p:spPr>
          <a:xfrm>
            <a:off x="8366760" y="4160520"/>
            <a:ext cx="29260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약 1.75원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g3f9dd5f40ea_14_102"/>
          <p:cNvSpPr/>
          <p:nvPr/>
        </p:nvSpPr>
        <p:spPr>
          <a:xfrm>
            <a:off x="850392" y="4773168"/>
            <a:ext cx="10488168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g3f9dd5f40ea_14_102"/>
          <p:cNvSpPr txBox="1"/>
          <p:nvPr/>
        </p:nvSpPr>
        <p:spPr>
          <a:xfrm>
            <a:off x="960120" y="4471416"/>
            <a:ext cx="402336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GPT-5 nano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g3f9dd5f40ea_14_102"/>
          <p:cNvSpPr txBox="1"/>
          <p:nvPr/>
        </p:nvSpPr>
        <p:spPr>
          <a:xfrm>
            <a:off x="5166360" y="4471416"/>
            <a:ext cx="30175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$0.05 / $0.40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g3f9dd5f40ea_14_102"/>
          <p:cNvSpPr txBox="1"/>
          <p:nvPr/>
        </p:nvSpPr>
        <p:spPr>
          <a:xfrm>
            <a:off x="8366760" y="4471416"/>
            <a:ext cx="29260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약 0.8원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g3f9dd5f40ea_14_102"/>
          <p:cNvSpPr/>
          <p:nvPr/>
        </p:nvSpPr>
        <p:spPr>
          <a:xfrm>
            <a:off x="850392" y="4864608"/>
            <a:ext cx="10488168" cy="914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g3f9dd5f40ea_14_102"/>
          <p:cNvSpPr txBox="1"/>
          <p:nvPr/>
        </p:nvSpPr>
        <p:spPr>
          <a:xfrm>
            <a:off x="1069848" y="4919472"/>
            <a:ext cx="100492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판당 광고 수익 (추정)  </a:t>
            </a:r>
            <a:r>
              <a:rPr b="1" i="0" lang="en-US" sz="13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국내 10.8원 · 영어권 32.8원</a:t>
            </a:r>
            <a:r>
              <a:rPr b="0" i="0" lang="en-US" sz="13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( 인터스티셜 국내 2.7원 · Tier1 8.2원 × 5인 방의 사람 4명 각자 1회 노출 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g3f9dd5f40ea_14_102"/>
          <p:cNvSpPr txBox="1"/>
          <p:nvPr/>
        </p:nvSpPr>
        <p:spPr>
          <a:xfrm>
            <a:off x="1069848" y="5193792"/>
            <a:ext cx="100492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유료 회원 판당 합계  </a:t>
            </a: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3.81원</a:t>
            </a:r>
            <a:r>
              <a:rPr b="0" i="0" lang="en-US" sz="13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( AI 1.75원 + 음성 본인 1인분 2.06원 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g3f9dd5f40ea_14_102"/>
          <p:cNvSpPr txBox="1"/>
          <p:nvPr/>
        </p:nvSpPr>
        <p:spPr>
          <a:xfrm>
            <a:off x="1069848" y="5468112"/>
            <a:ext cx="100492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손익분기  </a:t>
            </a: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 1,502판 · 하루 50판</a:t>
            </a:r>
            <a:r>
              <a:rPr b="0" i="0" lang="en-US" sz="13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(PG 수수료 3% 반영) — 국내 초헤비 이용자까지 단일 요금제로 커버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g3f9dd5f40ea_14_102"/>
          <p:cNvSpPr/>
          <p:nvPr/>
        </p:nvSpPr>
        <p:spPr>
          <a:xfrm>
            <a:off x="850392" y="5870448"/>
            <a:ext cx="10488168" cy="32004"/>
          </a:xfrm>
          <a:prstGeom prst="rect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g3f9dd5f40ea_14_102"/>
          <p:cNvSpPr txBox="1"/>
          <p:nvPr/>
        </p:nvSpPr>
        <p:spPr>
          <a:xfrm>
            <a:off x="850392" y="5989320"/>
            <a:ext cx="104881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Sol · QWEN은 팀 실측값입니다. 나머지 단가와 광고 수익은 공개 자료 기반 추정치이며, 시점에 따라 달라질 수 있습니다.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f9dd5f40ea_14_146"/>
          <p:cNvSpPr/>
          <p:nvPr/>
        </p:nvSpPr>
        <p:spPr>
          <a:xfrm>
            <a:off x="0" y="0"/>
            <a:ext cx="12188952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g3f9dd5f40ea_14_146"/>
          <p:cNvSpPr/>
          <p:nvPr/>
        </p:nvSpPr>
        <p:spPr>
          <a:xfrm>
            <a:off x="0" y="1755648"/>
            <a:ext cx="12188952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g3f9dd5f40ea_14_146"/>
          <p:cNvSpPr txBox="1"/>
          <p:nvPr/>
        </p:nvSpPr>
        <p:spPr>
          <a:xfrm>
            <a:off x="850392" y="5669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부록 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g3f9dd5f40ea_14_146"/>
          <p:cNvSpPr txBox="1"/>
          <p:nvPr/>
        </p:nvSpPr>
        <p:spPr>
          <a:xfrm>
            <a:off x="850392" y="896112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algun Gothic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요금제 산정 근거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g3f9dd5f40ea_14_146"/>
          <p:cNvSpPr txBox="1"/>
          <p:nvPr/>
        </p:nvSpPr>
        <p:spPr>
          <a:xfrm>
            <a:off x="7498080" y="60350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발표에는 사용하지 않는 페이지입니다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g3f9dd5f40ea_14_146"/>
          <p:cNvSpPr txBox="1"/>
          <p:nvPr/>
        </p:nvSpPr>
        <p:spPr>
          <a:xfrm>
            <a:off x="850392" y="213969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비교군 — 같은 장르 · 게임 기준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g3f9dd5f40ea_14_146"/>
          <p:cNvSpPr/>
          <p:nvPr/>
        </p:nvSpPr>
        <p:spPr>
          <a:xfrm>
            <a:off x="850392" y="2432304"/>
            <a:ext cx="493776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g3f9dd5f40ea_14_146"/>
          <p:cNvSpPr txBox="1"/>
          <p:nvPr/>
        </p:nvSpPr>
        <p:spPr>
          <a:xfrm>
            <a:off x="850392" y="2596896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장르 국내 1위 · 배틀패스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g3f9dd5f40ea_14_146"/>
          <p:cNvSpPr txBox="1"/>
          <p:nvPr/>
        </p:nvSpPr>
        <p:spPr>
          <a:xfrm>
            <a:off x="4325112" y="2596896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 7,000원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g3f9dd5f40ea_14_146"/>
          <p:cNvSpPr txBox="1"/>
          <p:nvPr/>
        </p:nvSpPr>
        <p:spPr>
          <a:xfrm>
            <a:off x="850392" y="301752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캐릭터챗 서비스 · 월 패스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g3f9dd5f40ea_14_146"/>
          <p:cNvSpPr txBox="1"/>
          <p:nvPr/>
        </p:nvSpPr>
        <p:spPr>
          <a:xfrm>
            <a:off x="4325112" y="301752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 8,500원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g3f9dd5f40ea_14_146"/>
          <p:cNvSpPr txBox="1"/>
          <p:nvPr/>
        </p:nvSpPr>
        <p:spPr>
          <a:xfrm>
            <a:off x="850392" y="3438144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ZETEO 개인 유료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g3f9dd5f40ea_14_146"/>
          <p:cNvSpPr txBox="1"/>
          <p:nvPr/>
        </p:nvSpPr>
        <p:spPr>
          <a:xfrm>
            <a:off x="4325112" y="3438144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 5,900원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g3f9dd5f40ea_14_146"/>
          <p:cNvSpPr txBox="1"/>
          <p:nvPr/>
        </p:nvSpPr>
        <p:spPr>
          <a:xfrm>
            <a:off x="850392" y="3950208"/>
            <a:ext cx="4937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비교 대상 모두 게임 플레이 자체는 무료이고, 유료는 부가 혜택입니다. 국내 1위 상품의 84% 수준이며, 그 상품에 없는 실시간 음성이 더해집니다 — 현재 개발 중.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g3f9dd5f40ea_14_146"/>
          <p:cNvSpPr txBox="1"/>
          <p:nvPr/>
        </p:nvSpPr>
        <p:spPr>
          <a:xfrm>
            <a:off x="6400800" y="213969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이용량별 수익률 — 월 5,900원 기준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g3f9dd5f40ea_14_146"/>
          <p:cNvSpPr/>
          <p:nvPr/>
        </p:nvSpPr>
        <p:spPr>
          <a:xfrm>
            <a:off x="6400800" y="2432304"/>
            <a:ext cx="493776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g3f9dd5f40ea_14_146"/>
          <p:cNvSpPr txBox="1"/>
          <p:nvPr/>
        </p:nvSpPr>
        <p:spPr>
          <a:xfrm>
            <a:off x="6400800" y="259689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라이트 · 월 30판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g3f9dd5f40ea_14_146"/>
          <p:cNvSpPr txBox="1"/>
          <p:nvPr/>
        </p:nvSpPr>
        <p:spPr>
          <a:xfrm>
            <a:off x="8686800" y="259689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114원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g3f9dd5f40ea_14_146"/>
          <p:cNvSpPr txBox="1"/>
          <p:nvPr/>
        </p:nvSpPr>
        <p:spPr>
          <a:xfrm>
            <a:off x="9966960" y="259689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95.1%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g3f9dd5f40ea_14_146"/>
          <p:cNvSpPr txBox="1"/>
          <p:nvPr/>
        </p:nvSpPr>
        <p:spPr>
          <a:xfrm>
            <a:off x="6400800" y="298094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미들 · 월 150판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g3f9dd5f40ea_14_146"/>
          <p:cNvSpPr txBox="1"/>
          <p:nvPr/>
        </p:nvSpPr>
        <p:spPr>
          <a:xfrm>
            <a:off x="8686800" y="2980944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572원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g3f9dd5f40ea_14_146"/>
          <p:cNvSpPr txBox="1"/>
          <p:nvPr/>
        </p:nvSpPr>
        <p:spPr>
          <a:xfrm>
            <a:off x="9966960" y="298094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87.3%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g3f9dd5f40ea_14_146"/>
          <p:cNvSpPr txBox="1"/>
          <p:nvPr/>
        </p:nvSpPr>
        <p:spPr>
          <a:xfrm>
            <a:off x="6400800" y="336499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헤비 · 하루 10판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g3f9dd5f40ea_14_146"/>
          <p:cNvSpPr txBox="1"/>
          <p:nvPr/>
        </p:nvSpPr>
        <p:spPr>
          <a:xfrm>
            <a:off x="8686800" y="336499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1,143원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g3f9dd5f40ea_14_146"/>
          <p:cNvSpPr txBox="1"/>
          <p:nvPr/>
        </p:nvSpPr>
        <p:spPr>
          <a:xfrm>
            <a:off x="9966960" y="33649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77.6%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g3f9dd5f40ea_14_146"/>
          <p:cNvSpPr txBox="1"/>
          <p:nvPr/>
        </p:nvSpPr>
        <p:spPr>
          <a:xfrm>
            <a:off x="6400800" y="37490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초헤비 · 하루 30판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g3f9dd5f40ea_14_146"/>
          <p:cNvSpPr txBox="1"/>
          <p:nvPr/>
        </p:nvSpPr>
        <p:spPr>
          <a:xfrm>
            <a:off x="8686800" y="37490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3,429원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g3f9dd5f40ea_14_146"/>
          <p:cNvSpPr txBox="1"/>
          <p:nvPr/>
        </p:nvSpPr>
        <p:spPr>
          <a:xfrm>
            <a:off x="9966960" y="37490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38.9%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g3f9dd5f40ea_14_146"/>
          <p:cNvSpPr txBox="1"/>
          <p:nvPr/>
        </p:nvSpPr>
        <p:spPr>
          <a:xfrm>
            <a:off x="6400800" y="4187952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원가 · 수익률 (변동원가 기준 공헌이익률, PG 수수료 3% 반영)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g3f9dd5f40ea_14_146"/>
          <p:cNvSpPr/>
          <p:nvPr/>
        </p:nvSpPr>
        <p:spPr>
          <a:xfrm>
            <a:off x="850392" y="4892040"/>
            <a:ext cx="10488168" cy="685800"/>
          </a:xfrm>
          <a:prstGeom prst="rect">
            <a:avLst/>
          </a:prstGeom>
          <a:solidFill>
            <a:srgbClr val="1F0A0C"/>
          </a:solidFill>
          <a:ln cap="flat" cmpd="sng" w="22225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g3f9dd5f40ea_14_146"/>
          <p:cNvSpPr txBox="1"/>
          <p:nvPr/>
        </p:nvSpPr>
        <p:spPr>
          <a:xfrm>
            <a:off x="1124712" y="4892040"/>
            <a:ext cx="993952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이용 상한을 두지 않았습니다. </a:t>
            </a:r>
            <a:r>
              <a:rPr b="0" i="0" lang="en-US" sz="15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하루 50판을 넘기면 역마진이지만, 그 비중은 서비스 데이터가 쌓여야 확인됩니다.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g3f9dd5f40ea_14_146"/>
          <p:cNvSpPr/>
          <p:nvPr/>
        </p:nvSpPr>
        <p:spPr>
          <a:xfrm>
            <a:off x="850392" y="5870448"/>
            <a:ext cx="10488168" cy="32004"/>
          </a:xfrm>
          <a:prstGeom prst="rect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g3f9dd5f40ea_14_146"/>
          <p:cNvSpPr txBox="1"/>
          <p:nvPr/>
        </p:nvSpPr>
        <p:spPr>
          <a:xfrm>
            <a:off x="850392" y="5989320"/>
            <a:ext cx="104881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기관 요금 연 30~70만 원은 시장가 미확인 가정치이며, 도입 절차 문의로 근거를 확보하는 중입니다.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2026-08-27T07:51:17.000</dcterms:created>
  <dc:creator>TeamB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