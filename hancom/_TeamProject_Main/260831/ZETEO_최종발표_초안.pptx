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Orbit"/>
      <p:regular r:id="rId24"/>
    </p:embeddedFont>
    <p:embeddedFont>
      <p:font typeface="Hahmlet ExtraBold"/>
      <p:bold r:id="rId25"/>
    </p:embeddedFont>
    <p:embeddedFont>
      <p:font typeface="Hahmlet Medium"/>
      <p:regular r:id="rId26"/>
      <p:bold r:id="rId27"/>
    </p:embeddedFont>
    <p:embeddedFont>
      <p:font typeface="IBM Plex Sans KR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WfuLGBOlGAvgNxuTUMQ8++GHu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rbit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hmletMedium-regular.fntdata"/><Relationship Id="rId25" Type="http://schemas.openxmlformats.org/officeDocument/2006/relationships/font" Target="fonts/HahmletExtraBold-bold.fntdata"/><Relationship Id="rId28" Type="http://schemas.openxmlformats.org/officeDocument/2006/relationships/font" Target="fonts/IBMPlexSansKR-regular.fntdata"/><Relationship Id="rId27" Type="http://schemas.openxmlformats.org/officeDocument/2006/relationships/font" Target="fonts/Hahmle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K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[0:00–0:15 · 누적 0:15] 안녕하세요, TeamB입니다. 저희가 만든 ZETEO는 라이어 게임인 척하는 게임입니다. 다섯 명이 모이는데 그중 하나는 사람이 아닙니다.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[0:15–0:30 · 누적 0:30] 순서는 이렇습니다. 다섯 번째 핵심 코드 리뷰가 몸통이고, 시연은 맨 마지막에 보여드립니다.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[0:30–1:00 · 누적 1:00] 네 명이 각자 한 덩어리씩 가져갔습니다. 파일 단위로 소유자를 정해서 같은 파일을 두 사람이 고치는 일이 없게 했고, 그 결과 마지막 병합 충돌이 0건이었습니다. 오늘 코드 리뷰는 게임 화면을 맡은 제가 대표로 말씀드립니다.</a:t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[1:00–1:50 · 누적 1:50] 페르소나는 이서준입니다. 이 사람이 겪는 불편은 셋인데 — 사회자, 인원, 설치 — 셋 다 게임이 재미없어서가 아니라 판이 서지 않아서 생깁니다. 그래서 세 요구를 그대로 세 기능으로 옮겼습니다. 자동 진행, 봇 참가자, 무설치 세션. 웹 무설치도 방코드도 이미 있는 서비스들이 있지만, 마지막 줄이 저희만 채운 칸입니다.</a:t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[1:50–2:20 · 누적 2:20] 한 판은 열 단계입니다. 앞의 일곱은 평범한 라이어 게임이고, 8번이 저희가 만들고 싶었던 화면입니다. 두 결과는 서로 독립이라 게임은 져도 봇은 맞출 수 있습니다.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[2:20–2:50 · 누적 2:50] 시스템 설계도 확정 후 채울 것. 대사도 함께 작성 필요.</a:t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b3c50280_0_14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f9b3c50280_0_14:notes"/>
          <p:cNvSpPr txBox="1"/>
          <p:nvPr>
            <p:ph idx="1" type="body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[약 30초] 구조는 한 방향입니다. 브라우저는 상태를 소유하지 않고, 서버가 보낸 GameState 하나를 그리기만 합니다. 왼쪽이 프론트엔드 — 게임 밖 화면 다섯 개와 게임 화면 하나, 그 아래 토큰과 공용 부품. 오른쪽이 파트 A·B의 서버와 외부 API입니다.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말로 짚을 세 곳: ① 상태를 소유하지 않는다 ② 화면 5 + 1 구조 ③ 키와 미공개 정보는 서버에만.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※ 모든 요소가 도형/텍스트라 크기·문구를 직접 고칠 수 있습니다.</a:t>
            </a:r>
            <a:endParaRPr/>
          </a:p>
        </p:txBody>
      </p:sp>
      <p:sp>
        <p:nvSpPr>
          <p:cNvPr id="205" name="Google Shape;205;g3f9b3c50280_0_14:notes"/>
          <p:cNvSpPr txBox="1"/>
          <p:nvPr>
            <p:ph idx="12" type="sldNum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[2:50–3:00 · 누적 3:00] 코드 리뷰는 제가 맡은 게임 화면 한 건을 네 단계로 나눠 말씀드립니다. 맥락과 문제, 고려한 대안, 선택과 근거, 그리고 효과입니다.</a:t>
            </a:r>
            <a:endParaRPr/>
          </a:p>
        </p:txBody>
      </p:sp>
      <p:sp>
        <p:nvSpPr>
          <p:cNvPr id="357" name="Google Shape;3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[3:00–3:40 · 누적 3:40] 저는 게임 화면을 맡았습니다. 페이즈가 여덟인데 화면도 여덟이었습니다. switch로 통째로 갈아끼우니 채팅이 매번 새로 마운트돼서 스크롤과 입력하던 글이 사라졌습니다. 그리고 잠금 조건이 화면마다 따로 박혀 있어서, 한 곳만 고치면 나머지가 어긋났습니다.</a:t>
            </a:r>
            <a:endParaRPr/>
          </a:p>
        </p:txBody>
      </p:sp>
      <p:sp>
        <p:nvSpPr>
          <p:cNvPr id="385" name="Google Shape;3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[3:40–4:15 · 누적 4:15] 세 가지를 놓고 봤습니다. A는 URL이 두 번째 진실이 돼서 뺐고, B는 문제의 절반만 풀어서 뺐습니다. 판단 기준은 하나였습니다 — 화면 상태를 몇 군데서 결정하느냐.</a:t>
            </a:r>
            <a:endParaRPr/>
          </a:p>
        </p:txBody>
      </p:sp>
      <p:sp>
        <p:nvSpPr>
          <p:cNvPr id="406" name="Google Shape;4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[4:15–5:00 · 누적 5:00] 여덟 개를 늘어놓고 비교했더니 실제로 다른 건 네 가지뿐이었습니다. 그래서 페이즈를 화면이 아니라 네 축의 값으로 해석하는 순수 함수 하나를 두고, 화면은 하나만 남겼습니다. 서버 상태가 유일한 진실이고 화면은 그 상태의 함수입니다.</a:t>
            </a:r>
            <a:endParaRPr/>
          </a:p>
        </p:txBody>
      </p:sp>
      <p:sp>
        <p:nvSpPr>
          <p:cNvPr id="432" name="Google Shape;4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[5:00–5:40 · 누적 5:40] 결과는 셋입니다. return이 13개에서 5개로 줄었고, 채팅이 상주하니 흐름이 끊기지 않습니다. 덤으로 모바일 렉도 잡았는데, 원인은 이벤트 하나당 메시지 전체를 다시 그리던 것이었습니다. PC에서는 안 보이던 문제였습니다.</a:t>
            </a:r>
            <a:endParaRPr/>
          </a:p>
        </p:txBody>
      </p:sp>
      <p:sp>
        <p:nvSpPr>
          <p:cNvPr id="460" name="Google Shape;4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[5:40–6:10 · 누적 6:10 · 약 30초] 활용은 네 갈래입니다. 새로 만들 것이 아니라 지금 구조를 어디에 두느냐입니다.</a:t>
            </a:r>
            <a:endParaRPr/>
          </a:p>
        </p:txBody>
      </p:sp>
      <p:sp>
        <p:nvSpPr>
          <p:cNvPr id="487" name="Google Shape;4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[6:10–6:45 · 누적 6:45 · 약 35초] 사업성은 한 장으로 말씀드립니다. 트래픽이 없는 지금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/>
          </a:p>
        </p:txBody>
      </p:sp>
      <p:sp>
        <p:nvSpPr>
          <p:cNvPr id="514" name="Google Shape;5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[7:05–7:35 · 누적 7:35 · 약 30초] 기획 v1.0은 봇 여러 명이 섞인 마피아였습니다. 4주 안에 끝낼 수 있는 크기로 두 번 덜어내서 지금 형태가 됐습니다. 4주 동안 배운 건 한 문장으로 남습니다 — 오프라인에서 저절로 지켜지던 규칙은, 코드로 옮기는 순간 전부 「어떻게 강제하지?」가 된다는 것이었습니다.</a:t>
            </a:r>
            <a:br>
              <a:rPr lang="en-US"/>
            </a:br>
            <a:r>
              <a:rPr lang="en-US"/>
              <a:t>※ 커밋 수·파일 수는 8/19 기준 — 발표 직전 갱신할 것.</a:t>
            </a:r>
            <a:endParaRPr/>
          </a:p>
        </p:txBody>
      </p:sp>
      <p:sp>
        <p:nvSpPr>
          <p:cNvPr id="538" name="Google Shape;53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[7:35–11:35 · 시연 4분] 발표를 모두 마친 뒤 마지막에 진행. 라이브로 하되 실패 시 녹화본으로 즉시 전환.</a:t>
            </a:r>
            <a:endParaRPr/>
          </a:p>
        </p:txBody>
      </p:sp>
      <p:sp>
        <p:nvSpPr>
          <p:cNvPr id="588" name="Google Shape;5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[시연 종료 후] 감사합니다. 질문 받겠습니다.</a:t>
            </a:r>
            <a:endParaRPr/>
          </a:p>
        </p:txBody>
      </p:sp>
      <p:sp>
        <p:nvSpPr>
          <p:cNvPr id="622" name="Google Shape;6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부록 — 발표에서는 넘기지 않는 페이지입니다.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PPT에 쓰인 색·글자 크기·컴포넌트·도식 조각을 모아둔 장이라, 새 슬라이드를 만들 때 여기서 도형을 복사해 붙여 넣으면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슬라이드쇼에서 빼려면 슬라이드 축소판에서 우클릭 → "슬라이드 숨기기".</a:t>
            </a:r>
            <a:endParaRPr/>
          </a:p>
        </p:txBody>
      </p:sp>
      <p:sp>
        <p:nvSpPr>
          <p:cNvPr id="636" name="Google Shape;63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b3c50280_0_240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9b3c50280_0_240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9b3c50280_0_240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/>
          <p:nvPr/>
        </p:nvSpPr>
        <p:spPr>
          <a:xfrm>
            <a:off x="850392" y="1691640"/>
            <a:ext cx="749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라이어 게임 속에 숨은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단 하나의 봇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2026. 09. 08.</a:t>
            </a:r>
            <a:endParaRPr b="1" i="0" sz="2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7229696" y="5617845"/>
            <a:ext cx="443842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중 하나는 사람이 아닙니다</a:t>
            </a:r>
            <a:endParaRPr b="1" i="0" sz="24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" name="Google Shape;25;p1"/>
          <p:cNvGrpSpPr/>
          <p:nvPr/>
        </p:nvGrpSpPr>
        <p:grpSpPr>
          <a:xfrm>
            <a:off x="7939205" y="986333"/>
            <a:ext cx="3019411" cy="4235271"/>
            <a:chOff x="6754971" y="392342"/>
            <a:chExt cx="3019411" cy="4235271"/>
          </a:xfrm>
        </p:grpSpPr>
        <p:sp>
          <p:nvSpPr>
            <p:cNvPr id="26" name="Google Shape;26;p1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7" name="Google Shape;27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:\Users\dd022\Desktop\개발 공부 자료\Project\Zeteo\apps\frontend\public\zeteo-logo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444" y="586275"/>
            <a:ext cx="3905899" cy="17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발표 흐름</a:t>
            </a:r>
            <a:endParaRPr i="0" sz="30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850392" y="26883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누가 무엇을 맡았나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4454042" y="26883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불편에서 시작했나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8057693" y="26883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판이 어떻게 흐르나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850392" y="40599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850392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무엇이 무엇과 이야기하나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4454042" y="40599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여덟 화면을 한 페이지로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8057693" y="40599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 · 사업성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8057693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어디에 쓰이고 어떻게 버티나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850392" y="54315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무엇이 남았나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454042" y="54315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히스토리 · 결론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알게 됐나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8057693" y="5431536"/>
            <a:ext cx="32836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한 판 — 마지막에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ZETEO · 4명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50392" y="2139696"/>
            <a:ext cx="2416988" cy="3246120"/>
          </a:xfrm>
          <a:prstGeom prst="rect">
            <a:avLst/>
          </a:prstGeom>
          <a:solidFill>
            <a:srgbClr val="F4F4F4"/>
          </a:solidFill>
          <a:ln cap="flat" cmpd="sng" w="1905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50392" y="2139696"/>
            <a:ext cx="2416988" cy="82296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1069848" y="2139696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1627632" y="2139696"/>
            <a:ext cx="14111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1069848" y="3163824"/>
            <a:ext cx="1978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팀장 · 프론트 기반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950785" y="3529584"/>
            <a:ext cx="231659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토큰 · 공용 컴포넌트</a:t>
            </a:r>
            <a:endParaRPr b="0" i="0" sz="12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 / 대기실 / 결과 / 설문</a:t>
            </a:r>
            <a:endParaRPr b="0" i="0" sz="125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일정 · 통합 배포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541700" y="2139696"/>
            <a:ext cx="2416988" cy="3246120"/>
          </a:xfrm>
          <a:prstGeom prst="rect">
            <a:avLst/>
          </a:prstGeom>
          <a:solidFill>
            <a:srgbClr val="F4F4F4"/>
          </a:solidFill>
          <a:ln cap="flat" cmpd="sng" w="2222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541700" y="2139696"/>
            <a:ext cx="2416988" cy="82296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3761156" y="2139696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4318940" y="2139696"/>
            <a:ext cx="14111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이현우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761156" y="3163824"/>
            <a:ext cx="1978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게임 화면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3651252" y="3529584"/>
            <a:ext cx="2307435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플레이 화면</a:t>
            </a:r>
            <a:b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4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렌더 최적화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233008" y="2139696"/>
            <a:ext cx="2416988" cy="3246120"/>
          </a:xfrm>
          <a:prstGeom prst="rect">
            <a:avLst/>
          </a:prstGeom>
          <a:solidFill>
            <a:srgbClr val="F4F4F4"/>
          </a:solidFill>
          <a:ln cap="flat" cmpd="sng" w="1905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233008" y="2139696"/>
            <a:ext cx="2416988" cy="82296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6452464" y="2139696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010248" y="2139696"/>
            <a:ext cx="14111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유민성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452464" y="3163824"/>
            <a:ext cx="1978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· 서버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334374" y="3803259"/>
            <a:ext cx="2323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75757"/>
                </a:solidFill>
              </a:rPr>
              <a:t>Socket.IO 서버 · 이벤트 핸들링</a:t>
            </a:r>
            <a:endParaRPr sz="1300">
              <a:solidFill>
                <a:srgbClr val="575757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75757"/>
                </a:solidFill>
              </a:rPr>
              <a:t>페이즈 · 투표 · 타이머 · 정보 격리</a:t>
            </a:r>
            <a:endParaRPr sz="1300">
              <a:solidFill>
                <a:srgbClr val="575757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75757"/>
                </a:solidFill>
              </a:rPr>
              <a:t>Supabase 스키마 · 인프라 설계</a:t>
            </a:r>
            <a:endParaRPr sz="1300">
              <a:solidFill>
                <a:srgbClr val="575757"/>
              </a:solidFill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t/>
            </a:r>
            <a:endParaRPr sz="13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924315" y="2139696"/>
            <a:ext cx="2416988" cy="3246120"/>
          </a:xfrm>
          <a:prstGeom prst="rect">
            <a:avLst/>
          </a:prstGeom>
          <a:solidFill>
            <a:srgbClr val="F4F4F4"/>
          </a:solidFill>
          <a:ln cap="flat" cmpd="sng" w="1905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8924315" y="2139696"/>
            <a:ext cx="2416988" cy="82296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9143771" y="2139696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701555" y="2139696"/>
            <a:ext cx="14111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김정현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9143771" y="3163824"/>
            <a:ext cx="1978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엔진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979092" y="3639334"/>
            <a:ext cx="23073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 → 생성 → 검사 → 출력</a:t>
            </a:r>
            <a:endParaRPr b="0" i="0" sz="14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말투 규칙 · 무브 목록</a:t>
            </a:r>
            <a:r>
              <a:rPr lang="en-US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</a:t>
            </a:r>
            <a:r>
              <a:rPr lang="en-US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자가 개선 루프 설계</a:t>
            </a:r>
            <a:endParaRPr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페르소나 · 페인포인트 · 차별화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850392" y="1939671"/>
            <a:ext cx="4535805" cy="2015490"/>
            <a:chOff x="850392" y="2120646"/>
            <a:chExt cx="4535805" cy="2015490"/>
          </a:xfrm>
        </p:grpSpPr>
        <p:sp>
          <p:nvSpPr>
            <p:cNvPr id="119" name="Google Shape;119;p4"/>
            <p:cNvSpPr/>
            <p:nvPr/>
          </p:nvSpPr>
          <p:spPr>
            <a:xfrm>
              <a:off x="850392" y="2120646"/>
              <a:ext cx="4535805" cy="201549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1077087" y="2244471"/>
              <a:ext cx="338328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100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PERSONA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1077087" y="2557272"/>
              <a:ext cx="33832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100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대학생 · A 군</a:t>
              </a:r>
              <a:endParaRPr b="1" i="0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096137" y="2966466"/>
              <a:ext cx="32004" cy="960120"/>
            </a:xfrm>
            <a:prstGeom prst="rect">
              <a:avLst/>
            </a:prstGeom>
            <a:solidFill>
              <a:srgbClr val="FF27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1239012" y="2948559"/>
              <a:ext cx="402336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800"/>
                <a:buFont typeface="Malgun Gothic"/>
                <a:buNone/>
              </a:pPr>
              <a:r>
                <a:rPr b="0" i="1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“넷이 모였는데 라이어게임을 하려면</a:t>
              </a:r>
              <a:endParaRPr b="0" i="1" sz="18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800"/>
                <a:buFont typeface="Malgun Gothic"/>
                <a:buNone/>
              </a:pPr>
              <a:r>
                <a:rPr b="0" i="1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 명은 사회자를 봐야 해요.</a:t>
              </a:r>
              <a:endParaRPr b="0" i="1" sz="18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800"/>
                <a:buFont typeface="Malgun Gothic"/>
                <a:buNone/>
              </a:pPr>
              <a:r>
                <a:rPr b="0" i="1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앱 설치도 귀찮고.. 다른 걸 하게 돼요.”</a:t>
              </a:r>
              <a:endParaRPr b="0" i="1" sz="18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1059940" y="4049825"/>
            <a:ext cx="4901863" cy="1747115"/>
            <a:chOff x="850390" y="4602275"/>
            <a:chExt cx="4901863" cy="1747115"/>
          </a:xfrm>
        </p:grpSpPr>
        <p:grpSp>
          <p:nvGrpSpPr>
            <p:cNvPr id="125" name="Google Shape;125;p4"/>
            <p:cNvGrpSpPr/>
            <p:nvPr/>
          </p:nvGrpSpPr>
          <p:grpSpPr>
            <a:xfrm>
              <a:off x="850390" y="4602275"/>
              <a:ext cx="4901863" cy="1657348"/>
              <a:chOff x="5148070" y="2139696"/>
              <a:chExt cx="6193233" cy="1657348"/>
            </a:xfrm>
          </p:grpSpPr>
          <p:sp>
            <p:nvSpPr>
              <p:cNvPr id="126" name="Google Shape;126;p4"/>
              <p:cNvSpPr txBox="1"/>
              <p:nvPr/>
            </p:nvSpPr>
            <p:spPr>
              <a:xfrm>
                <a:off x="5148072" y="2139696"/>
                <a:ext cx="6193231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1620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C2162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PAIN POINT</a:t>
                </a:r>
                <a:endParaRPr b="0" i="0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"/>
              <p:cNvSpPr txBox="1"/>
              <p:nvPr/>
            </p:nvSpPr>
            <p:spPr>
              <a:xfrm>
                <a:off x="5148072" y="2477643"/>
                <a:ext cx="4572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1620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C2162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01</a:t>
                </a:r>
                <a:endParaRPr b="0" i="0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"/>
              <p:cNvSpPr txBox="1"/>
              <p:nvPr/>
            </p:nvSpPr>
            <p:spPr>
              <a:xfrm>
                <a:off x="5650993" y="2497454"/>
                <a:ext cx="56903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1A1A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사회자가 필요 합니다</a:t>
                </a:r>
                <a:endParaRPr b="1" i="0" sz="21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9" name="Google Shape;129;p4"/>
              <p:cNvSpPr txBox="1"/>
              <p:nvPr/>
            </p:nvSpPr>
            <p:spPr>
              <a:xfrm>
                <a:off x="5148072" y="3014470"/>
                <a:ext cx="4572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1620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C2162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02</a:t>
                </a:r>
                <a:endParaRPr b="0" i="0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4"/>
              <p:cNvSpPr txBox="1"/>
              <p:nvPr/>
            </p:nvSpPr>
            <p:spPr>
              <a:xfrm>
                <a:off x="5650993" y="3005706"/>
                <a:ext cx="56903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1A1A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인원이 맞아야 합니다</a:t>
                </a:r>
                <a:endParaRPr b="0" i="0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5148070" y="3381923"/>
                <a:ext cx="4412217" cy="3185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 txBox="1"/>
              <p:nvPr/>
            </p:nvSpPr>
            <p:spPr>
              <a:xfrm>
                <a:off x="5148072" y="3522724"/>
                <a:ext cx="4572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1620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C2162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03</a:t>
                </a:r>
                <a:endParaRPr b="0" i="0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4"/>
              <p:cNvSpPr txBox="1"/>
              <p:nvPr/>
            </p:nvSpPr>
            <p:spPr>
              <a:xfrm>
                <a:off x="5650993" y="3513960"/>
                <a:ext cx="56903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1A1A"/>
                  </a:buClr>
                  <a:buSzPts val="2100"/>
                  <a:buFont typeface="Malgun Gothic"/>
                  <a:buNone/>
                </a:pPr>
                <a:r>
                  <a:rPr b="1" i="0" lang="en-US" sz="2100" u="none" cap="none" strike="noStrike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설치 · 가입이 필요합니다</a:t>
                </a:r>
                <a:endParaRPr b="1" i="0" sz="21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34" name="Google Shape;134;p4"/>
            <p:cNvSpPr/>
            <p:nvPr/>
          </p:nvSpPr>
          <p:spPr>
            <a:xfrm>
              <a:off x="850392" y="5313747"/>
              <a:ext cx="3492211" cy="31857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850392" y="6317534"/>
              <a:ext cx="3492211" cy="31856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4"/>
          <p:cNvGrpSpPr/>
          <p:nvPr/>
        </p:nvGrpSpPr>
        <p:grpSpPr>
          <a:xfrm>
            <a:off x="821816" y="5863616"/>
            <a:ext cx="10715089" cy="850875"/>
            <a:chOff x="5254008" y="5183747"/>
            <a:chExt cx="6287706" cy="850875"/>
          </a:xfrm>
        </p:grpSpPr>
        <p:grpSp>
          <p:nvGrpSpPr>
            <p:cNvPr id="137" name="Google Shape;137;p4"/>
            <p:cNvGrpSpPr/>
            <p:nvPr/>
          </p:nvGrpSpPr>
          <p:grpSpPr>
            <a:xfrm>
              <a:off x="5254008" y="5183747"/>
              <a:ext cx="6287706" cy="850875"/>
              <a:chOff x="829716" y="5851942"/>
              <a:chExt cx="6824387" cy="850875"/>
            </a:xfrm>
          </p:grpSpPr>
          <p:sp>
            <p:nvSpPr>
              <p:cNvPr id="138" name="Google Shape;138;p4"/>
              <p:cNvSpPr/>
              <p:nvPr/>
            </p:nvSpPr>
            <p:spPr>
              <a:xfrm>
                <a:off x="829716" y="5851942"/>
                <a:ext cx="6824387" cy="850875"/>
              </a:xfrm>
              <a:prstGeom prst="rect">
                <a:avLst/>
              </a:prstGeom>
              <a:solidFill>
                <a:srgbClr val="16060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 txBox="1"/>
              <p:nvPr/>
            </p:nvSpPr>
            <p:spPr>
              <a:xfrm>
                <a:off x="935766" y="6027417"/>
                <a:ext cx="88709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2733"/>
                  </a:buClr>
                  <a:buSzPts val="2600"/>
                  <a:buFont typeface="Malgun Gothic"/>
                  <a:buNone/>
                </a:pPr>
                <a:r>
                  <a:rPr b="1" i="0" lang="en-US" sz="2600" u="none" cap="none" strike="noStrike">
                    <a:solidFill>
                      <a:srgbClr val="FF27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차별화</a:t>
                </a:r>
                <a:endParaRPr b="1" i="0" sz="26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40" name="Google Shape;140;p4"/>
            <p:cNvSpPr txBox="1"/>
            <p:nvPr/>
          </p:nvSpPr>
          <p:spPr>
            <a:xfrm>
              <a:off x="6053405" y="5344386"/>
              <a:ext cx="53889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000"/>
                <a:buFont typeface="Malgun Gothic"/>
                <a:buNone/>
              </a:pPr>
              <a:r>
                <a:rPr b="1" i="0" lang="en-US" sz="20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AI가 사회자가 아니라 플레이어로 참여합니다 — 확인된 범위 내 같은 형태 없음</a:t>
              </a:r>
              <a:endParaRPr b="1" i="0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판은 이렇게 흐릅니다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10단계 · 약 6분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50392" y="21396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1033272" y="22860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033272" y="26517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입장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033272" y="3035808"/>
            <a:ext cx="1754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 · 방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988808" y="21396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3171688" y="22860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3171688" y="26517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배정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095488" y="3092958"/>
            <a:ext cx="19555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= 공개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제시어 = 라이어X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27224" y="21396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5310104" y="22860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5310104" y="26517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묘사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5310104" y="3083433"/>
            <a:ext cx="1571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턴제 한 바퀴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자유채팅 차단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265640" y="21396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7448520" y="22860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7448520" y="26517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토론 + 투표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448520" y="3083433"/>
            <a:ext cx="1571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진행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수만 공개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404055" y="21396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9586935" y="22860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9586935" y="26517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최후 변론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9586935" y="3057144"/>
            <a:ext cx="15714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지목자 해명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전원 질문 가능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50392" y="39684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1033272" y="41148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033272" y="44805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생사 투표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042797" y="4931283"/>
            <a:ext cx="1571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 제외 과반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988808" y="39684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3171688" y="41148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3171688" y="44805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정체 공개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3114538" y="4921758"/>
            <a:ext cx="1946011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사망자가 라이어면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제시어 추측 1회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127224" y="3968496"/>
            <a:ext cx="1937248" cy="1572768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5310104" y="41148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5310104" y="44805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310104" y="4864608"/>
            <a:ext cx="1410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진짜 목적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265640" y="39684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7448520" y="41148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7448520" y="44805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결과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7381845" y="4959858"/>
            <a:ext cx="18797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결과를 나란히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404055" y="3968496"/>
            <a:ext cx="1937248" cy="157276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9586935" y="4114800"/>
            <a:ext cx="1571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9586935" y="4480560"/>
            <a:ext cx="1571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9444060" y="4959858"/>
            <a:ext cx="202657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봇이라 생각했나</a:t>
            </a:r>
            <a:endParaRPr b="0" i="0" sz="17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859917" y="5850678"/>
            <a:ext cx="10490911" cy="658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0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게임의 승패와 봇 색출은 완전히 독립입니다 </a:t>
            </a:r>
            <a:br>
              <a:rPr b="0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“게임은 졌지만 봇은 맞췄다”가 정상 상태입니다.</a:t>
            </a:r>
            <a:endParaRPr b="0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구성도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 · 서버 · LLM · DB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b3c50280_0_14"/>
          <p:cNvSpPr/>
          <p:nvPr/>
        </p:nvSpPr>
        <p:spPr>
          <a:xfrm>
            <a:off x="0" y="0"/>
            <a:ext cx="12192000" cy="1024200"/>
          </a:xfrm>
          <a:prstGeom prst="roundRect">
            <a:avLst>
              <a:gd fmla="val 0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9b3c50280_0_14"/>
          <p:cNvSpPr/>
          <p:nvPr/>
        </p:nvSpPr>
        <p:spPr>
          <a:xfrm>
            <a:off x="0" y="1024128"/>
            <a:ext cx="12192000" cy="32100"/>
          </a:xfrm>
          <a:prstGeom prst="roundRect">
            <a:avLst>
              <a:gd fmla="val 0" name="adj"/>
            </a:avLst>
          </a:prstGeom>
          <a:solidFill>
            <a:srgbClr val="E942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9b3c50280_0_14"/>
          <p:cNvSpPr txBox="1"/>
          <p:nvPr/>
        </p:nvSpPr>
        <p:spPr>
          <a:xfrm>
            <a:off x="850395" y="219456"/>
            <a:ext cx="5486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/>
          </a:p>
        </p:txBody>
      </p:sp>
      <p:sp>
        <p:nvSpPr>
          <p:cNvPr id="210" name="Google Shape;210;g3f9b3c50280_0_14"/>
          <p:cNvSpPr txBox="1"/>
          <p:nvPr/>
        </p:nvSpPr>
        <p:spPr>
          <a:xfrm>
            <a:off x="850395" y="457200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/>
          </a:p>
        </p:txBody>
      </p:sp>
      <p:sp>
        <p:nvSpPr>
          <p:cNvPr id="211" name="Google Shape;211;g3f9b3c50280_0_14"/>
          <p:cNvSpPr txBox="1"/>
          <p:nvPr/>
        </p:nvSpPr>
        <p:spPr>
          <a:xfrm>
            <a:off x="7315230" y="384048"/>
            <a:ext cx="40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구성도</a:t>
            </a:r>
            <a:endParaRPr/>
          </a:p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 · 서버 · LLM · DB</a:t>
            </a:r>
            <a:endParaRPr/>
          </a:p>
        </p:txBody>
      </p:sp>
      <p:sp>
        <p:nvSpPr>
          <p:cNvPr id="212" name="Google Shape;212;g3f9b3c50280_0_14"/>
          <p:cNvSpPr/>
          <p:nvPr/>
        </p:nvSpPr>
        <p:spPr>
          <a:xfrm>
            <a:off x="228601" y="1207008"/>
            <a:ext cx="5669400" cy="274200"/>
          </a:xfrm>
          <a:prstGeom prst="roundRect">
            <a:avLst>
              <a:gd fmla="val 16666" name="adj"/>
            </a:avLst>
          </a:prstGeom>
          <a:solidFill>
            <a:srgbClr val="967D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9b3c50280_0_14"/>
          <p:cNvSpPr txBox="1"/>
          <p:nvPr/>
        </p:nvSpPr>
        <p:spPr>
          <a:xfrm>
            <a:off x="228601" y="1207008"/>
            <a:ext cx="566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  React 클라이언트 — 파트 C · 파트 D</a:t>
            </a:r>
            <a:endParaRPr/>
          </a:p>
        </p:txBody>
      </p:sp>
      <p:sp>
        <p:nvSpPr>
          <p:cNvPr id="214" name="Google Shape;214;g3f9b3c50280_0_14"/>
          <p:cNvSpPr/>
          <p:nvPr/>
        </p:nvSpPr>
        <p:spPr>
          <a:xfrm>
            <a:off x="6537987" y="1207008"/>
            <a:ext cx="2788800" cy="274200"/>
          </a:xfrm>
          <a:prstGeom prst="roundRect">
            <a:avLst>
              <a:gd fmla="val 16666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9b3c50280_0_14"/>
          <p:cNvSpPr txBox="1"/>
          <p:nvPr/>
        </p:nvSpPr>
        <p:spPr>
          <a:xfrm>
            <a:off x="6537987" y="1207008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Railway  파트 A · 파트 B</a:t>
            </a:r>
            <a:endParaRPr/>
          </a:p>
        </p:txBody>
      </p:sp>
      <p:sp>
        <p:nvSpPr>
          <p:cNvPr id="216" name="Google Shape;216;g3f9b3c50280_0_14"/>
          <p:cNvSpPr/>
          <p:nvPr/>
        </p:nvSpPr>
        <p:spPr>
          <a:xfrm>
            <a:off x="9528087" y="1207008"/>
            <a:ext cx="2432400" cy="274200"/>
          </a:xfrm>
          <a:prstGeom prst="roundRect">
            <a:avLst>
              <a:gd fmla="val 16666" name="adj"/>
            </a:avLst>
          </a:prstGeom>
          <a:solidFill>
            <a:srgbClr val="E942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9b3c50280_0_14"/>
          <p:cNvSpPr txBox="1"/>
          <p:nvPr/>
        </p:nvSpPr>
        <p:spPr>
          <a:xfrm>
            <a:off x="9528087" y="1207008"/>
            <a:ext cx="2432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API</a:t>
            </a:r>
            <a:endParaRPr/>
          </a:p>
        </p:txBody>
      </p:sp>
      <p:sp>
        <p:nvSpPr>
          <p:cNvPr id="218" name="Google Shape;218;g3f9b3c50280_0_14"/>
          <p:cNvSpPr/>
          <p:nvPr/>
        </p:nvSpPr>
        <p:spPr>
          <a:xfrm>
            <a:off x="228601" y="1572768"/>
            <a:ext cx="3520500" cy="567000"/>
          </a:xfrm>
          <a:prstGeom prst="roundRect">
            <a:avLst>
              <a:gd fmla="val 8870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9b3c50280_0_14"/>
          <p:cNvSpPr txBox="1"/>
          <p:nvPr/>
        </p:nvSpPr>
        <p:spPr>
          <a:xfrm>
            <a:off x="374906" y="1645920"/>
            <a:ext cx="3227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화면은 상태를 소유하지 않습니다</a:t>
            </a:r>
            <a:endParaRPr/>
          </a:p>
        </p:txBody>
      </p:sp>
      <p:sp>
        <p:nvSpPr>
          <p:cNvPr id="220" name="Google Shape;220;g3f9b3c50280_0_14"/>
          <p:cNvSpPr txBox="1"/>
          <p:nvPr/>
        </p:nvSpPr>
        <p:spPr>
          <a:xfrm>
            <a:off x="374906" y="1901952"/>
            <a:ext cx="322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D6CDC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서버가 보낸 GameState 하나가 유일한 진실 — 저장소도 라우터도 두지 않는다</a:t>
            </a:r>
            <a:endParaRPr/>
          </a:p>
        </p:txBody>
      </p:sp>
      <p:cxnSp>
        <p:nvCxnSpPr>
          <p:cNvPr id="221" name="Google Shape;221;g3f9b3c50280_0_14"/>
          <p:cNvCxnSpPr/>
          <p:nvPr/>
        </p:nvCxnSpPr>
        <p:spPr>
          <a:xfrm>
            <a:off x="1988827" y="2139696"/>
            <a:ext cx="0" cy="192000"/>
          </a:xfrm>
          <a:prstGeom prst="straightConnector1">
            <a:avLst/>
          </a:prstGeom>
          <a:noFill/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22" name="Google Shape;222;g3f9b3c50280_0_14"/>
          <p:cNvSpPr txBox="1"/>
          <p:nvPr/>
        </p:nvSpPr>
        <p:spPr>
          <a:xfrm>
            <a:off x="228601" y="2395728"/>
            <a:ext cx="2377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밖 화면 5개  ·  파트 D</a:t>
            </a:r>
            <a:endParaRPr/>
          </a:p>
        </p:txBody>
      </p:sp>
      <p:sp>
        <p:nvSpPr>
          <p:cNvPr id="223" name="Google Shape;223;g3f9b3c50280_0_14"/>
          <p:cNvSpPr/>
          <p:nvPr/>
        </p:nvSpPr>
        <p:spPr>
          <a:xfrm>
            <a:off x="228601" y="2596896"/>
            <a:ext cx="3520500" cy="347400"/>
          </a:xfrm>
          <a:prstGeom prst="roundRect">
            <a:avLst>
              <a:gd fmla="val 14473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9b3c50280_0_14"/>
          <p:cNvSpPr txBox="1"/>
          <p:nvPr/>
        </p:nvSpPr>
        <p:spPr>
          <a:xfrm>
            <a:off x="356617" y="2596896"/>
            <a:ext cx="77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</a:t>
            </a:r>
            <a:endParaRPr/>
          </a:p>
        </p:txBody>
      </p:sp>
      <p:sp>
        <p:nvSpPr>
          <p:cNvPr id="225" name="Google Shape;225;g3f9b3c50280_0_14"/>
          <p:cNvSpPr txBox="1"/>
          <p:nvPr/>
        </p:nvSpPr>
        <p:spPr>
          <a:xfrm>
            <a:off x="1161293" y="2596896"/>
            <a:ext cx="245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 입력 · 게임 진입 전 화면</a:t>
            </a:r>
            <a:endParaRPr/>
          </a:p>
        </p:txBody>
      </p:sp>
      <p:sp>
        <p:nvSpPr>
          <p:cNvPr id="226" name="Google Shape;226;g3f9b3c50280_0_14"/>
          <p:cNvSpPr/>
          <p:nvPr/>
        </p:nvSpPr>
        <p:spPr>
          <a:xfrm>
            <a:off x="228601" y="2990088"/>
            <a:ext cx="3520500" cy="347400"/>
          </a:xfrm>
          <a:prstGeom prst="roundRect">
            <a:avLst>
              <a:gd fmla="val 14473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9b3c50280_0_14"/>
          <p:cNvSpPr txBox="1"/>
          <p:nvPr/>
        </p:nvSpPr>
        <p:spPr>
          <a:xfrm>
            <a:off x="356617" y="2990088"/>
            <a:ext cx="77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목록</a:t>
            </a:r>
            <a:endParaRPr/>
          </a:p>
        </p:txBody>
      </p:sp>
      <p:sp>
        <p:nvSpPr>
          <p:cNvPr id="228" name="Google Shape;228;g3f9b3c50280_0_14"/>
          <p:cNvSpPr txBox="1"/>
          <p:nvPr/>
        </p:nvSpPr>
        <p:spPr>
          <a:xfrm>
            <a:off x="1161293" y="2990088"/>
            <a:ext cx="245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열린 방을 보고 고른다 · 없는 방이면 안내 팝업</a:t>
            </a:r>
            <a:endParaRPr/>
          </a:p>
        </p:txBody>
      </p:sp>
      <p:sp>
        <p:nvSpPr>
          <p:cNvPr id="229" name="Google Shape;229;g3f9b3c50280_0_14"/>
          <p:cNvSpPr/>
          <p:nvPr/>
        </p:nvSpPr>
        <p:spPr>
          <a:xfrm>
            <a:off x="228601" y="3383279"/>
            <a:ext cx="3520500" cy="347400"/>
          </a:xfrm>
          <a:prstGeom prst="roundRect">
            <a:avLst>
              <a:gd fmla="val 14473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9b3c50280_0_14"/>
          <p:cNvSpPr txBox="1"/>
          <p:nvPr/>
        </p:nvSpPr>
        <p:spPr>
          <a:xfrm>
            <a:off x="356617" y="3383279"/>
            <a:ext cx="77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대기실</a:t>
            </a:r>
            <a:endParaRPr/>
          </a:p>
        </p:txBody>
      </p:sp>
      <p:sp>
        <p:nvSpPr>
          <p:cNvPr id="231" name="Google Shape;231;g3f9b3c50280_0_14"/>
          <p:cNvSpPr txBox="1"/>
          <p:nvPr/>
        </p:nvSpPr>
        <p:spPr>
          <a:xfrm>
            <a:off x="1161293" y="3383279"/>
            <a:ext cx="245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참가자 목록 · 전원 준비완료로 시작</a:t>
            </a:r>
            <a:endParaRPr/>
          </a:p>
        </p:txBody>
      </p:sp>
      <p:sp>
        <p:nvSpPr>
          <p:cNvPr id="232" name="Google Shape;232;g3f9b3c50280_0_14"/>
          <p:cNvSpPr/>
          <p:nvPr/>
        </p:nvSpPr>
        <p:spPr>
          <a:xfrm>
            <a:off x="228601" y="3776472"/>
            <a:ext cx="3520500" cy="347400"/>
          </a:xfrm>
          <a:prstGeom prst="roundRect">
            <a:avLst>
              <a:gd fmla="val 14473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9b3c50280_0_14"/>
          <p:cNvSpPr txBox="1"/>
          <p:nvPr/>
        </p:nvSpPr>
        <p:spPr>
          <a:xfrm>
            <a:off x="356617" y="3776472"/>
            <a:ext cx="77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결과</a:t>
            </a:r>
            <a:endParaRPr/>
          </a:p>
        </p:txBody>
      </p:sp>
      <p:sp>
        <p:nvSpPr>
          <p:cNvPr id="234" name="Google Shape;234;g3f9b3c50280_0_14"/>
          <p:cNvSpPr txBox="1"/>
          <p:nvPr/>
        </p:nvSpPr>
        <p:spPr>
          <a:xfrm>
            <a:off x="1161293" y="3776472"/>
            <a:ext cx="245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 결과와 봇 색출 결과를 나란히</a:t>
            </a:r>
            <a:endParaRPr/>
          </a:p>
        </p:txBody>
      </p:sp>
      <p:sp>
        <p:nvSpPr>
          <p:cNvPr id="235" name="Google Shape;235;g3f9b3c50280_0_14"/>
          <p:cNvSpPr/>
          <p:nvPr/>
        </p:nvSpPr>
        <p:spPr>
          <a:xfrm>
            <a:off x="228601" y="4169663"/>
            <a:ext cx="3520500" cy="347400"/>
          </a:xfrm>
          <a:prstGeom prst="roundRect">
            <a:avLst>
              <a:gd fmla="val 14473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9b3c50280_0_14"/>
          <p:cNvSpPr txBox="1"/>
          <p:nvPr/>
        </p:nvSpPr>
        <p:spPr>
          <a:xfrm>
            <a:off x="356617" y="4169663"/>
            <a:ext cx="77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</a:t>
            </a:r>
            <a:endParaRPr/>
          </a:p>
        </p:txBody>
      </p:sp>
      <p:sp>
        <p:nvSpPr>
          <p:cNvPr id="237" name="Google Shape;237;g3f9b3c50280_0_14"/>
          <p:cNvSpPr txBox="1"/>
          <p:nvPr/>
        </p:nvSpPr>
        <p:spPr>
          <a:xfrm>
            <a:off x="1161293" y="4169663"/>
            <a:ext cx="245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봇이라 생각했나 · 태그 + 자유 서술</a:t>
            </a:r>
            <a:endParaRPr/>
          </a:p>
        </p:txBody>
      </p:sp>
      <p:sp>
        <p:nvSpPr>
          <p:cNvPr id="238" name="Google Shape;238;g3f9b3c50280_0_14"/>
          <p:cNvSpPr txBox="1"/>
          <p:nvPr/>
        </p:nvSpPr>
        <p:spPr>
          <a:xfrm>
            <a:off x="228601" y="4626864"/>
            <a:ext cx="2377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화면 1개  ·  파트 C</a:t>
            </a:r>
            <a:endParaRPr/>
          </a:p>
        </p:txBody>
      </p:sp>
      <p:sp>
        <p:nvSpPr>
          <p:cNvPr id="239" name="Google Shape;239;g3f9b3c50280_0_14"/>
          <p:cNvSpPr/>
          <p:nvPr/>
        </p:nvSpPr>
        <p:spPr>
          <a:xfrm>
            <a:off x="228601" y="4828032"/>
            <a:ext cx="3520500" cy="1618500"/>
          </a:xfrm>
          <a:prstGeom prst="roundRect">
            <a:avLst>
              <a:gd fmla="val 3107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9b3c50280_0_14"/>
          <p:cNvSpPr/>
          <p:nvPr/>
        </p:nvSpPr>
        <p:spPr>
          <a:xfrm>
            <a:off x="3236988" y="4910328"/>
            <a:ext cx="384000" cy="1464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952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9b3c50280_0_14"/>
          <p:cNvSpPr txBox="1"/>
          <p:nvPr/>
        </p:nvSpPr>
        <p:spPr>
          <a:xfrm>
            <a:off x="3236988" y="4910328"/>
            <a:ext cx="384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C</a:t>
            </a:r>
            <a:endParaRPr/>
          </a:p>
        </p:txBody>
      </p:sp>
      <p:sp>
        <p:nvSpPr>
          <p:cNvPr id="242" name="Google Shape;242;g3f9b3c50280_0_14"/>
          <p:cNvSpPr txBox="1"/>
          <p:nvPr/>
        </p:nvSpPr>
        <p:spPr>
          <a:xfrm>
            <a:off x="356617" y="4910328"/>
            <a:ext cx="201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GameScreen.tsx</a:t>
            </a:r>
            <a:endParaRPr/>
          </a:p>
        </p:txBody>
      </p:sp>
      <p:sp>
        <p:nvSpPr>
          <p:cNvPr id="243" name="Google Shape;243;g3f9b3c50280_0_14"/>
          <p:cNvSpPr txBox="1"/>
          <p:nvPr/>
        </p:nvSpPr>
        <p:spPr>
          <a:xfrm>
            <a:off x="356617" y="5120640"/>
            <a:ext cx="2880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 8개 → 화면 8개가 아니라, 상주 화면 1개 + 팝업 4종</a:t>
            </a:r>
            <a:endParaRPr/>
          </a:p>
        </p:txBody>
      </p:sp>
      <p:sp>
        <p:nvSpPr>
          <p:cNvPr id="244" name="Google Shape;244;g3f9b3c50280_0_14"/>
          <p:cNvSpPr/>
          <p:nvPr/>
        </p:nvSpPr>
        <p:spPr>
          <a:xfrm>
            <a:off x="356617" y="5303520"/>
            <a:ext cx="1572900" cy="640200"/>
          </a:xfrm>
          <a:prstGeom prst="roundRect">
            <a:avLst>
              <a:gd fmla="val 7857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9b3c50280_0_14"/>
          <p:cNvSpPr txBox="1"/>
          <p:nvPr/>
        </p:nvSpPr>
        <p:spPr>
          <a:xfrm>
            <a:off x="448058" y="5358384"/>
            <a:ext cx="13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modalFor(state, onEvent)</a:t>
            </a:r>
            <a:endParaRPr/>
          </a:p>
        </p:txBody>
      </p:sp>
      <p:sp>
        <p:nvSpPr>
          <p:cNvPr id="246" name="Google Shape;246;g3f9b3c50280_0_14"/>
          <p:cNvSpPr txBox="1"/>
          <p:nvPr/>
        </p:nvSpPr>
        <p:spPr>
          <a:xfrm>
            <a:off x="448058" y="5541264"/>
            <a:ext cx="1389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순수 함수 — 팝업 · 입력 잠금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판단은 여기 한 곳에서만</a:t>
            </a:r>
            <a:endParaRPr/>
          </a:p>
        </p:txBody>
      </p:sp>
      <p:sp>
        <p:nvSpPr>
          <p:cNvPr id="247" name="Google Shape;247;g3f9b3c50280_0_14"/>
          <p:cNvSpPr/>
          <p:nvPr/>
        </p:nvSpPr>
        <p:spPr>
          <a:xfrm>
            <a:off x="356617" y="5998464"/>
            <a:ext cx="1572900" cy="420600"/>
          </a:xfrm>
          <a:prstGeom prst="roundRect">
            <a:avLst>
              <a:gd fmla="val 11956" name="adj"/>
            </a:avLst>
          </a:prstGeom>
          <a:solidFill>
            <a:srgbClr val="FFFFFF"/>
          </a:solidFill>
          <a:ln cap="flat" cmpd="sng" w="12700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9b3c50280_0_14"/>
          <p:cNvSpPr txBox="1"/>
          <p:nvPr/>
        </p:nvSpPr>
        <p:spPr>
          <a:xfrm>
            <a:off x="448058" y="6044184"/>
            <a:ext cx="13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 개의 축</a:t>
            </a:r>
            <a:endParaRPr/>
          </a:p>
        </p:txBody>
      </p:sp>
      <p:sp>
        <p:nvSpPr>
          <p:cNvPr id="249" name="Google Shape;249;g3f9b3c50280_0_14"/>
          <p:cNvSpPr txBox="1"/>
          <p:nvPr/>
        </p:nvSpPr>
        <p:spPr>
          <a:xfrm>
            <a:off x="448058" y="6181344"/>
            <a:ext cx="1389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잠금 · 투표 패널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 배너 · 헤더 문구</a:t>
            </a:r>
            <a:endParaRPr/>
          </a:p>
        </p:txBody>
      </p:sp>
      <p:sp>
        <p:nvSpPr>
          <p:cNvPr id="250" name="Google Shape;250;g3f9b3c50280_0_14"/>
          <p:cNvSpPr/>
          <p:nvPr/>
        </p:nvSpPr>
        <p:spPr>
          <a:xfrm>
            <a:off x="2039120" y="5303520"/>
            <a:ext cx="1572900" cy="640200"/>
          </a:xfrm>
          <a:prstGeom prst="roundRect">
            <a:avLst>
              <a:gd fmla="val 7857" name="adj"/>
            </a:avLst>
          </a:prstGeom>
          <a:solidFill>
            <a:srgbClr val="FFFFFF"/>
          </a:solidFill>
          <a:ln cap="flat" cmpd="sng" w="12700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9b3c50280_0_14"/>
          <p:cNvSpPr txBox="1"/>
          <p:nvPr/>
        </p:nvSpPr>
        <p:spPr>
          <a:xfrm>
            <a:off x="2130561" y="5349240"/>
            <a:ext cx="13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MainScreen</a:t>
            </a:r>
            <a:endParaRPr/>
          </a:p>
        </p:txBody>
      </p:sp>
      <p:sp>
        <p:nvSpPr>
          <p:cNvPr id="252" name="Google Shape;252;g3f9b3c50280_0_14"/>
          <p:cNvSpPr txBox="1"/>
          <p:nvPr/>
        </p:nvSpPr>
        <p:spPr>
          <a:xfrm>
            <a:off x="2130561" y="5495544"/>
            <a:ext cx="1389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 · 참가자 목록 · 채팅 상주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입력창(locked) · 투표 패널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 배너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 단위 렌더 — 전체 재렌더 없음</a:t>
            </a:r>
            <a:endParaRPr/>
          </a:p>
        </p:txBody>
      </p:sp>
      <p:sp>
        <p:nvSpPr>
          <p:cNvPr id="253" name="Google Shape;253;g3f9b3c50280_0_14"/>
          <p:cNvSpPr/>
          <p:nvPr/>
        </p:nvSpPr>
        <p:spPr>
          <a:xfrm>
            <a:off x="2039120" y="5998464"/>
            <a:ext cx="1572900" cy="420600"/>
          </a:xfrm>
          <a:prstGeom prst="roundRect">
            <a:avLst>
              <a:gd fmla="val 11956" name="adj"/>
            </a:avLst>
          </a:prstGeom>
          <a:solidFill>
            <a:srgbClr val="E8E8E8"/>
          </a:solidFill>
          <a:ln cap="flat" cmpd="sng" w="12700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9b3c50280_0_14"/>
          <p:cNvSpPr txBox="1"/>
          <p:nvPr/>
        </p:nvSpPr>
        <p:spPr>
          <a:xfrm>
            <a:off x="2130561" y="6044184"/>
            <a:ext cx="13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팝업 4종</a:t>
            </a:r>
            <a:endParaRPr/>
          </a:p>
        </p:txBody>
      </p:sp>
      <p:sp>
        <p:nvSpPr>
          <p:cNvPr id="255" name="Google Shape;255;g3f9b3c50280_0_14"/>
          <p:cNvSpPr txBox="1"/>
          <p:nvPr/>
        </p:nvSpPr>
        <p:spPr>
          <a:xfrm>
            <a:off x="2130561" y="6181344"/>
            <a:ext cx="1389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배정 · 생사 투표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제시어 추측 · 봇 지목</a:t>
            </a:r>
            <a:endParaRPr/>
          </a:p>
        </p:txBody>
      </p:sp>
      <p:cxnSp>
        <p:nvCxnSpPr>
          <p:cNvPr id="256" name="Google Shape;256;g3f9b3c50280_0_14"/>
          <p:cNvCxnSpPr/>
          <p:nvPr/>
        </p:nvCxnSpPr>
        <p:spPr>
          <a:xfrm>
            <a:off x="1929392" y="5623560"/>
            <a:ext cx="109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57" name="Google Shape;257;g3f9b3c50280_0_14"/>
          <p:cNvCxnSpPr/>
          <p:nvPr/>
        </p:nvCxnSpPr>
        <p:spPr>
          <a:xfrm>
            <a:off x="1929392" y="6208776"/>
            <a:ext cx="109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58" name="Google Shape;258;g3f9b3c50280_0_14"/>
          <p:cNvSpPr txBox="1"/>
          <p:nvPr/>
        </p:nvSpPr>
        <p:spPr>
          <a:xfrm>
            <a:off x="3886216" y="1504188"/>
            <a:ext cx="1371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· 방어</a:t>
            </a:r>
            <a:endParaRPr/>
          </a:p>
        </p:txBody>
      </p:sp>
      <p:sp>
        <p:nvSpPr>
          <p:cNvPr id="259" name="Google Shape;259;g3f9b3c50280_0_14"/>
          <p:cNvSpPr/>
          <p:nvPr/>
        </p:nvSpPr>
        <p:spPr>
          <a:xfrm>
            <a:off x="3886216" y="1664208"/>
            <a:ext cx="2011800" cy="786300"/>
          </a:xfrm>
          <a:prstGeom prst="roundRect">
            <a:avLst>
              <a:gd fmla="val 6395" name="adj"/>
            </a:avLst>
          </a:prstGeom>
          <a:solidFill>
            <a:srgbClr val="F2EFF0"/>
          </a:solidFill>
          <a:ln cap="flat" cmpd="sng" w="1587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9b3c50280_0_14"/>
          <p:cNvSpPr txBox="1"/>
          <p:nvPr/>
        </p:nvSpPr>
        <p:spPr>
          <a:xfrm>
            <a:off x="4014231" y="1746504"/>
            <a:ext cx="175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socket.io-client</a:t>
            </a:r>
            <a:endParaRPr/>
          </a:p>
        </p:txBody>
      </p:sp>
      <p:sp>
        <p:nvSpPr>
          <p:cNvPr id="261" name="Google Shape;261;g3f9b3c50280_0_14"/>
          <p:cNvSpPr txBox="1"/>
          <p:nvPr/>
        </p:nvSpPr>
        <p:spPr>
          <a:xfrm>
            <a:off x="4014231" y="1975104"/>
            <a:ext cx="1755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서버와 상시 연결 · 이벤트 구독</a:t>
            </a:r>
            <a:endParaRPr/>
          </a:p>
        </p:txBody>
      </p:sp>
      <p:sp>
        <p:nvSpPr>
          <p:cNvPr id="262" name="Google Shape;262;g3f9b3c50280_0_14"/>
          <p:cNvSpPr txBox="1"/>
          <p:nvPr/>
        </p:nvSpPr>
        <p:spPr>
          <a:xfrm>
            <a:off x="4014231" y="2176272"/>
            <a:ext cx="175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emit(action) / on('state', …)</a:t>
            </a:r>
            <a:endParaRPr/>
          </a:p>
        </p:txBody>
      </p:sp>
      <p:cxnSp>
        <p:nvCxnSpPr>
          <p:cNvPr id="263" name="Google Shape;263;g3f9b3c50280_0_14"/>
          <p:cNvCxnSpPr/>
          <p:nvPr/>
        </p:nvCxnSpPr>
        <p:spPr>
          <a:xfrm>
            <a:off x="4892060" y="2450591"/>
            <a:ext cx="0" cy="183000"/>
          </a:xfrm>
          <a:prstGeom prst="straightConnector1">
            <a:avLst/>
          </a:prstGeom>
          <a:noFill/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64" name="Google Shape;264;g3f9b3c50280_0_14"/>
          <p:cNvSpPr/>
          <p:nvPr/>
        </p:nvSpPr>
        <p:spPr>
          <a:xfrm>
            <a:off x="3886216" y="2724912"/>
            <a:ext cx="2011800" cy="731400"/>
          </a:xfrm>
          <a:prstGeom prst="roundRect">
            <a:avLst>
              <a:gd fmla="val 6874" name="adj"/>
            </a:avLst>
          </a:prstGeom>
          <a:solidFill>
            <a:srgbClr val="F2EFF0"/>
          </a:solidFill>
          <a:ln cap="flat" cmpd="sng" w="1587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9b3c50280_0_14"/>
          <p:cNvSpPr/>
          <p:nvPr/>
        </p:nvSpPr>
        <p:spPr>
          <a:xfrm>
            <a:off x="5385838" y="2798064"/>
            <a:ext cx="384000" cy="1464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952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9b3c50280_0_14"/>
          <p:cNvSpPr txBox="1"/>
          <p:nvPr/>
        </p:nvSpPr>
        <p:spPr>
          <a:xfrm>
            <a:off x="5385838" y="2798064"/>
            <a:ext cx="384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67D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D</a:t>
            </a:r>
            <a:endParaRPr/>
          </a:p>
        </p:txBody>
      </p:sp>
      <p:sp>
        <p:nvSpPr>
          <p:cNvPr id="267" name="Google Shape;267;g3f9b3c50280_0_14"/>
          <p:cNvSpPr txBox="1"/>
          <p:nvPr/>
        </p:nvSpPr>
        <p:spPr>
          <a:xfrm>
            <a:off x="4014231" y="2807208"/>
            <a:ext cx="137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ErrorBoundary</a:t>
            </a:r>
            <a:endParaRPr/>
          </a:p>
        </p:txBody>
      </p:sp>
      <p:sp>
        <p:nvSpPr>
          <p:cNvPr id="268" name="Google Shape;268;g3f9b3c50280_0_14"/>
          <p:cNvSpPr txBox="1"/>
          <p:nvPr/>
        </p:nvSpPr>
        <p:spPr>
          <a:xfrm>
            <a:off x="4014231" y="3035808"/>
            <a:ext cx="1755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렌더 중 예외를 여기서 받는다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흰 화면 대신 돌아올 길을 남긴다</a:t>
            </a:r>
            <a:endParaRPr/>
          </a:p>
        </p:txBody>
      </p:sp>
      <p:cxnSp>
        <p:nvCxnSpPr>
          <p:cNvPr id="269" name="Google Shape;269;g3f9b3c50280_0_14"/>
          <p:cNvCxnSpPr/>
          <p:nvPr/>
        </p:nvCxnSpPr>
        <p:spPr>
          <a:xfrm>
            <a:off x="4892060" y="3456432"/>
            <a:ext cx="0" cy="183000"/>
          </a:xfrm>
          <a:prstGeom prst="straightConnector1">
            <a:avLst/>
          </a:prstGeom>
          <a:noFill/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70" name="Google Shape;270;g3f9b3c50280_0_14"/>
          <p:cNvSpPr/>
          <p:nvPr/>
        </p:nvSpPr>
        <p:spPr>
          <a:xfrm>
            <a:off x="3886216" y="3639312"/>
            <a:ext cx="2011800" cy="841200"/>
          </a:xfrm>
          <a:prstGeom prst="roundRect">
            <a:avLst>
              <a:gd fmla="val 5978" name="adj"/>
            </a:avLst>
          </a:prstGeom>
          <a:solidFill>
            <a:srgbClr val="F2EFF0"/>
          </a:solidFill>
          <a:ln cap="flat" cmpd="sng" w="1587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9b3c50280_0_14"/>
          <p:cNvSpPr/>
          <p:nvPr/>
        </p:nvSpPr>
        <p:spPr>
          <a:xfrm>
            <a:off x="5385838" y="3712463"/>
            <a:ext cx="384000" cy="1464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952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9b3c50280_0_14"/>
          <p:cNvSpPr txBox="1"/>
          <p:nvPr/>
        </p:nvSpPr>
        <p:spPr>
          <a:xfrm>
            <a:off x="5385838" y="3712463"/>
            <a:ext cx="384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67D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D</a:t>
            </a:r>
            <a:endParaRPr/>
          </a:p>
        </p:txBody>
      </p:sp>
      <p:sp>
        <p:nvSpPr>
          <p:cNvPr id="273" name="Google Shape;273;g3f9b3c50280_0_14"/>
          <p:cNvSpPr txBox="1"/>
          <p:nvPr/>
        </p:nvSpPr>
        <p:spPr>
          <a:xfrm>
            <a:off x="4014231" y="3721608"/>
            <a:ext cx="146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App.tsx · 진입점 검사</a:t>
            </a:r>
            <a:endParaRPr/>
          </a:p>
        </p:txBody>
      </p:sp>
      <p:sp>
        <p:nvSpPr>
          <p:cNvPr id="274" name="Google Shape;274;g3f9b3c50280_0_14"/>
          <p:cNvSpPr txBox="1"/>
          <p:nvPr/>
        </p:nvSpPr>
        <p:spPr>
          <a:xfrm>
            <a:off x="4014231" y="3950208"/>
            <a:ext cx="1755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그리기 전에 그 phase가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쓰는 필드가 있는지 본다</a:t>
            </a:r>
            <a:endParaRPr/>
          </a:p>
        </p:txBody>
      </p:sp>
      <p:sp>
        <p:nvSpPr>
          <p:cNvPr id="275" name="Google Shape;275;g3f9b3c50280_0_14"/>
          <p:cNvSpPr/>
          <p:nvPr/>
        </p:nvSpPr>
        <p:spPr>
          <a:xfrm>
            <a:off x="4014231" y="4297680"/>
            <a:ext cx="1755600" cy="11100"/>
          </a:xfrm>
          <a:prstGeom prst="roundRect">
            <a:avLst>
              <a:gd fmla="val 0" name="adj"/>
            </a:avLst>
          </a:prstGeom>
          <a:solidFill>
            <a:srgbClr val="C9C9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9b3c50280_0_14"/>
          <p:cNvSpPr txBox="1"/>
          <p:nvPr/>
        </p:nvSpPr>
        <p:spPr>
          <a:xfrm>
            <a:off x="4014231" y="4334256"/>
            <a:ext cx="175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타입은 빌드가 끝나면 사라진다</a:t>
            </a:r>
            <a:endParaRPr/>
          </a:p>
        </p:txBody>
      </p:sp>
      <p:cxnSp>
        <p:nvCxnSpPr>
          <p:cNvPr id="277" name="Google Shape;277;g3f9b3c50280_0_14"/>
          <p:cNvCxnSpPr/>
          <p:nvPr/>
        </p:nvCxnSpPr>
        <p:spPr>
          <a:xfrm rot="10800000">
            <a:off x="3817516" y="4059936"/>
            <a:ext cx="687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78" name="Google Shape;278;g3f9b3c50280_0_14"/>
          <p:cNvCxnSpPr/>
          <p:nvPr/>
        </p:nvCxnSpPr>
        <p:spPr>
          <a:xfrm>
            <a:off x="3817636" y="2487168"/>
            <a:ext cx="0" cy="391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79" name="Google Shape;279;g3f9b3c50280_0_14"/>
          <p:cNvCxnSpPr/>
          <p:nvPr/>
        </p:nvCxnSpPr>
        <p:spPr>
          <a:xfrm rot="10800000">
            <a:off x="3748936" y="3246120"/>
            <a:ext cx="687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80" name="Google Shape;280;g3f9b3c50280_0_14"/>
          <p:cNvCxnSpPr/>
          <p:nvPr/>
        </p:nvCxnSpPr>
        <p:spPr>
          <a:xfrm rot="10800000">
            <a:off x="3748936" y="5577840"/>
            <a:ext cx="687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81" name="Google Shape;281;g3f9b3c50280_0_14"/>
          <p:cNvSpPr txBox="1"/>
          <p:nvPr/>
        </p:nvSpPr>
        <p:spPr>
          <a:xfrm>
            <a:off x="1920248" y="2395728"/>
            <a:ext cx="18105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state.phase 로 갈린다</a:t>
            </a:r>
            <a:endParaRPr/>
          </a:p>
        </p:txBody>
      </p:sp>
      <p:sp>
        <p:nvSpPr>
          <p:cNvPr id="282" name="Google Shape;282;g3f9b3c50280_0_14"/>
          <p:cNvSpPr txBox="1"/>
          <p:nvPr/>
        </p:nvSpPr>
        <p:spPr>
          <a:xfrm>
            <a:off x="3886216" y="4764024"/>
            <a:ext cx="2011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기반 · 빌드  —  화면들이 이 위에 서 있다</a:t>
            </a:r>
            <a:endParaRPr/>
          </a:p>
        </p:txBody>
      </p:sp>
      <p:sp>
        <p:nvSpPr>
          <p:cNvPr id="283" name="Google Shape;283;g3f9b3c50280_0_14"/>
          <p:cNvSpPr/>
          <p:nvPr/>
        </p:nvSpPr>
        <p:spPr>
          <a:xfrm>
            <a:off x="3886216" y="4956048"/>
            <a:ext cx="2011800" cy="329100"/>
          </a:xfrm>
          <a:prstGeom prst="roundRect">
            <a:avLst>
              <a:gd fmla="val 15277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9b3c50280_0_14"/>
          <p:cNvSpPr txBox="1"/>
          <p:nvPr/>
        </p:nvSpPr>
        <p:spPr>
          <a:xfrm>
            <a:off x="3995944" y="4992624"/>
            <a:ext cx="109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tokens.css</a:t>
            </a:r>
            <a:endParaRPr/>
          </a:p>
        </p:txBody>
      </p:sp>
      <p:sp>
        <p:nvSpPr>
          <p:cNvPr id="285" name="Google Shape;285;g3f9b3c50280_0_14"/>
          <p:cNvSpPr txBox="1"/>
          <p:nvPr/>
        </p:nvSpPr>
        <p:spPr>
          <a:xfrm>
            <a:off x="3995944" y="5129784"/>
            <a:ext cx="1792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색 7 · 간격 2 · radius 1 · font 1 = 이름 11개</a:t>
            </a:r>
            <a:endParaRPr/>
          </a:p>
        </p:txBody>
      </p:sp>
      <p:sp>
        <p:nvSpPr>
          <p:cNvPr id="286" name="Google Shape;286;g3f9b3c50280_0_14"/>
          <p:cNvSpPr/>
          <p:nvPr/>
        </p:nvSpPr>
        <p:spPr>
          <a:xfrm>
            <a:off x="5440702" y="4983480"/>
            <a:ext cx="347400" cy="118800"/>
          </a:xfrm>
          <a:prstGeom prst="roundRect">
            <a:avLst>
              <a:gd fmla="val 23076" name="adj"/>
            </a:avLst>
          </a:prstGeom>
          <a:solidFill>
            <a:srgbClr val="FFFFFF"/>
          </a:solidFill>
          <a:ln cap="flat" cmpd="sng" w="952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9b3c50280_0_14"/>
          <p:cNvSpPr txBox="1"/>
          <p:nvPr/>
        </p:nvSpPr>
        <p:spPr>
          <a:xfrm>
            <a:off x="5440702" y="4983480"/>
            <a:ext cx="347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67D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D</a:t>
            </a:r>
            <a:endParaRPr/>
          </a:p>
        </p:txBody>
      </p:sp>
      <p:sp>
        <p:nvSpPr>
          <p:cNvPr id="288" name="Google Shape;288;g3f9b3c50280_0_14"/>
          <p:cNvSpPr/>
          <p:nvPr/>
        </p:nvSpPr>
        <p:spPr>
          <a:xfrm>
            <a:off x="3886216" y="5330952"/>
            <a:ext cx="2011800" cy="329100"/>
          </a:xfrm>
          <a:prstGeom prst="roundRect">
            <a:avLst>
              <a:gd fmla="val 15277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9b3c50280_0_14"/>
          <p:cNvSpPr txBox="1"/>
          <p:nvPr/>
        </p:nvSpPr>
        <p:spPr>
          <a:xfrm>
            <a:off x="3995944" y="5367528"/>
            <a:ext cx="109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공용 컴포넌트</a:t>
            </a:r>
            <a:endParaRPr/>
          </a:p>
        </p:txBody>
      </p:sp>
      <p:sp>
        <p:nvSpPr>
          <p:cNvPr id="290" name="Google Shape;290;g3f9b3c50280_0_14"/>
          <p:cNvSpPr txBox="1"/>
          <p:nvPr/>
        </p:nvSpPr>
        <p:spPr>
          <a:xfrm>
            <a:off x="3995944" y="5504688"/>
            <a:ext cx="1792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Button · Avatar · Modal · avatarInitial</a:t>
            </a:r>
            <a:endParaRPr/>
          </a:p>
        </p:txBody>
      </p:sp>
      <p:sp>
        <p:nvSpPr>
          <p:cNvPr id="291" name="Google Shape;291;g3f9b3c50280_0_14"/>
          <p:cNvSpPr/>
          <p:nvPr/>
        </p:nvSpPr>
        <p:spPr>
          <a:xfrm>
            <a:off x="5440702" y="5358384"/>
            <a:ext cx="347400" cy="118800"/>
          </a:xfrm>
          <a:prstGeom prst="roundRect">
            <a:avLst>
              <a:gd fmla="val 23076" name="adj"/>
            </a:avLst>
          </a:prstGeom>
          <a:solidFill>
            <a:srgbClr val="FFFFFF"/>
          </a:solidFill>
          <a:ln cap="flat" cmpd="sng" w="952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9b3c50280_0_14"/>
          <p:cNvSpPr txBox="1"/>
          <p:nvPr/>
        </p:nvSpPr>
        <p:spPr>
          <a:xfrm>
            <a:off x="5440702" y="5358384"/>
            <a:ext cx="347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67D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D</a:t>
            </a:r>
            <a:endParaRPr/>
          </a:p>
        </p:txBody>
      </p:sp>
      <p:sp>
        <p:nvSpPr>
          <p:cNvPr id="293" name="Google Shape;293;g3f9b3c50280_0_14"/>
          <p:cNvSpPr/>
          <p:nvPr/>
        </p:nvSpPr>
        <p:spPr>
          <a:xfrm>
            <a:off x="3886216" y="5705856"/>
            <a:ext cx="2011800" cy="329100"/>
          </a:xfrm>
          <a:prstGeom prst="roundRect">
            <a:avLst>
              <a:gd fmla="val 15277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9b3c50280_0_14"/>
          <p:cNvSpPr txBox="1"/>
          <p:nvPr/>
        </p:nvSpPr>
        <p:spPr>
          <a:xfrm>
            <a:off x="3995944" y="5742432"/>
            <a:ext cx="109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game.css</a:t>
            </a:r>
            <a:endParaRPr/>
          </a:p>
        </p:txBody>
      </p:sp>
      <p:sp>
        <p:nvSpPr>
          <p:cNvPr id="295" name="Google Shape;295;g3f9b3c50280_0_14"/>
          <p:cNvSpPr txBox="1"/>
          <p:nvPr/>
        </p:nvSpPr>
        <p:spPr>
          <a:xfrm>
            <a:off x="3995944" y="5879592"/>
            <a:ext cx="1792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리터럴 없이 토큰 이름만 참조한다</a:t>
            </a:r>
            <a:endParaRPr/>
          </a:p>
        </p:txBody>
      </p:sp>
      <p:sp>
        <p:nvSpPr>
          <p:cNvPr id="296" name="Google Shape;296;g3f9b3c50280_0_14"/>
          <p:cNvSpPr/>
          <p:nvPr/>
        </p:nvSpPr>
        <p:spPr>
          <a:xfrm>
            <a:off x="5440702" y="5733288"/>
            <a:ext cx="347400" cy="118800"/>
          </a:xfrm>
          <a:prstGeom prst="roundRect">
            <a:avLst>
              <a:gd fmla="val 23076" name="adj"/>
            </a:avLst>
          </a:prstGeom>
          <a:solidFill>
            <a:srgbClr val="FFFFFF"/>
          </a:solidFill>
          <a:ln cap="flat" cmpd="sng" w="952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b3c50280_0_14"/>
          <p:cNvSpPr txBox="1"/>
          <p:nvPr/>
        </p:nvSpPr>
        <p:spPr>
          <a:xfrm>
            <a:off x="5440702" y="5733288"/>
            <a:ext cx="347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C</a:t>
            </a:r>
            <a:endParaRPr/>
          </a:p>
        </p:txBody>
      </p:sp>
      <p:sp>
        <p:nvSpPr>
          <p:cNvPr id="298" name="Google Shape;298;g3f9b3c50280_0_14"/>
          <p:cNvSpPr/>
          <p:nvPr/>
        </p:nvSpPr>
        <p:spPr>
          <a:xfrm>
            <a:off x="3886216" y="6080760"/>
            <a:ext cx="2011800" cy="329100"/>
          </a:xfrm>
          <a:prstGeom prst="roundRect">
            <a:avLst>
              <a:gd fmla="val 15277" name="adj"/>
            </a:avLst>
          </a:prstGeom>
          <a:solidFill>
            <a:srgbClr val="F2EFF0"/>
          </a:solidFill>
          <a:ln cap="flat" cmpd="sng" w="1587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9b3c50280_0_14"/>
          <p:cNvSpPr txBox="1"/>
          <p:nvPr/>
        </p:nvSpPr>
        <p:spPr>
          <a:xfrm>
            <a:off x="3995944" y="6117336"/>
            <a:ext cx="109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· 서빙</a:t>
            </a:r>
            <a:endParaRPr/>
          </a:p>
        </p:txBody>
      </p:sp>
      <p:sp>
        <p:nvSpPr>
          <p:cNvPr id="300" name="Google Shape;300;g3f9b3c50280_0_14"/>
          <p:cNvSpPr txBox="1"/>
          <p:nvPr/>
        </p:nvSpPr>
        <p:spPr>
          <a:xfrm>
            <a:off x="3995944" y="6254496"/>
            <a:ext cx="1792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· CSR — frontend/dist → Express</a:t>
            </a:r>
            <a:endParaRPr/>
          </a:p>
        </p:txBody>
      </p:sp>
      <p:sp>
        <p:nvSpPr>
          <p:cNvPr id="301" name="Google Shape;301;g3f9b3c50280_0_14"/>
          <p:cNvSpPr txBox="1"/>
          <p:nvPr/>
        </p:nvSpPr>
        <p:spPr>
          <a:xfrm>
            <a:off x="5897904" y="1609344"/>
            <a:ext cx="640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shared-types</a:t>
            </a:r>
            <a:endParaRPr/>
          </a:p>
        </p:txBody>
      </p:sp>
      <p:sp>
        <p:nvSpPr>
          <p:cNvPr id="302" name="Google Shape;302;g3f9b3c50280_0_14"/>
          <p:cNvSpPr txBox="1"/>
          <p:nvPr/>
        </p:nvSpPr>
        <p:spPr>
          <a:xfrm>
            <a:off x="5897904" y="1792224"/>
            <a:ext cx="64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endParaRPr/>
          </a:p>
        </p:txBody>
      </p:sp>
      <p:cxnSp>
        <p:nvCxnSpPr>
          <p:cNvPr id="303" name="Google Shape;303;g3f9b3c50280_0_14"/>
          <p:cNvCxnSpPr/>
          <p:nvPr/>
        </p:nvCxnSpPr>
        <p:spPr>
          <a:xfrm>
            <a:off x="5925336" y="1993392"/>
            <a:ext cx="585300" cy="0"/>
          </a:xfrm>
          <a:prstGeom prst="straightConnector1">
            <a:avLst/>
          </a:prstGeom>
          <a:noFill/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4" name="Google Shape;304;g3f9b3c50280_0_14"/>
          <p:cNvSpPr txBox="1"/>
          <p:nvPr/>
        </p:nvSpPr>
        <p:spPr>
          <a:xfrm>
            <a:off x="5897904" y="2048256"/>
            <a:ext cx="640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참가 · 발언 · 투표</a:t>
            </a:r>
            <a:endParaRPr/>
          </a:p>
        </p:txBody>
      </p:sp>
      <p:sp>
        <p:nvSpPr>
          <p:cNvPr id="305" name="Google Shape;305;g3f9b3c50280_0_14"/>
          <p:cNvSpPr txBox="1"/>
          <p:nvPr/>
        </p:nvSpPr>
        <p:spPr>
          <a:xfrm>
            <a:off x="5897904" y="2340864"/>
            <a:ext cx="64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</a:t>
            </a:r>
            <a:endParaRPr/>
          </a:p>
        </p:txBody>
      </p:sp>
      <p:cxnSp>
        <p:nvCxnSpPr>
          <p:cNvPr id="306" name="Google Shape;306;g3f9b3c50280_0_14"/>
          <p:cNvCxnSpPr/>
          <p:nvPr/>
        </p:nvCxnSpPr>
        <p:spPr>
          <a:xfrm rot="10800000">
            <a:off x="5925255" y="2542032"/>
            <a:ext cx="585300" cy="0"/>
          </a:xfrm>
          <a:prstGeom prst="straightConnector1">
            <a:avLst/>
          </a:prstGeom>
          <a:noFill/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7" name="Google Shape;307;g3f9b3c50280_0_14"/>
          <p:cNvSpPr txBox="1"/>
          <p:nvPr/>
        </p:nvSpPr>
        <p:spPr>
          <a:xfrm>
            <a:off x="5897904" y="2596896"/>
            <a:ext cx="640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GameState 전체</a:t>
            </a:r>
            <a:endParaRPr/>
          </a:p>
        </p:txBody>
      </p:sp>
      <p:sp>
        <p:nvSpPr>
          <p:cNvPr id="308" name="Google Shape;308;g3f9b3c50280_0_14"/>
          <p:cNvSpPr/>
          <p:nvPr/>
        </p:nvSpPr>
        <p:spPr>
          <a:xfrm>
            <a:off x="6537987" y="1572768"/>
            <a:ext cx="2788800" cy="932700"/>
          </a:xfrm>
          <a:prstGeom prst="roundRect">
            <a:avLst>
              <a:gd fmla="val 5392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9b3c50280_0_14"/>
          <p:cNvSpPr txBox="1"/>
          <p:nvPr/>
        </p:nvSpPr>
        <p:spPr>
          <a:xfrm>
            <a:off x="6684291" y="1664208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Express + Socket.IO</a:t>
            </a:r>
            <a:endParaRPr/>
          </a:p>
        </p:txBody>
      </p:sp>
      <p:sp>
        <p:nvSpPr>
          <p:cNvPr id="310" name="Google Shape;310;g3f9b3c50280_0_14"/>
          <p:cNvSpPr txBox="1"/>
          <p:nvPr/>
        </p:nvSpPr>
        <p:spPr>
          <a:xfrm>
            <a:off x="6684291" y="1901952"/>
            <a:ext cx="2496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프로세스 · 단일 포트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파일 서빙 (frontend/dist)</a:t>
            </a:r>
            <a:endParaRPr/>
          </a:p>
        </p:txBody>
      </p:sp>
      <p:sp>
        <p:nvSpPr>
          <p:cNvPr id="311" name="Google Shape;311;g3f9b3c50280_0_14"/>
          <p:cNvSpPr txBox="1"/>
          <p:nvPr/>
        </p:nvSpPr>
        <p:spPr>
          <a:xfrm>
            <a:off x="6684291" y="2267712"/>
            <a:ext cx="2496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app.get('/*splat', ...)</a:t>
            </a:r>
            <a:endParaRPr/>
          </a:p>
        </p:txBody>
      </p:sp>
      <p:cxnSp>
        <p:nvCxnSpPr>
          <p:cNvPr id="312" name="Google Shape;312;g3f9b3c50280_0_14"/>
          <p:cNvCxnSpPr/>
          <p:nvPr/>
        </p:nvCxnSpPr>
        <p:spPr>
          <a:xfrm>
            <a:off x="7932453" y="2505456"/>
            <a:ext cx="0" cy="375000"/>
          </a:xfrm>
          <a:prstGeom prst="straightConnector1">
            <a:avLst/>
          </a:prstGeom>
          <a:noFill/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13" name="Google Shape;313;g3f9b3c50280_0_14"/>
          <p:cNvSpPr txBox="1"/>
          <p:nvPr/>
        </p:nvSpPr>
        <p:spPr>
          <a:xfrm>
            <a:off x="8005605" y="2633472"/>
            <a:ext cx="8229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처리</a:t>
            </a:r>
            <a:endParaRPr/>
          </a:p>
        </p:txBody>
      </p:sp>
      <p:sp>
        <p:nvSpPr>
          <p:cNvPr id="314" name="Google Shape;314;g3f9b3c50280_0_14"/>
          <p:cNvSpPr/>
          <p:nvPr/>
        </p:nvSpPr>
        <p:spPr>
          <a:xfrm>
            <a:off x="6537987" y="2880360"/>
            <a:ext cx="2788800" cy="1234500"/>
          </a:xfrm>
          <a:prstGeom prst="roundRect">
            <a:avLst>
              <a:gd fmla="val 4074" name="adj"/>
            </a:avLst>
          </a:prstGeom>
          <a:solidFill>
            <a:srgbClr val="E8E8E8"/>
          </a:solidFill>
          <a:ln cap="flat" cmpd="sng" w="158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9b3c50280_0_14"/>
          <p:cNvSpPr txBox="1"/>
          <p:nvPr/>
        </p:nvSpPr>
        <p:spPr>
          <a:xfrm>
            <a:off x="6684291" y="297180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로직 코어</a:t>
            </a:r>
            <a:endParaRPr/>
          </a:p>
        </p:txBody>
      </p:sp>
      <p:sp>
        <p:nvSpPr>
          <p:cNvPr id="316" name="Google Shape;316;g3f9b3c50280_0_14"/>
          <p:cNvSpPr txBox="1"/>
          <p:nvPr/>
        </p:nvSpPr>
        <p:spPr>
          <a:xfrm>
            <a:off x="6684291" y="3218688"/>
            <a:ext cx="2496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room · stateMachine · vote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timer · view</a:t>
            </a:r>
            <a:endParaRPr/>
          </a:p>
        </p:txBody>
      </p:sp>
      <p:sp>
        <p:nvSpPr>
          <p:cNvPr id="317" name="Google Shape;317;g3f9b3c50280_0_14"/>
          <p:cNvSpPr/>
          <p:nvPr/>
        </p:nvSpPr>
        <p:spPr>
          <a:xfrm>
            <a:off x="6684291" y="3584448"/>
            <a:ext cx="2496300" cy="11100"/>
          </a:xfrm>
          <a:prstGeom prst="roundRect">
            <a:avLst>
              <a:gd fmla="val 0" name="adj"/>
            </a:avLst>
          </a:prstGeom>
          <a:solidFill>
            <a:srgbClr val="C9C9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9b3c50280_0_14"/>
          <p:cNvSpPr txBox="1"/>
          <p:nvPr/>
        </p:nvSpPr>
        <p:spPr>
          <a:xfrm>
            <a:off x="6684291" y="3639312"/>
            <a:ext cx="2496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모듈(bot/) 호출  ·  파트 B</a:t>
            </a:r>
            <a:endParaRPr/>
          </a:p>
        </p:txBody>
      </p:sp>
      <p:sp>
        <p:nvSpPr>
          <p:cNvPr id="319" name="Google Shape;319;g3f9b3c50280_0_14"/>
          <p:cNvSpPr txBox="1"/>
          <p:nvPr/>
        </p:nvSpPr>
        <p:spPr>
          <a:xfrm>
            <a:off x="6684291" y="3822191"/>
            <a:ext cx="2496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decideBotAction()</a:t>
            </a:r>
            <a:endParaRPr/>
          </a:p>
        </p:txBody>
      </p:sp>
      <p:cxnSp>
        <p:nvCxnSpPr>
          <p:cNvPr id="320" name="Google Shape;320;g3f9b3c50280_0_14"/>
          <p:cNvCxnSpPr/>
          <p:nvPr/>
        </p:nvCxnSpPr>
        <p:spPr>
          <a:xfrm>
            <a:off x="7932453" y="4114800"/>
            <a:ext cx="0" cy="567000"/>
          </a:xfrm>
          <a:prstGeom prst="straightConnector1">
            <a:avLst/>
          </a:prstGeom>
          <a:noFill/>
          <a:ln cap="flat" cmpd="sng" w="15875">
            <a:solidFill>
              <a:srgbClr val="AF2B2B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21" name="Google Shape;321;g3f9b3c50280_0_14"/>
          <p:cNvSpPr txBox="1"/>
          <p:nvPr/>
        </p:nvSpPr>
        <p:spPr>
          <a:xfrm>
            <a:off x="8005605" y="4206240"/>
            <a:ext cx="13716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AF2B2B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supabase-js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AF2B2B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role key 사용</a:t>
            </a:r>
            <a:endParaRPr/>
          </a:p>
        </p:txBody>
      </p:sp>
      <p:sp>
        <p:nvSpPr>
          <p:cNvPr id="322" name="Google Shape;322;g3f9b3c50280_0_14"/>
          <p:cNvSpPr/>
          <p:nvPr/>
        </p:nvSpPr>
        <p:spPr>
          <a:xfrm>
            <a:off x="6537987" y="4681728"/>
            <a:ext cx="2788800" cy="274200"/>
          </a:xfrm>
          <a:prstGeom prst="roundRect">
            <a:avLst>
              <a:gd fmla="val 16666" name="adj"/>
            </a:avLst>
          </a:prstGeom>
          <a:solidFill>
            <a:srgbClr val="AF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9b3c50280_0_14"/>
          <p:cNvSpPr txBox="1"/>
          <p:nvPr/>
        </p:nvSpPr>
        <p:spPr>
          <a:xfrm>
            <a:off x="6537987" y="4681728"/>
            <a:ext cx="2788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/>
          </a:p>
        </p:txBody>
      </p:sp>
      <p:sp>
        <p:nvSpPr>
          <p:cNvPr id="324" name="Google Shape;324;g3f9b3c50280_0_14"/>
          <p:cNvSpPr/>
          <p:nvPr/>
        </p:nvSpPr>
        <p:spPr>
          <a:xfrm>
            <a:off x="6537987" y="5010912"/>
            <a:ext cx="2788800" cy="1097400"/>
          </a:xfrm>
          <a:prstGeom prst="roundRect">
            <a:avLst>
              <a:gd fmla="val 4583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9b3c50280_0_14"/>
          <p:cNvSpPr txBox="1"/>
          <p:nvPr/>
        </p:nvSpPr>
        <p:spPr>
          <a:xfrm>
            <a:off x="6684291" y="5102352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326" name="Google Shape;326;g3f9b3c50280_0_14"/>
          <p:cNvSpPr txBox="1"/>
          <p:nvPr/>
        </p:nvSpPr>
        <p:spPr>
          <a:xfrm>
            <a:off x="6684291" y="5340096"/>
            <a:ext cx="2496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기록 · 발언 로그 · 설문 응답</a:t>
            </a:r>
            <a:endParaRPr/>
          </a:p>
        </p:txBody>
      </p:sp>
      <p:sp>
        <p:nvSpPr>
          <p:cNvPr id="327" name="Google Shape;327;g3f9b3c50280_0_14"/>
          <p:cNvSpPr txBox="1"/>
          <p:nvPr/>
        </p:nvSpPr>
        <p:spPr>
          <a:xfrm>
            <a:off x="6684291" y="5522976"/>
            <a:ext cx="2496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db/ — game · log · survey · content</a:t>
            </a:r>
            <a:endParaRPr/>
          </a:p>
        </p:txBody>
      </p:sp>
      <p:sp>
        <p:nvSpPr>
          <p:cNvPr id="328" name="Google Shape;328;g3f9b3c50280_0_14"/>
          <p:cNvSpPr/>
          <p:nvPr/>
        </p:nvSpPr>
        <p:spPr>
          <a:xfrm>
            <a:off x="6684291" y="5742432"/>
            <a:ext cx="2496300" cy="11100"/>
          </a:xfrm>
          <a:prstGeom prst="roundRect">
            <a:avLst>
              <a:gd fmla="val 0" name="adj"/>
            </a:avLst>
          </a:prstGeom>
          <a:solidFill>
            <a:srgbClr val="C9C9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9b3c50280_0_14"/>
          <p:cNvSpPr txBox="1"/>
          <p:nvPr/>
        </p:nvSpPr>
        <p:spPr>
          <a:xfrm>
            <a:off x="6684291" y="5797296"/>
            <a:ext cx="2496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판이 끝날 때마다 적재</a:t>
            </a:r>
            <a:endParaRPr/>
          </a:p>
        </p:txBody>
      </p:sp>
      <p:sp>
        <p:nvSpPr>
          <p:cNvPr id="330" name="Google Shape;330;g3f9b3c50280_0_14"/>
          <p:cNvSpPr/>
          <p:nvPr/>
        </p:nvSpPr>
        <p:spPr>
          <a:xfrm>
            <a:off x="9528087" y="1572768"/>
            <a:ext cx="2432400" cy="1170300"/>
          </a:xfrm>
          <a:prstGeom prst="roundRect">
            <a:avLst>
              <a:gd fmla="val 4296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9b3c50280_0_14"/>
          <p:cNvSpPr txBox="1"/>
          <p:nvPr/>
        </p:nvSpPr>
        <p:spPr>
          <a:xfrm>
            <a:off x="9674392" y="1664208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호환 API</a:t>
            </a:r>
            <a:endParaRPr/>
          </a:p>
        </p:txBody>
      </p:sp>
      <p:sp>
        <p:nvSpPr>
          <p:cNvPr id="332" name="Google Shape;332;g3f9b3c50280_0_14"/>
          <p:cNvSpPr txBox="1"/>
          <p:nvPr/>
        </p:nvSpPr>
        <p:spPr>
          <a:xfrm>
            <a:off x="9674392" y="1901952"/>
            <a:ext cx="2139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호환 API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OpenAI 호환 (OpenRouter)</a:t>
            </a:r>
            <a:endParaRPr/>
          </a:p>
        </p:txBody>
      </p:sp>
      <p:sp>
        <p:nvSpPr>
          <p:cNvPr id="333" name="Google Shape;333;g3f9b3c50280_0_14"/>
          <p:cNvSpPr txBox="1"/>
          <p:nvPr/>
        </p:nvSpPr>
        <p:spPr>
          <a:xfrm>
            <a:off x="9674392" y="2267712"/>
            <a:ext cx="213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/x/provider 로 전환 가능</a:t>
            </a:r>
            <a:endParaRPr/>
          </a:p>
        </p:txBody>
      </p:sp>
      <p:sp>
        <p:nvSpPr>
          <p:cNvPr id="334" name="Google Shape;334;g3f9b3c50280_0_14"/>
          <p:cNvSpPr/>
          <p:nvPr/>
        </p:nvSpPr>
        <p:spPr>
          <a:xfrm>
            <a:off x="9674392" y="2468880"/>
            <a:ext cx="2139600" cy="11100"/>
          </a:xfrm>
          <a:prstGeom prst="roundRect">
            <a:avLst>
              <a:gd fmla="val 0" name="adj"/>
            </a:avLst>
          </a:prstGeom>
          <a:solidFill>
            <a:srgbClr val="C9C9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f9b3c50280_0_14"/>
          <p:cNvSpPr txBox="1"/>
          <p:nvPr/>
        </p:nvSpPr>
        <p:spPr>
          <a:xfrm>
            <a:off x="9674392" y="2523744"/>
            <a:ext cx="2139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봇 차례마다 generate() 호출</a:t>
            </a:r>
            <a:endParaRPr/>
          </a:p>
        </p:txBody>
      </p:sp>
      <p:sp>
        <p:nvSpPr>
          <p:cNvPr id="336" name="Google Shape;336;g3f9b3c50280_0_14"/>
          <p:cNvSpPr/>
          <p:nvPr/>
        </p:nvSpPr>
        <p:spPr>
          <a:xfrm>
            <a:off x="9528087" y="2944368"/>
            <a:ext cx="2432400" cy="1024200"/>
          </a:xfrm>
          <a:prstGeom prst="roundRect">
            <a:avLst>
              <a:gd fmla="val 4910" name="adj"/>
            </a:avLst>
          </a:prstGeom>
          <a:solidFill>
            <a:srgbClr val="FBEAEB"/>
          </a:solidFill>
          <a:ln cap="flat" cmpd="sng" w="15875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9b3c50280_0_14"/>
          <p:cNvSpPr txBox="1"/>
          <p:nvPr/>
        </p:nvSpPr>
        <p:spPr>
          <a:xfrm>
            <a:off x="9674392" y="3035808"/>
            <a:ext cx="201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Discord Webhook</a:t>
            </a:r>
            <a:endParaRPr/>
          </a:p>
        </p:txBody>
      </p:sp>
      <p:sp>
        <p:nvSpPr>
          <p:cNvPr id="338" name="Google Shape;338;g3f9b3c50280_0_14"/>
          <p:cNvSpPr txBox="1"/>
          <p:nvPr/>
        </p:nvSpPr>
        <p:spPr>
          <a:xfrm>
            <a:off x="9674392" y="3273552"/>
            <a:ext cx="2139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종료 리포트 전송</a:t>
            </a:r>
            <a:endParaRPr/>
          </a:p>
        </p:txBody>
      </p:sp>
      <p:sp>
        <p:nvSpPr>
          <p:cNvPr id="339" name="Google Shape;339;g3f9b3c50280_0_14"/>
          <p:cNvSpPr txBox="1"/>
          <p:nvPr/>
        </p:nvSpPr>
        <p:spPr>
          <a:xfrm>
            <a:off x="9674392" y="3456432"/>
            <a:ext cx="213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sendLogToDiscord()</a:t>
            </a:r>
            <a:endParaRPr/>
          </a:p>
        </p:txBody>
      </p:sp>
      <p:sp>
        <p:nvSpPr>
          <p:cNvPr id="340" name="Google Shape;340;g3f9b3c50280_0_14"/>
          <p:cNvSpPr/>
          <p:nvPr/>
        </p:nvSpPr>
        <p:spPr>
          <a:xfrm>
            <a:off x="9674392" y="3657600"/>
            <a:ext cx="2139600" cy="11100"/>
          </a:xfrm>
          <a:prstGeom prst="roundRect">
            <a:avLst>
              <a:gd fmla="val 0" name="adj"/>
            </a:avLst>
          </a:prstGeom>
          <a:solidFill>
            <a:srgbClr val="C9C9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9b3c50280_0_14"/>
          <p:cNvSpPr txBox="1"/>
          <p:nvPr/>
        </p:nvSpPr>
        <p:spPr>
          <a:xfrm>
            <a:off x="9674392" y="3712463"/>
            <a:ext cx="2139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게임 종료 시 전송</a:t>
            </a:r>
            <a:endParaRPr/>
          </a:p>
        </p:txBody>
      </p:sp>
      <p:sp>
        <p:nvSpPr>
          <p:cNvPr id="342" name="Google Shape;342;g3f9b3c50280_0_14"/>
          <p:cNvSpPr/>
          <p:nvPr/>
        </p:nvSpPr>
        <p:spPr>
          <a:xfrm>
            <a:off x="9528087" y="4261104"/>
            <a:ext cx="2432400" cy="1243500"/>
          </a:xfrm>
          <a:prstGeom prst="roundRect">
            <a:avLst>
              <a:gd fmla="val 4044" name="adj"/>
            </a:avLst>
          </a:prstGeom>
          <a:solidFill>
            <a:srgbClr val="F2EFF0"/>
          </a:solidFill>
          <a:ln cap="flat" cmpd="sng" w="15875">
            <a:solidFill>
              <a:srgbClr val="967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9b3c50280_0_14"/>
          <p:cNvSpPr txBox="1"/>
          <p:nvPr/>
        </p:nvSpPr>
        <p:spPr>
          <a:xfrm>
            <a:off x="9674392" y="4352544"/>
            <a:ext cx="201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키는 서버에만 둡니다</a:t>
            </a:r>
            <a:endParaRPr/>
          </a:p>
        </p:txBody>
      </p:sp>
      <p:sp>
        <p:nvSpPr>
          <p:cNvPr id="344" name="Google Shape;344;g3f9b3c50280_0_14"/>
          <p:cNvSpPr txBox="1"/>
          <p:nvPr/>
        </p:nvSpPr>
        <p:spPr>
          <a:xfrm>
            <a:off x="9674392" y="4590288"/>
            <a:ext cx="2139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키 · Webhook URL · DB 키는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모두 서버에서만 읽는다</a:t>
            </a:r>
            <a:endParaRPr/>
          </a:p>
        </p:txBody>
      </p:sp>
      <p:sp>
        <p:nvSpPr>
          <p:cNvPr id="345" name="Google Shape;345;g3f9b3c50280_0_14"/>
          <p:cNvSpPr txBox="1"/>
          <p:nvPr/>
        </p:nvSpPr>
        <p:spPr>
          <a:xfrm>
            <a:off x="9674392" y="4956048"/>
            <a:ext cx="213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4A4A4A"/>
                </a:solidFill>
                <a:latin typeface="Consolas"/>
                <a:ea typeface="Consolas"/>
                <a:cs typeface="Consolas"/>
                <a:sym typeface="Consolas"/>
              </a:rPr>
              <a:t>브라우저 번들에 들어가지 않는다</a:t>
            </a:r>
            <a:endParaRPr/>
          </a:p>
        </p:txBody>
      </p:sp>
      <p:sp>
        <p:nvSpPr>
          <p:cNvPr id="346" name="Google Shape;346;g3f9b3c50280_0_14"/>
          <p:cNvSpPr/>
          <p:nvPr/>
        </p:nvSpPr>
        <p:spPr>
          <a:xfrm>
            <a:off x="9674392" y="5157216"/>
            <a:ext cx="2139600" cy="11100"/>
          </a:xfrm>
          <a:prstGeom prst="roundRect">
            <a:avLst>
              <a:gd fmla="val 0" name="adj"/>
            </a:avLst>
          </a:prstGeom>
          <a:solidFill>
            <a:srgbClr val="C9C9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9b3c50280_0_14"/>
          <p:cNvSpPr txBox="1"/>
          <p:nvPr/>
        </p:nvSpPr>
        <p:spPr>
          <a:xfrm>
            <a:off x="9674392" y="5212080"/>
            <a:ext cx="2139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F12를 눌러도 키도, 미공개 상태도 없다</a:t>
            </a:r>
            <a:endParaRPr/>
          </a:p>
        </p:txBody>
      </p:sp>
      <p:cxnSp>
        <p:nvCxnSpPr>
          <p:cNvPr id="348" name="Google Shape;348;g3f9b3c50280_0_14"/>
          <p:cNvCxnSpPr/>
          <p:nvPr/>
        </p:nvCxnSpPr>
        <p:spPr>
          <a:xfrm>
            <a:off x="9326918" y="3474720"/>
            <a:ext cx="100500" cy="0"/>
          </a:xfrm>
          <a:prstGeom prst="straightConnector1">
            <a:avLst/>
          </a:prstGeom>
          <a:noFill/>
          <a:ln cap="flat" cmpd="sng" w="15875">
            <a:solidFill>
              <a:srgbClr val="E9423E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49" name="Google Shape;349;g3f9b3c50280_0_14"/>
          <p:cNvCxnSpPr/>
          <p:nvPr/>
        </p:nvCxnSpPr>
        <p:spPr>
          <a:xfrm>
            <a:off x="9427502" y="2157984"/>
            <a:ext cx="0" cy="1316700"/>
          </a:xfrm>
          <a:prstGeom prst="straightConnector1">
            <a:avLst/>
          </a:prstGeom>
          <a:noFill/>
          <a:ln cap="flat" cmpd="sng" w="15875">
            <a:solidFill>
              <a:srgbClr val="E9423E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0" name="Google Shape;350;g3f9b3c50280_0_14"/>
          <p:cNvCxnSpPr/>
          <p:nvPr/>
        </p:nvCxnSpPr>
        <p:spPr>
          <a:xfrm>
            <a:off x="9427502" y="2157984"/>
            <a:ext cx="100500" cy="0"/>
          </a:xfrm>
          <a:prstGeom prst="straightConnector1">
            <a:avLst/>
          </a:prstGeom>
          <a:noFill/>
          <a:ln cap="flat" cmpd="sng" w="15875">
            <a:solidFill>
              <a:srgbClr val="E9423E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1" name="Google Shape;351;g3f9b3c50280_0_14"/>
          <p:cNvCxnSpPr/>
          <p:nvPr/>
        </p:nvCxnSpPr>
        <p:spPr>
          <a:xfrm>
            <a:off x="9427502" y="3474720"/>
            <a:ext cx="100500" cy="0"/>
          </a:xfrm>
          <a:prstGeom prst="straightConnector1">
            <a:avLst/>
          </a:prstGeom>
          <a:noFill/>
          <a:ln cap="flat" cmpd="sng" w="15875">
            <a:solidFill>
              <a:srgbClr val="E9423E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52" name="Google Shape;352;g3f9b3c50280_0_14"/>
          <p:cNvSpPr/>
          <p:nvPr/>
        </p:nvSpPr>
        <p:spPr>
          <a:xfrm>
            <a:off x="6537987" y="6272784"/>
            <a:ext cx="5425500" cy="18300"/>
          </a:xfrm>
          <a:prstGeom prst="roundRect">
            <a:avLst>
              <a:gd fmla="val 0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9b3c50280_0_14"/>
          <p:cNvSpPr txBox="1"/>
          <p:nvPr/>
        </p:nvSpPr>
        <p:spPr>
          <a:xfrm>
            <a:off x="6537987" y="6345936"/>
            <a:ext cx="54255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방향 흐름 — 서버가 상태를 보내면 브라우저는 그것을 그리기만 한다. 미공개 정보는 view.ts 에서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받는 사람별로 잘라 보내므로, 개발자 도구를 열어도 화면에 없는 값은 애초에 오지 않는다.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"/>
          <p:cNvSpPr txBox="1"/>
          <p:nvPr/>
        </p:nvSpPr>
        <p:spPr>
          <a:xfrm>
            <a:off x="850392" y="1188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850392" y="157276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000"/>
              <a:buFont typeface="Malgun Gothic"/>
              <a:buNone/>
            </a:pPr>
            <a:r>
              <a:rPr b="1" i="0" lang="en-US" sz="4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850392" y="269748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 txBox="1"/>
          <p:nvPr/>
        </p:nvSpPr>
        <p:spPr>
          <a:xfrm>
            <a:off x="850392" y="301752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여덟 개의 화면을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페이지에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담을 수 있는가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 txBox="1"/>
          <p:nvPr/>
        </p:nvSpPr>
        <p:spPr>
          <a:xfrm>
            <a:off x="850392" y="46634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0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게임 화면  |  이현우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850392" y="51206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규칙을 코드로 옮기는 순간,</a:t>
            </a:r>
            <a:endParaRPr b="0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전부 “어떻게 강제하지?”가 됐습니다.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5760720" y="1152144"/>
            <a:ext cx="5580583" cy="1024128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"/>
          <p:cNvSpPr txBox="1"/>
          <p:nvPr/>
        </p:nvSpPr>
        <p:spPr>
          <a:xfrm>
            <a:off x="6035040" y="1152144"/>
            <a:ext cx="6400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6812280" y="1344168"/>
            <a:ext cx="43918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맥락과 문제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 txBox="1"/>
          <p:nvPr/>
        </p:nvSpPr>
        <p:spPr>
          <a:xfrm>
            <a:off x="6812280" y="1738122"/>
            <a:ext cx="439186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뭘 풀어야 했나 · 뭐가 문제였나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5760720" y="2322576"/>
            <a:ext cx="5580583" cy="1024128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 txBox="1"/>
          <p:nvPr/>
        </p:nvSpPr>
        <p:spPr>
          <a:xfrm>
            <a:off x="6035040" y="2322576"/>
            <a:ext cx="6400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 txBox="1"/>
          <p:nvPr/>
        </p:nvSpPr>
        <p:spPr>
          <a:xfrm>
            <a:off x="6812280" y="2514600"/>
            <a:ext cx="43918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 txBox="1"/>
          <p:nvPr/>
        </p:nvSpPr>
        <p:spPr>
          <a:xfrm>
            <a:off x="6812280" y="2908554"/>
            <a:ext cx="439186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뭐뭐 고려했나 · 안 고른 건 왜 뺐나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5760720" y="3493008"/>
            <a:ext cx="5580583" cy="1024128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6035040" y="3493008"/>
            <a:ext cx="6400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ㄷ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6812280" y="3685032"/>
            <a:ext cx="43918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선택과 근거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 txBox="1"/>
          <p:nvPr/>
        </p:nvSpPr>
        <p:spPr>
          <a:xfrm>
            <a:off x="6812280" y="4078986"/>
            <a:ext cx="439186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이 패턴 · 이 구조인가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5760720" y="4663440"/>
            <a:ext cx="5580583" cy="1024128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 txBox="1"/>
          <p:nvPr/>
        </p:nvSpPr>
        <p:spPr>
          <a:xfrm>
            <a:off x="6035040" y="4663440"/>
            <a:ext cx="6400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 txBox="1"/>
          <p:nvPr/>
        </p:nvSpPr>
        <p:spPr>
          <a:xfrm>
            <a:off x="6812280" y="4855464"/>
            <a:ext cx="43918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효과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 txBox="1"/>
          <p:nvPr/>
        </p:nvSpPr>
        <p:spPr>
          <a:xfrm>
            <a:off x="6812280" y="5249418"/>
            <a:ext cx="439186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뭐가 달라졌나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 txBox="1"/>
          <p:nvPr/>
        </p:nvSpPr>
        <p:spPr>
          <a:xfrm>
            <a:off x="2524042" y="594333"/>
            <a:ext cx="4755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ㅁㄴㅇㄹ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ㄱ  맥락과 문제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여덟 개의 화면을 하나의 페이지에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이현우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풀어야 했나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850392" y="2139696"/>
            <a:ext cx="566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판에 페이즈가 여덟,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화면도 여덟이었습니다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850392" y="3410712"/>
            <a:ext cx="109800" cy="1098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"/>
          <p:cNvSpPr txBox="1"/>
          <p:nvPr/>
        </p:nvSpPr>
        <p:spPr>
          <a:xfrm>
            <a:off x="1143000" y="3282696"/>
            <a:ext cx="5493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페이즈마다 컴포넌트를 하나씩</a:t>
            </a: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두고 switch로 통째로 </a:t>
            </a:r>
            <a:r>
              <a:rPr b="1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갈아끼웠습니다</a:t>
            </a: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850392" y="4325112"/>
            <a:ext cx="109800" cy="1098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1143000" y="4197096"/>
            <a:ext cx="537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화면이 교체되니 채팅이 매번 새로 마운트됩니다</a:t>
            </a:r>
            <a:b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스크롤 위치와 입력하던 글이 사라집니다.</a:t>
            </a:r>
            <a:endParaRPr b="0" i="0" sz="18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850392" y="5239512"/>
            <a:ext cx="109800" cy="1098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"/>
          <p:cNvSpPr txBox="1"/>
          <p:nvPr/>
        </p:nvSpPr>
        <p:spPr>
          <a:xfrm>
            <a:off x="1143000" y="5111496"/>
            <a:ext cx="537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조건을 여덟 곳에 각자 박아뒀습니다</a:t>
            </a:r>
            <a:b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한 곳만 고치면 나머지가 어긋납니다.</a:t>
            </a:r>
            <a:endParaRPr b="0" i="0" sz="18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8"/>
          <p:cNvSpPr txBox="1"/>
          <p:nvPr/>
        </p:nvSpPr>
        <p:spPr>
          <a:xfrm>
            <a:off x="850392" y="6025896"/>
            <a:ext cx="592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흐름이 이어지는 게임인데, 단계가 넘어갈 때마다 화면이 끊겼습니다.</a:t>
            </a:r>
            <a:endParaRPr b="1" i="0" sz="1500" u="none" cap="none" strike="noStrike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6931152" y="2139696"/>
            <a:ext cx="4410300" cy="40233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 txBox="1"/>
          <p:nvPr/>
        </p:nvSpPr>
        <p:spPr>
          <a:xfrm>
            <a:off x="7187184" y="2322576"/>
            <a:ext cx="3898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v1.0  GameScreen.tsx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7187184" y="2670048"/>
            <a:ext cx="38982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switch (state.phase)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'roleReveal':   return &lt;RoleReveal /&gt;;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'describe':     return &lt;Describe /&gt;;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'debate':       return &lt;Debate /&gt;;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'finalDefense': return &lt;FinalDefense /&gt;;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'lifeVote':     return &lt;LifeVote /&gt;;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'reveal':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case 'guessWord':    return &lt;Reveal /&gt;;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// Debate.tsx       &lt;Chat locked={false} /&gt;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// FinalDefense.tsx &lt;Chat locked={true}  /&gt;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// LifeVote.tsx     &lt;Chat locked={true}  /&gt;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//   ↑ 같은 조건이 화면마다 따로 박혀 있다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ㄴ  대안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고려한 세 가지 안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이현우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빼고 무엇을 남겼나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850392" y="2139696"/>
            <a:ext cx="3283610" cy="35661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 txBox="1"/>
          <p:nvPr/>
        </p:nvSpPr>
        <p:spPr>
          <a:xfrm>
            <a:off x="1124712" y="23957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 txBox="1"/>
          <p:nvPr/>
        </p:nvSpPr>
        <p:spPr>
          <a:xfrm>
            <a:off x="3082442" y="2395728"/>
            <a:ext cx="777240" cy="32918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 txBox="1"/>
          <p:nvPr/>
        </p:nvSpPr>
        <p:spPr>
          <a:xfrm>
            <a:off x="1124712" y="2916936"/>
            <a:ext cx="273497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react-router로</a:t>
            </a:r>
            <a:endParaRPr b="1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페이즈마다 URL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1124712" y="4078191"/>
            <a:ext cx="2735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i="0" lang="en-US" sz="1400" u="none" cap="none" strike="noStrike">
                <a:solidFill>
                  <a:srgbClr val="575757"/>
                </a:solidFill>
                <a:latin typeface="Hahmlet Medium"/>
                <a:ea typeface="Hahmlet Medium"/>
                <a:cs typeface="Hahmlet Medium"/>
                <a:sym typeface="Hahmlet Medium"/>
              </a:rPr>
              <a:t>URL이 또 하나의 진실이 됩니다. 서버 상태와 두 출처를 계속 맞춰야 하고, 새로고침·뒤로가기가 진행 중인 판을 깹니다.</a:t>
            </a:r>
            <a:endParaRPr i="0" sz="1400" u="none" cap="none" strike="noStrike">
              <a:solidFill>
                <a:schemeClr val="dk1"/>
              </a:solidFill>
              <a:latin typeface="Hahmlet Medium"/>
              <a:ea typeface="Hahmlet Medium"/>
              <a:cs typeface="Hahmlet Medium"/>
              <a:sym typeface="Hahmlet Medium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454042" y="2139696"/>
            <a:ext cx="3283610" cy="35661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4728362" y="23957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 txBox="1"/>
          <p:nvPr/>
        </p:nvSpPr>
        <p:spPr>
          <a:xfrm>
            <a:off x="6686093" y="2395728"/>
            <a:ext cx="777240" cy="32918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 txBox="1"/>
          <p:nvPr/>
        </p:nvSpPr>
        <p:spPr>
          <a:xfrm>
            <a:off x="4728362" y="2916936"/>
            <a:ext cx="273497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컴포넌트는 두고</a:t>
            </a:r>
            <a:endParaRPr b="1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채팅만 위로 올리기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 txBox="1"/>
          <p:nvPr/>
        </p:nvSpPr>
        <p:spPr>
          <a:xfrm>
            <a:off x="4728362" y="4014216"/>
            <a:ext cx="273497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1" i="0" lang="en-US" u="none" cap="none" strike="noStrike">
                <a:solidFill>
                  <a:srgbClr val="575757"/>
                </a:solidFill>
                <a:latin typeface="Orbit"/>
                <a:ea typeface="Orbit"/>
                <a:cs typeface="Orbit"/>
                <a:sym typeface="Orbit"/>
              </a:rPr>
              <a:t>채팅은 살아남지만 잠금·투표패널 조건은 여전히 여덟 곳에 흩어져 있습니다. 문제의 절반만 푸는 안이었습니다.</a:t>
            </a:r>
            <a:endParaRPr b="1" i="0" u="none" cap="none" strike="noStrike">
              <a:solidFill>
                <a:schemeClr val="dk1"/>
              </a:solidFill>
              <a:latin typeface="Orbit"/>
              <a:ea typeface="Orbit"/>
              <a:cs typeface="Orbit"/>
              <a:sym typeface="Orbit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8057693" y="2139696"/>
            <a:ext cx="3283610" cy="356616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8332013" y="23957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10289743" y="2395728"/>
            <a:ext cx="777240" cy="32918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060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 txBox="1"/>
          <p:nvPr/>
        </p:nvSpPr>
        <p:spPr>
          <a:xfrm>
            <a:off x="8332013" y="2916936"/>
            <a:ext cx="273497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화면은 하나,</a:t>
            </a:r>
            <a:endParaRPr b="1" i="0" sz="2100" u="none" cap="none" strike="noStrike">
              <a:solidFill>
                <a:srgbClr val="F3E6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페이즈는 값으로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 txBox="1"/>
          <p:nvPr/>
        </p:nvSpPr>
        <p:spPr>
          <a:xfrm>
            <a:off x="8332013" y="4014216"/>
            <a:ext cx="273497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상태 하나만 믿으면 됩니다. 페이즈가 바뀌어도 화면은 그대로 있고, 조건은 한 곳에 모입니다.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 txBox="1"/>
          <p:nvPr/>
        </p:nvSpPr>
        <p:spPr>
          <a:xfrm>
            <a:off x="850392" y="5934456"/>
            <a:ext cx="1049091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안의 차이는 결국 하나였습니다 — 화면의 상태를 몇 군데서 결정하는가.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ㄷ  선택과 근거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여덟 개인데, 달랐던 건 네 가지뿐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이현우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이 구조인가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850392" y="2139696"/>
            <a:ext cx="2458136" cy="84124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 txBox="1"/>
          <p:nvPr/>
        </p:nvSpPr>
        <p:spPr>
          <a:xfrm>
            <a:off x="938784" y="2168271"/>
            <a:ext cx="25130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채팅을 잠글 것인가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3527984" y="2139696"/>
            <a:ext cx="2458136" cy="84124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3540176" y="2168271"/>
            <a:ext cx="267759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투표 패널을 켤 것인가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6205576" y="2139696"/>
            <a:ext cx="2458136" cy="84124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 txBox="1"/>
          <p:nvPr/>
        </p:nvSpPr>
        <p:spPr>
          <a:xfrm>
            <a:off x="6255868" y="2149221"/>
            <a:ext cx="2677591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 배너를 띄울 것인가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8883167" y="2139696"/>
            <a:ext cx="2458136" cy="84124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 txBox="1"/>
          <p:nvPr/>
        </p:nvSpPr>
        <p:spPr>
          <a:xfrm>
            <a:off x="8952508" y="2168271"/>
            <a:ext cx="2541701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 문구는 무엇인가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 txBox="1"/>
          <p:nvPr/>
        </p:nvSpPr>
        <p:spPr>
          <a:xfrm>
            <a:off x="850392" y="3099816"/>
            <a:ext cx="1049091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   페이즈를 화면이 아니라 “네 축의 값”으로 해석하는 순수 함수 하나에 모았습니다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850392" y="3557016"/>
            <a:ext cx="5943600" cy="3073146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 txBox="1"/>
          <p:nvPr/>
        </p:nvSpPr>
        <p:spPr>
          <a:xfrm>
            <a:off x="1106424" y="3739896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현재  GameScreen.tsx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1106424" y="4087368"/>
            <a:ext cx="5431536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const modalInfo = modalFor(state, onEvent);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//  ↑ 어느 팝업을 띄울지, 입력을 잠글지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//    판단은 여기 한 곳에서만 한다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return &lt;MainScreen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       state={state}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       blocked={modalInfo !== null}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         modal={modal} /&gt;;   // 화면 1개 = return 1개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 txBox="1"/>
          <p:nvPr/>
        </p:nvSpPr>
        <p:spPr>
          <a:xfrm>
            <a:off x="7205472" y="3557016"/>
            <a:ext cx="413583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상태가 유일한 진실입니다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 txBox="1"/>
          <p:nvPr/>
        </p:nvSpPr>
        <p:spPr>
          <a:xfrm>
            <a:off x="7205472" y="4010787"/>
            <a:ext cx="41358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화면은 그 상태를 받아 그리는 함수일 뿐이라, 맞출 출처가 하나뿐입니다.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7205472" y="4675251"/>
            <a:ext cx="413583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조건이 한 곳에 모입니다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 txBox="1"/>
          <p:nvPr/>
        </p:nvSpPr>
        <p:spPr>
          <a:xfrm>
            <a:off x="7205472" y="5138547"/>
            <a:ext cx="428873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잠금 규칙을 바꿀 때 고칠 곳이 여덟 군데에서 한 군데가 됐습니다.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 txBox="1"/>
          <p:nvPr/>
        </p:nvSpPr>
        <p:spPr>
          <a:xfrm>
            <a:off x="7205472" y="5803011"/>
            <a:ext cx="467558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페이즈가 늘어도 return은 늘지 않습니다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7205471" y="6237732"/>
            <a:ext cx="396649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단계는 화면이 아니라 modalFor의 분기로 붙습니다.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ㄹ  효과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무엇이 달라졌나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이현우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측정한 것만 적었습니다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850392" y="2139696"/>
            <a:ext cx="3283610" cy="1783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 txBox="1"/>
          <p:nvPr/>
        </p:nvSpPr>
        <p:spPr>
          <a:xfrm>
            <a:off x="1106424" y="2368296"/>
            <a:ext cx="277154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5개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 txBox="1"/>
          <p:nvPr/>
        </p:nvSpPr>
        <p:spPr>
          <a:xfrm>
            <a:off x="1106424" y="3035808"/>
            <a:ext cx="2771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GameScreen.tsx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 txBox="1"/>
          <p:nvPr/>
        </p:nvSpPr>
        <p:spPr>
          <a:xfrm>
            <a:off x="1106424" y="3413379"/>
            <a:ext cx="2771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페이즈마다 하나</a:t>
            </a:r>
            <a:b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채팅 상주 + 팝업 4종</a:t>
            </a:r>
            <a:endParaRPr b="0" i="0" sz="15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454042" y="2139696"/>
            <a:ext cx="3283610" cy="1783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 txBox="1"/>
          <p:nvPr/>
        </p:nvSpPr>
        <p:spPr>
          <a:xfrm>
            <a:off x="4710074" y="2368296"/>
            <a:ext cx="277154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여덟 → 넷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4710074" y="3035808"/>
            <a:ext cx="2771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달랐던 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 txBox="1"/>
          <p:nvPr/>
        </p:nvSpPr>
        <p:spPr>
          <a:xfrm>
            <a:off x="4710074" y="3413379"/>
            <a:ext cx="2771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화면을 세는 대신 무엇이 다른지를 셌습니다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8057693" y="2139696"/>
            <a:ext cx="3283610" cy="1783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 txBox="1"/>
          <p:nvPr/>
        </p:nvSpPr>
        <p:spPr>
          <a:xfrm>
            <a:off x="8313725" y="2368296"/>
            <a:ext cx="277154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끊김 → 유지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 txBox="1"/>
          <p:nvPr/>
        </p:nvSpPr>
        <p:spPr>
          <a:xfrm>
            <a:off x="8313725" y="3035808"/>
            <a:ext cx="2771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스크롤 · 입력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 txBox="1"/>
          <p:nvPr/>
        </p:nvSpPr>
        <p:spPr>
          <a:xfrm>
            <a:off x="8313725" y="3403854"/>
            <a:ext cx="2771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페이즈가 넘어가도 채팅이</a:t>
            </a:r>
            <a:endParaRPr b="0" i="0" sz="15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마운트되지 않습니다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850392" y="4197096"/>
            <a:ext cx="10490911" cy="169164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 txBox="1"/>
          <p:nvPr/>
        </p:nvSpPr>
        <p:spPr>
          <a:xfrm>
            <a:off x="1025652" y="4320921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덤으로 잡힌 것 — 진짜 폰은 달랐습니다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7552" y="4837176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PC 창을 줄여 만든 모바일에서는 의도대로 동작했습니다.</a:t>
            </a:r>
            <a:endParaRPr b="0" i="0" sz="13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배포하고 폰으로 하자, 대화가 쌓일수록 채팅 입력이 밀렸습니다.</a:t>
            </a:r>
            <a:endParaRPr b="0" i="0" sz="13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p11"/>
          <p:cNvSpPr txBox="1"/>
          <p:nvPr/>
        </p:nvSpPr>
        <p:spPr>
          <a:xfrm>
            <a:off x="6000750" y="4311396"/>
            <a:ext cx="524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하나당 메시지 전체를 다시 그리고 있었습니다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 txBox="1"/>
          <p:nvPr/>
        </p:nvSpPr>
        <p:spPr>
          <a:xfrm>
            <a:off x="5974292" y="4846701"/>
            <a:ext cx="53642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누가 투표함 · 봇이 말함 · 페이즈가 넘어감 — 모든 이벤트마다 목록 전체를 다시 그렸습니다.</a:t>
            </a:r>
            <a:endParaRPr b="0" i="0" sz="15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PC는 여유로 흡수했고 모바일에서는 그대로 렉이 됐습니다. </a:t>
            </a:r>
            <a:b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측정한 뒤에야 손댔습니다.</a:t>
            </a:r>
            <a:endParaRPr b="0" i="0" sz="15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구조 그대로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쓸 수 있는 곳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850392" y="2139696"/>
            <a:ext cx="5062576" cy="1737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 txBox="1"/>
          <p:nvPr/>
        </p:nvSpPr>
        <p:spPr>
          <a:xfrm>
            <a:off x="1143000" y="23774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 txBox="1"/>
          <p:nvPr/>
        </p:nvSpPr>
        <p:spPr>
          <a:xfrm>
            <a:off x="1764792" y="2359152"/>
            <a:ext cx="3873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원격 팀빌딩 아이스브레이킹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 txBox="1"/>
          <p:nvPr/>
        </p:nvSpPr>
        <p:spPr>
          <a:xfrm>
            <a:off x="1764792" y="2852928"/>
            <a:ext cx="38738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설치도 계정도 없이 링크 하나. 인원이 맞지 않아도 봇이 채우니 판이 섭니다. 팀·동아리 대상 비공개방이 그대로 B2B 상품이 됩니다.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6278728" y="2139696"/>
            <a:ext cx="5062576" cy="1737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 txBox="1"/>
          <p:nvPr/>
        </p:nvSpPr>
        <p:spPr>
          <a:xfrm>
            <a:off x="6571336" y="23774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 txBox="1"/>
          <p:nvPr/>
        </p:nvSpPr>
        <p:spPr>
          <a:xfrm>
            <a:off x="7193128" y="2359152"/>
            <a:ext cx="3873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리터러시 체험 교육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 txBox="1"/>
          <p:nvPr/>
        </p:nvSpPr>
        <p:spPr>
          <a:xfrm>
            <a:off x="7193128" y="2852928"/>
            <a:ext cx="38738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“LLM은 어디서 티가 나는가”를 강의가 아니라 한 판으로 겪게 합니다. 끝나고 자기가 왜 그렇게 느꼈는지 태그로 정리합니다.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850392" y="4197096"/>
            <a:ext cx="5062576" cy="1737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 txBox="1"/>
          <p:nvPr/>
        </p:nvSpPr>
        <p:spPr>
          <a:xfrm>
            <a:off x="1143000" y="44348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1764792" y="4416552"/>
            <a:ext cx="3873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 사유 데이터셋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 txBox="1"/>
          <p:nvPr/>
        </p:nvSpPr>
        <p:spPr>
          <a:xfrm>
            <a:off x="1764792" y="4910328"/>
            <a:ext cx="38738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설문에서 모이는 태그와 자유 서술이 실제 산출물입니다. “사람이 봇을 알아채는 지점”이 감이 아니라 기록으로 남습니다.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6278728" y="4197096"/>
            <a:ext cx="5062576" cy="1737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 txBox="1"/>
          <p:nvPr/>
        </p:nvSpPr>
        <p:spPr>
          <a:xfrm>
            <a:off x="6571336" y="44348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 txBox="1"/>
          <p:nvPr/>
        </p:nvSpPr>
        <p:spPr>
          <a:xfrm>
            <a:off x="7193128" y="4416552"/>
            <a:ext cx="3873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소셜 디덕션 룰 확장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 txBox="1"/>
          <p:nvPr/>
        </p:nvSpPr>
        <p:spPr>
          <a:xfrm>
            <a:off x="7193128" y="4910328"/>
            <a:ext cx="38738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 상태와 정보 격리는 룰과 분리돼 있습니다. 규칙 정의만 바꾸면 다른 소셜 디덕션 게임을 얹을 수 있습니다.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850392" y="6156960"/>
            <a:ext cx="1049091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넷 다 새 기능이 아니라, 지금 만들어 둔 구조를 어디에 두느냐의 문제입니다.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 · 사업성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0단계에서 실행 가능한 것은 하나뿐입니다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 모델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지속 가능성 검토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850392" y="2139696"/>
            <a:ext cx="6400800" cy="4248149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3"/>
          <p:cNvSpPr txBox="1"/>
          <p:nvPr/>
        </p:nvSpPr>
        <p:spPr>
          <a:xfrm>
            <a:off x="1170432" y="243306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 txBox="1"/>
          <p:nvPr/>
        </p:nvSpPr>
        <p:spPr>
          <a:xfrm>
            <a:off x="1170432" y="2838831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· 인트로 화면 광고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 txBox="1"/>
          <p:nvPr/>
        </p:nvSpPr>
        <p:spPr>
          <a:xfrm>
            <a:off x="1170432" y="3376803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어디에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 txBox="1"/>
          <p:nvPr/>
        </p:nvSpPr>
        <p:spPr>
          <a:xfrm>
            <a:off x="2176272" y="3386328"/>
            <a:ext cx="48882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 · 대기실 등 게임 시작 전 인트로 화면에만 배치합니다.</a:t>
            </a:r>
            <a:endParaRPr b="0" i="0" sz="14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1170432" y="4037457"/>
            <a:ext cx="1249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거기만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 txBox="1"/>
          <p:nvPr/>
        </p:nvSpPr>
        <p:spPr>
          <a:xfrm>
            <a:off x="2176272" y="406603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화면에는 넣지 않습니다 — 몰입을 깨고, 화면 정보와 섞이면 안 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 txBox="1"/>
          <p:nvPr/>
        </p:nvSpPr>
        <p:spPr>
          <a:xfrm>
            <a:off x="1170432" y="480288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 txBox="1"/>
          <p:nvPr/>
        </p:nvSpPr>
        <p:spPr>
          <a:xfrm>
            <a:off x="2176272" y="48219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큰 수익이 아니라 서버 유지비 충당입니다. 트래픽이 없는 지금 단계에서 즉시 실행 가능한 유일한 모델입니다.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 txBox="1"/>
          <p:nvPr/>
        </p:nvSpPr>
        <p:spPr>
          <a:xfrm>
            <a:off x="1170432" y="5568315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 txBox="1"/>
          <p:nvPr/>
        </p:nvSpPr>
        <p:spPr>
          <a:xfrm>
            <a:off x="2176272" y="559689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애드블록 사용자에게는 애초에 노출되지 않습니다. 같은 이유로 “광고 제거 유료화”는 기각했습니다.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 txBox="1"/>
          <p:nvPr/>
        </p:nvSpPr>
        <p:spPr>
          <a:xfrm>
            <a:off x="7662672" y="22722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7662672" y="2650236"/>
            <a:ext cx="36786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버전 글로벌 동시 런칭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 txBox="1"/>
          <p:nvPr/>
        </p:nvSpPr>
        <p:spPr>
          <a:xfrm>
            <a:off x="7662673" y="3069336"/>
            <a:ext cx="440888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 리소스는 1회, 언어만 추가하면 됩니다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텍스트 UI라 현지화 비용이 낮습니다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K-컬처 확산 경로 — BTS 뷔 방송 후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Goose Goose Duck 동시접속 100배 사례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히스토리와 결론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v1.0 → 최종</a:t>
            </a:r>
            <a:endParaRPr b="1" i="0" sz="18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4주 동안 알게 된 것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850392" y="2578608"/>
            <a:ext cx="10490911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5"/>
          <p:cNvSpPr txBox="1"/>
          <p:nvPr/>
        </p:nvSpPr>
        <p:spPr>
          <a:xfrm>
            <a:off x="850392" y="2139696"/>
            <a:ext cx="15960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07 / 29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868680" y="2468880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850392" y="2798064"/>
            <a:ext cx="15960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v1.0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850392" y="3223260"/>
            <a:ext cx="15960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여러 명이 섞인 마피아 게임</a:t>
            </a:r>
            <a:endParaRPr b="0" i="0" sz="14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2629357" y="2139696"/>
            <a:ext cx="15960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 /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2647645" y="2468880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2629357" y="2798064"/>
            <a:ext cx="15960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v2.0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 txBox="1"/>
          <p:nvPr/>
        </p:nvSpPr>
        <p:spPr>
          <a:xfrm>
            <a:off x="2619832" y="3213735"/>
            <a:ext cx="191155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게임으로 변경</a:t>
            </a:r>
            <a:endParaRPr b="0" i="0" sz="15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 고정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4408322" y="2139696"/>
            <a:ext cx="15960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 / 19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4426610" y="2468880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 txBox="1"/>
          <p:nvPr/>
        </p:nvSpPr>
        <p:spPr>
          <a:xfrm>
            <a:off x="4408322" y="2798064"/>
            <a:ext cx="15960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 txBox="1"/>
          <p:nvPr/>
        </p:nvSpPr>
        <p:spPr>
          <a:xfrm>
            <a:off x="4417847" y="3204210"/>
            <a:ext cx="15960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완료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6187288" y="2139696"/>
            <a:ext cx="15960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 / 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6205576" y="2468880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 txBox="1"/>
          <p:nvPr/>
        </p:nvSpPr>
        <p:spPr>
          <a:xfrm>
            <a:off x="6187288" y="2798064"/>
            <a:ext cx="15960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v4.0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6158713" y="3204210"/>
            <a:ext cx="15960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lang="en-US" sz="16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리플레이 · </a:t>
            </a: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· 방목록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7966253" y="2139696"/>
            <a:ext cx="15960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 / 30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7984541" y="2468880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5"/>
          <p:cNvSpPr txBox="1"/>
          <p:nvPr/>
        </p:nvSpPr>
        <p:spPr>
          <a:xfrm>
            <a:off x="7966253" y="2798064"/>
            <a:ext cx="15960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동결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7966253" y="3175635"/>
            <a:ext cx="15960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안정화만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 txBox="1"/>
          <p:nvPr/>
        </p:nvSpPr>
        <p:spPr>
          <a:xfrm>
            <a:off x="9745218" y="2139696"/>
            <a:ext cx="15960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09 /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9763506" y="2468880"/>
            <a:ext cx="228600" cy="2286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 txBox="1"/>
          <p:nvPr/>
        </p:nvSpPr>
        <p:spPr>
          <a:xfrm>
            <a:off x="9745218" y="2798064"/>
            <a:ext cx="15960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 txBox="1"/>
          <p:nvPr/>
        </p:nvSpPr>
        <p:spPr>
          <a:xfrm>
            <a:off x="9754743" y="3166110"/>
            <a:ext cx="15960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Malgun Gothic"/>
              <a:buNone/>
            </a:pPr>
            <a:r>
              <a:rPr b="0" i="0" lang="en-US" sz="2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850392" y="3826764"/>
            <a:ext cx="10490911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 txBox="1"/>
          <p:nvPr/>
        </p:nvSpPr>
        <p:spPr>
          <a:xfrm>
            <a:off x="840867" y="4155567"/>
            <a:ext cx="1596085" cy="259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누적 변화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 txBox="1"/>
          <p:nvPr/>
        </p:nvSpPr>
        <p:spPr>
          <a:xfrm>
            <a:off x="2660142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수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28 → </a:t>
            </a: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86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 txBox="1"/>
          <p:nvPr/>
        </p:nvSpPr>
        <p:spPr>
          <a:xfrm>
            <a:off x="2660142" y="4323969"/>
            <a:ext cx="2348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 txBox="1"/>
          <p:nvPr/>
        </p:nvSpPr>
        <p:spPr>
          <a:xfrm>
            <a:off x="4749470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 → 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 txBox="1"/>
          <p:nvPr/>
        </p:nvSpPr>
        <p:spPr>
          <a:xfrm>
            <a:off x="4749470" y="4304919"/>
            <a:ext cx="2348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 10테이블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 txBox="1"/>
          <p:nvPr/>
        </p:nvSpPr>
        <p:spPr>
          <a:xfrm>
            <a:off x="7143598" y="4011549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미정 → Railway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 txBox="1"/>
          <p:nvPr/>
        </p:nvSpPr>
        <p:spPr>
          <a:xfrm>
            <a:off x="7143598" y="4314444"/>
            <a:ext cx="2348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접속됩니다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 txBox="1"/>
          <p:nvPr/>
        </p:nvSpPr>
        <p:spPr>
          <a:xfrm>
            <a:off x="9461525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5개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 txBox="1"/>
          <p:nvPr/>
        </p:nvSpPr>
        <p:spPr>
          <a:xfrm>
            <a:off x="9461525" y="4295394"/>
            <a:ext cx="2348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GameScreen.tsx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" name="Google Shape;580;p15"/>
          <p:cNvGrpSpPr/>
          <p:nvPr/>
        </p:nvGrpSpPr>
        <p:grpSpPr>
          <a:xfrm>
            <a:off x="850392" y="4792980"/>
            <a:ext cx="10490911" cy="1810512"/>
            <a:chOff x="850392" y="4754880"/>
            <a:chExt cx="10490911" cy="1810512"/>
          </a:xfrm>
        </p:grpSpPr>
        <p:sp>
          <p:nvSpPr>
            <p:cNvPr id="581" name="Google Shape;581;p15"/>
            <p:cNvSpPr/>
            <p:nvPr/>
          </p:nvSpPr>
          <p:spPr>
            <a:xfrm>
              <a:off x="850392" y="4754880"/>
              <a:ext cx="10490911" cy="1810512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5"/>
            <p:cNvSpPr txBox="1"/>
            <p:nvPr/>
          </p:nvSpPr>
          <p:spPr>
            <a:xfrm>
              <a:off x="1216152" y="4944999"/>
              <a:ext cx="9759391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600"/>
                <a:buFont typeface="Malgun Gothic"/>
                <a:buNone/>
              </a:pPr>
              <a:r>
                <a:rPr b="1" i="0" lang="en-US" sz="26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결론 — 4주 동안 알게 된 것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5"/>
            <p:cNvSpPr txBox="1"/>
            <p:nvPr/>
          </p:nvSpPr>
          <p:spPr>
            <a:xfrm>
              <a:off x="1216152" y="5294757"/>
              <a:ext cx="9759391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100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오프라인에서 저절로 지켜지던 규칙은,</a:t>
              </a:r>
              <a:endParaRPr b="1" i="0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100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코드로 옮기는 순간 전부 「어떻게 강제하지?」가 됩니다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5"/>
            <p:cNvSpPr txBox="1"/>
            <p:nvPr/>
          </p:nvSpPr>
          <p:spPr>
            <a:xfrm>
              <a:off x="1216152" y="6162294"/>
              <a:ext cx="98508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3BFC0"/>
                </a:buClr>
                <a:buSzPts val="1300"/>
                <a:buFont typeface="Malgun Gothic"/>
                <a:buNone/>
              </a:pPr>
              <a:r>
                <a:rPr b="1" i="0" lang="en-US" sz="1300" u="none" cap="none" strike="noStrike">
                  <a:solidFill>
                    <a:srgbClr val="D3BFC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제시어를 감추는 것, 순서를 지키는 것, 정보를 흘리지 않는 것 — 사람이 알아서 하던 일을 전부 코드가 강제하게 만든 4주였습니다.</a:t>
              </a:r>
              <a:endParaRPr b="1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"/>
          <p:cNvSpPr txBox="1"/>
          <p:nvPr/>
        </p:nvSpPr>
        <p:spPr>
          <a:xfrm>
            <a:off x="850392" y="777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09  ·  마지막 순서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 txBox="1"/>
          <p:nvPr/>
        </p:nvSpPr>
        <p:spPr>
          <a:xfrm>
            <a:off x="850392" y="11430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· 한 판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 txBox="1"/>
          <p:nvPr/>
        </p:nvSpPr>
        <p:spPr>
          <a:xfrm>
            <a:off x="6858000" y="1325880"/>
            <a:ext cx="44833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4분 · 사람 4 + 봇 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850392" y="2103120"/>
            <a:ext cx="10490911" cy="10973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 txBox="1"/>
          <p:nvPr/>
        </p:nvSpPr>
        <p:spPr>
          <a:xfrm>
            <a:off x="850392" y="233172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0:00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856232" y="231343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방을 만들고 넷이 입장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6976872" y="2313432"/>
            <a:ext cx="43644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1명이 자동으로 자리를 채웁니다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850392" y="2788920"/>
            <a:ext cx="10490911" cy="91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/>
          <p:cNvSpPr txBox="1"/>
          <p:nvPr/>
        </p:nvSpPr>
        <p:spPr>
          <a:xfrm>
            <a:off x="850392" y="2990088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0:30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856232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배정 → 묘사 한 바퀴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6976873" y="2971800"/>
            <a:ext cx="46501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라이어만 제시어를 모른 채 한 문장을 냅니다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850392" y="3447288"/>
            <a:ext cx="10490911" cy="91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 txBox="1"/>
          <p:nvPr/>
        </p:nvSpPr>
        <p:spPr>
          <a:xfrm>
            <a:off x="850392" y="3648456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1:10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856232" y="363016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토론 + 투표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6976872" y="3630168"/>
            <a:ext cx="43644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봇의 발언 지연 지점을 짚어 보여줍니다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850392" y="4105656"/>
            <a:ext cx="10490911" cy="91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6"/>
          <p:cNvSpPr txBox="1"/>
          <p:nvPr/>
        </p:nvSpPr>
        <p:spPr>
          <a:xfrm>
            <a:off x="850392" y="4306824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2:20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 txBox="1"/>
          <p:nvPr/>
        </p:nvSpPr>
        <p:spPr>
          <a:xfrm>
            <a:off x="1856232" y="4288536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최후 변론 → 생사 투표 → 정체 공개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6976872" y="4288536"/>
            <a:ext cx="50523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지목된 사람이 해명하고, 본인 제외 과반으로 결정됩니다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850392" y="4764024"/>
            <a:ext cx="10490911" cy="91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 txBox="1"/>
          <p:nvPr/>
        </p:nvSpPr>
        <p:spPr>
          <a:xfrm>
            <a:off x="850392" y="49651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3:00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856232" y="494690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지목 → 최종 결과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6976872" y="4946904"/>
            <a:ext cx="50523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“이 중 누가 사람이 아니었나” — 두 결과를 나란히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850392" y="5422392"/>
            <a:ext cx="10490911" cy="91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 txBox="1"/>
          <p:nvPr/>
        </p:nvSpPr>
        <p:spPr>
          <a:xfrm>
            <a:off x="850392" y="562356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3:40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856232" y="560527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6976872" y="5605272"/>
            <a:ext cx="50523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봇이라고 생각했는지 태그로 수집합니다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850392" y="6250305"/>
            <a:ext cx="32004" cy="36576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"/>
          <p:cNvSpPr txBox="1"/>
          <p:nvPr/>
        </p:nvSpPr>
        <p:spPr>
          <a:xfrm>
            <a:off x="1078992" y="6259830"/>
            <a:ext cx="1026231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장애 대비 — 같은 판을 미리 녹화해 두었습니다. 네트워크가 막히면 즉시 녹화본으로 전환합니다.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7"/>
          <p:cNvSpPr/>
          <p:nvPr/>
        </p:nvSpPr>
        <p:spPr>
          <a:xfrm>
            <a:off x="4754880" y="1272540"/>
            <a:ext cx="2651760" cy="2651760"/>
          </a:xfrm>
          <a:prstGeom prst="ellipse">
            <a:avLst/>
          </a:prstGeom>
          <a:noFill/>
          <a:ln cap="flat" cmpd="sng" w="25400">
            <a:solidFill>
              <a:srgbClr val="4A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 txBox="1"/>
          <p:nvPr/>
        </p:nvSpPr>
        <p:spPr>
          <a:xfrm>
            <a:off x="4754880" y="127254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9600"/>
              <a:buFont typeface="Malgun Gothic"/>
              <a:buNone/>
            </a:pPr>
            <a:r>
              <a:rPr b="1" i="0" lang="en-US" sz="9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 txBox="1"/>
          <p:nvPr/>
        </p:nvSpPr>
        <p:spPr>
          <a:xfrm>
            <a:off x="0" y="452247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중 하나는 사람이 아닙니다</a:t>
            </a:r>
            <a:endParaRPr b="1" i="0" sz="3000" u="none" cap="none" strike="noStrike">
              <a:solidFill>
                <a:srgbClr val="F3E6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5410048" y="520446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7"/>
          <p:cNvSpPr txBox="1"/>
          <p:nvPr/>
        </p:nvSpPr>
        <p:spPr>
          <a:xfrm>
            <a:off x="0" y="542925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  ·  Q &amp; 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 txBox="1"/>
          <p:nvPr/>
        </p:nvSpPr>
        <p:spPr>
          <a:xfrm>
            <a:off x="0" y="59588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7C7E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9B7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0" name="Google Shape;630;p17"/>
          <p:cNvGrpSpPr/>
          <p:nvPr/>
        </p:nvGrpSpPr>
        <p:grpSpPr>
          <a:xfrm>
            <a:off x="4685827" y="325299"/>
            <a:ext cx="2820345" cy="4063821"/>
            <a:chOff x="6754971" y="392342"/>
            <a:chExt cx="3019411" cy="4235271"/>
          </a:xfrm>
        </p:grpSpPr>
        <p:sp>
          <p:nvSpPr>
            <p:cNvPr id="631" name="Google Shape;631;p17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2" name="Google Shape;63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 txBox="1"/>
          <p:nvPr/>
        </p:nvSpPr>
        <p:spPr>
          <a:xfrm>
            <a:off x="502920" y="31089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</a:t>
            </a:r>
            <a:endParaRPr/>
          </a:p>
        </p:txBody>
      </p:sp>
      <p:sp>
        <p:nvSpPr>
          <p:cNvPr id="640" name="Google Shape;640;p18"/>
          <p:cNvSpPr txBox="1"/>
          <p:nvPr/>
        </p:nvSpPr>
        <p:spPr>
          <a:xfrm>
            <a:off x="502920" y="548640"/>
            <a:ext cx="6400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컴포넌트 · 타이포 · 도식</a:t>
            </a:r>
            <a:endParaRPr/>
          </a:p>
        </p:txBody>
      </p:sp>
      <p:sp>
        <p:nvSpPr>
          <p:cNvPr id="641" name="Google Shape;641;p18"/>
          <p:cNvSpPr txBox="1"/>
          <p:nvPr/>
        </p:nvSpPr>
        <p:spPr>
          <a:xfrm>
            <a:off x="7482809" y="56692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요소를 이 장에서 복사해 쓰세요</a:t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>
            <a:off x="502920" y="1133856"/>
            <a:ext cx="11186129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8"/>
          <p:cNvSpPr txBox="1"/>
          <p:nvPr/>
        </p:nvSpPr>
        <p:spPr>
          <a:xfrm>
            <a:off x="502920" y="137160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  ·  tokens.css</a:t>
            </a:r>
            <a:endParaRPr/>
          </a:p>
        </p:txBody>
      </p:sp>
      <p:sp>
        <p:nvSpPr>
          <p:cNvPr id="644" name="Google Shape;644;p18"/>
          <p:cNvSpPr/>
          <p:nvPr/>
        </p:nvSpPr>
        <p:spPr>
          <a:xfrm>
            <a:off x="502920" y="1627632"/>
            <a:ext cx="3611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502920" y="1792224"/>
            <a:ext cx="274320" cy="237744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868680" y="177393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#160607</a:t>
            </a:r>
            <a:endParaRPr/>
          </a:p>
        </p:txBody>
      </p:sp>
      <p:sp>
        <p:nvSpPr>
          <p:cNvPr id="647" name="Google Shape;647;p18"/>
          <p:cNvSpPr txBox="1"/>
          <p:nvPr/>
        </p:nvSpPr>
        <p:spPr>
          <a:xfrm>
            <a:off x="868680" y="19202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(다크)</a:t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2308860" y="1792224"/>
            <a:ext cx="274320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 txBox="1"/>
          <p:nvPr/>
        </p:nvSpPr>
        <p:spPr>
          <a:xfrm>
            <a:off x="2674620" y="177393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#FFFFFF</a:t>
            </a:r>
            <a:endParaRPr/>
          </a:p>
        </p:txBody>
      </p:sp>
      <p:sp>
        <p:nvSpPr>
          <p:cNvPr id="650" name="Google Shape;650;p18"/>
          <p:cNvSpPr txBox="1"/>
          <p:nvPr/>
        </p:nvSpPr>
        <p:spPr>
          <a:xfrm>
            <a:off x="2674620" y="19202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(라이트)</a:t>
            </a:r>
            <a:endParaRPr/>
          </a:p>
        </p:txBody>
      </p:sp>
      <p:sp>
        <p:nvSpPr>
          <p:cNvPr id="651" name="Google Shape;651;p18"/>
          <p:cNvSpPr/>
          <p:nvPr/>
        </p:nvSpPr>
        <p:spPr>
          <a:xfrm>
            <a:off x="502920" y="2121408"/>
            <a:ext cx="274320" cy="237744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 txBox="1"/>
          <p:nvPr/>
        </p:nvSpPr>
        <p:spPr>
          <a:xfrm>
            <a:off x="868680" y="210312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#1F0A0C</a:t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868680" y="224942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(다크)</a:t>
            </a:r>
            <a:endParaRPr/>
          </a:p>
        </p:txBody>
      </p:sp>
      <p:sp>
        <p:nvSpPr>
          <p:cNvPr id="654" name="Google Shape;654;p18"/>
          <p:cNvSpPr/>
          <p:nvPr/>
        </p:nvSpPr>
        <p:spPr>
          <a:xfrm>
            <a:off x="2308860" y="2121408"/>
            <a:ext cx="274320" cy="237744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 txBox="1"/>
          <p:nvPr/>
        </p:nvSpPr>
        <p:spPr>
          <a:xfrm>
            <a:off x="2674620" y="210312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#F4F4F4</a:t>
            </a:r>
            <a:endParaRPr/>
          </a:p>
        </p:txBody>
      </p:sp>
      <p:sp>
        <p:nvSpPr>
          <p:cNvPr id="656" name="Google Shape;656;p18"/>
          <p:cNvSpPr txBox="1"/>
          <p:nvPr/>
        </p:nvSpPr>
        <p:spPr>
          <a:xfrm>
            <a:off x="2674620" y="224942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(라이트)</a:t>
            </a: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502920" y="2450591"/>
            <a:ext cx="274320" cy="237744"/>
          </a:xfrm>
          <a:prstGeom prst="rect">
            <a:avLst/>
          </a:prstGeom>
          <a:solidFill>
            <a:srgbClr val="F3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 txBox="1"/>
          <p:nvPr/>
        </p:nvSpPr>
        <p:spPr>
          <a:xfrm>
            <a:off x="868680" y="2432303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#F3E6E6</a:t>
            </a:r>
            <a:endParaRPr/>
          </a:p>
        </p:txBody>
      </p:sp>
      <p:sp>
        <p:nvSpPr>
          <p:cNvPr id="659" name="Google Shape;659;p18"/>
          <p:cNvSpPr txBox="1"/>
          <p:nvPr/>
        </p:nvSpPr>
        <p:spPr>
          <a:xfrm>
            <a:off x="868680" y="25786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(다크)</a:t>
            </a: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2308860" y="2450591"/>
            <a:ext cx="274320" cy="2377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8"/>
          <p:cNvSpPr txBox="1"/>
          <p:nvPr/>
        </p:nvSpPr>
        <p:spPr>
          <a:xfrm>
            <a:off x="2674620" y="2432303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#1A1A1A</a:t>
            </a:r>
            <a:endParaRPr/>
          </a:p>
        </p:txBody>
      </p:sp>
      <p:sp>
        <p:nvSpPr>
          <p:cNvPr id="662" name="Google Shape;662;p18"/>
          <p:cNvSpPr txBox="1"/>
          <p:nvPr/>
        </p:nvSpPr>
        <p:spPr>
          <a:xfrm>
            <a:off x="2674620" y="25786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(라이트)</a:t>
            </a:r>
            <a:endParaRPr/>
          </a:p>
        </p:txBody>
      </p:sp>
      <p:sp>
        <p:nvSpPr>
          <p:cNvPr id="663" name="Google Shape;663;p18"/>
          <p:cNvSpPr/>
          <p:nvPr/>
        </p:nvSpPr>
        <p:spPr>
          <a:xfrm>
            <a:off x="502920" y="2779776"/>
            <a:ext cx="274320" cy="237744"/>
          </a:xfrm>
          <a:prstGeom prst="rect">
            <a:avLst/>
          </a:prstGeom>
          <a:solidFill>
            <a:srgbClr val="D3BF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 txBox="1"/>
          <p:nvPr/>
        </p:nvSpPr>
        <p:spPr>
          <a:xfrm>
            <a:off x="868680" y="276148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#D3BFC0</a:t>
            </a:r>
            <a:endParaRPr/>
          </a:p>
        </p:txBody>
      </p:sp>
      <p:sp>
        <p:nvSpPr>
          <p:cNvPr id="665" name="Google Shape;665;p18"/>
          <p:cNvSpPr txBox="1"/>
          <p:nvPr/>
        </p:nvSpPr>
        <p:spPr>
          <a:xfrm>
            <a:off x="868680" y="290779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(다크)</a:t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2308860" y="2779776"/>
            <a:ext cx="274320" cy="237744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2674620" y="276148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#575757</a:t>
            </a:r>
            <a:endParaRPr/>
          </a:p>
        </p:txBody>
      </p:sp>
      <p:sp>
        <p:nvSpPr>
          <p:cNvPr id="668" name="Google Shape;668;p18"/>
          <p:cNvSpPr txBox="1"/>
          <p:nvPr/>
        </p:nvSpPr>
        <p:spPr>
          <a:xfrm>
            <a:off x="2674620" y="290779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(라이트)</a:t>
            </a:r>
            <a:endParaRPr/>
          </a:p>
        </p:txBody>
      </p:sp>
      <p:sp>
        <p:nvSpPr>
          <p:cNvPr id="669" name="Google Shape;669;p18"/>
          <p:cNvSpPr/>
          <p:nvPr/>
        </p:nvSpPr>
        <p:spPr>
          <a:xfrm>
            <a:off x="502920" y="3108960"/>
            <a:ext cx="274320" cy="23774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 txBox="1"/>
          <p:nvPr/>
        </p:nvSpPr>
        <p:spPr>
          <a:xfrm>
            <a:off x="868680" y="309067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#FF2733</a:t>
            </a:r>
            <a:endParaRPr/>
          </a:p>
        </p:txBody>
      </p:sp>
      <p:sp>
        <p:nvSpPr>
          <p:cNvPr id="671" name="Google Shape;671;p18"/>
          <p:cNvSpPr txBox="1"/>
          <p:nvPr/>
        </p:nvSpPr>
        <p:spPr>
          <a:xfrm>
            <a:off x="868680" y="323697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(다크)</a:t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2308860" y="3108960"/>
            <a:ext cx="274320" cy="23774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8"/>
          <p:cNvSpPr txBox="1"/>
          <p:nvPr/>
        </p:nvSpPr>
        <p:spPr>
          <a:xfrm>
            <a:off x="2674620" y="309067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#C21620</a:t>
            </a:r>
            <a:endParaRPr/>
          </a:p>
        </p:txBody>
      </p:sp>
      <p:sp>
        <p:nvSpPr>
          <p:cNvPr id="674" name="Google Shape;674;p18"/>
          <p:cNvSpPr txBox="1"/>
          <p:nvPr/>
        </p:nvSpPr>
        <p:spPr>
          <a:xfrm>
            <a:off x="2674620" y="323697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(라이트)</a:t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502920" y="3438144"/>
            <a:ext cx="274320" cy="2377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8"/>
          <p:cNvSpPr txBox="1"/>
          <p:nvPr/>
        </p:nvSpPr>
        <p:spPr>
          <a:xfrm>
            <a:off x="868680" y="341985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#4A1418</a:t>
            </a:r>
            <a:endParaRPr/>
          </a:p>
        </p:txBody>
      </p:sp>
      <p:sp>
        <p:nvSpPr>
          <p:cNvPr id="677" name="Google Shape;677;p18"/>
          <p:cNvSpPr txBox="1"/>
          <p:nvPr/>
        </p:nvSpPr>
        <p:spPr>
          <a:xfrm>
            <a:off x="868680" y="356616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(다크)</a:t>
            </a: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2308860" y="3438144"/>
            <a:ext cx="274320" cy="2377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 txBox="1"/>
          <p:nvPr/>
        </p:nvSpPr>
        <p:spPr>
          <a:xfrm>
            <a:off x="2674620" y="341985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#DCDCDC</a:t>
            </a:r>
            <a:endParaRPr/>
          </a:p>
        </p:txBody>
      </p:sp>
      <p:sp>
        <p:nvSpPr>
          <p:cNvPr id="680" name="Google Shape;680;p18"/>
          <p:cNvSpPr txBox="1"/>
          <p:nvPr/>
        </p:nvSpPr>
        <p:spPr>
          <a:xfrm>
            <a:off x="2674620" y="356616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(라이트)</a:t>
            </a:r>
            <a:endParaRPr/>
          </a:p>
        </p:txBody>
      </p:sp>
      <p:sp>
        <p:nvSpPr>
          <p:cNvPr id="681" name="Google Shape;681;p18"/>
          <p:cNvSpPr txBox="1"/>
          <p:nvPr/>
        </p:nvSpPr>
        <p:spPr>
          <a:xfrm>
            <a:off x="4343400" y="137160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SCALE  ·  맑은 고딕</a:t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4343400" y="1627632"/>
            <a:ext cx="3611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4343400" y="17922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46pt</a:t>
            </a:r>
            <a:endParaRPr/>
          </a:p>
        </p:txBody>
      </p:sp>
      <p:sp>
        <p:nvSpPr>
          <p:cNvPr id="684" name="Google Shape;684;p18"/>
          <p:cNvSpPr txBox="1"/>
          <p:nvPr/>
        </p:nvSpPr>
        <p:spPr>
          <a:xfrm>
            <a:off x="4965192" y="1792224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표지 대제목</a:t>
            </a:r>
            <a:endParaRPr/>
          </a:p>
        </p:txBody>
      </p:sp>
      <p:sp>
        <p:nvSpPr>
          <p:cNvPr id="685" name="Google Shape;685;p18"/>
          <p:cNvSpPr txBox="1"/>
          <p:nvPr/>
        </p:nvSpPr>
        <p:spPr>
          <a:xfrm>
            <a:off x="6149340" y="17922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40pt</a:t>
            </a:r>
            <a:endParaRPr/>
          </a:p>
        </p:txBody>
      </p:sp>
      <p:sp>
        <p:nvSpPr>
          <p:cNvPr id="686" name="Google Shape;686;p18"/>
          <p:cNvSpPr txBox="1"/>
          <p:nvPr/>
        </p:nvSpPr>
        <p:spPr>
          <a:xfrm>
            <a:off x="6771131" y="1792224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섹션 도입</a:t>
            </a:r>
            <a:endParaRPr/>
          </a:p>
        </p:txBody>
      </p:sp>
      <p:sp>
        <p:nvSpPr>
          <p:cNvPr id="687" name="Google Shape;687;p18"/>
          <p:cNvSpPr txBox="1"/>
          <p:nvPr/>
        </p:nvSpPr>
        <p:spPr>
          <a:xfrm>
            <a:off x="4343400" y="210312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30pt</a:t>
            </a:r>
            <a:endParaRPr/>
          </a:p>
        </p:txBody>
      </p:sp>
      <p:sp>
        <p:nvSpPr>
          <p:cNvPr id="688" name="Google Shape;688;p18"/>
          <p:cNvSpPr txBox="1"/>
          <p:nvPr/>
        </p:nvSpPr>
        <p:spPr>
          <a:xfrm>
            <a:off x="4965192" y="2103120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제목</a:t>
            </a:r>
            <a:endParaRPr/>
          </a:p>
        </p:txBody>
      </p:sp>
      <p:sp>
        <p:nvSpPr>
          <p:cNvPr id="689" name="Google Shape;689;p18"/>
          <p:cNvSpPr txBox="1"/>
          <p:nvPr/>
        </p:nvSpPr>
        <p:spPr>
          <a:xfrm>
            <a:off x="6149340" y="210312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27pt</a:t>
            </a:r>
            <a:endParaRPr/>
          </a:p>
        </p:txBody>
      </p:sp>
      <p:sp>
        <p:nvSpPr>
          <p:cNvPr id="690" name="Google Shape;690;p18"/>
          <p:cNvSpPr txBox="1"/>
          <p:nvPr/>
        </p:nvSpPr>
        <p:spPr>
          <a:xfrm>
            <a:off x="6771131" y="2103120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제목</a:t>
            </a:r>
            <a:endParaRPr/>
          </a:p>
        </p:txBody>
      </p:sp>
      <p:sp>
        <p:nvSpPr>
          <p:cNvPr id="691" name="Google Shape;691;p18"/>
          <p:cNvSpPr txBox="1"/>
          <p:nvPr/>
        </p:nvSpPr>
        <p:spPr>
          <a:xfrm>
            <a:off x="4343400" y="241401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26pt</a:t>
            </a:r>
            <a:endParaRPr/>
          </a:p>
        </p:txBody>
      </p:sp>
      <p:sp>
        <p:nvSpPr>
          <p:cNvPr id="692" name="Google Shape;692;p18"/>
          <p:cNvSpPr txBox="1"/>
          <p:nvPr/>
        </p:nvSpPr>
        <p:spPr>
          <a:xfrm>
            <a:off x="4965192" y="2414016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이니셜 · 숫자</a:t>
            </a:r>
            <a:endParaRPr/>
          </a:p>
        </p:txBody>
      </p:sp>
      <p:sp>
        <p:nvSpPr>
          <p:cNvPr id="693" name="Google Shape;693;p18"/>
          <p:cNvSpPr txBox="1"/>
          <p:nvPr/>
        </p:nvSpPr>
        <p:spPr>
          <a:xfrm>
            <a:off x="6149340" y="241401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21pt</a:t>
            </a:r>
            <a:endParaRPr/>
          </a:p>
        </p:txBody>
      </p:sp>
      <p:sp>
        <p:nvSpPr>
          <p:cNvPr id="694" name="Google Shape;694;p18"/>
          <p:cNvSpPr txBox="1"/>
          <p:nvPr/>
        </p:nvSpPr>
        <p:spPr>
          <a:xfrm>
            <a:off x="6771131" y="2414016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· 카드 제목</a:t>
            </a:r>
            <a:endParaRPr/>
          </a:p>
        </p:txBody>
      </p:sp>
      <p:sp>
        <p:nvSpPr>
          <p:cNvPr id="695" name="Google Shape;695;p18"/>
          <p:cNvSpPr txBox="1"/>
          <p:nvPr/>
        </p:nvSpPr>
        <p:spPr>
          <a:xfrm>
            <a:off x="4343400" y="27249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17pt</a:t>
            </a:r>
            <a:endParaRPr/>
          </a:p>
        </p:txBody>
      </p:sp>
      <p:sp>
        <p:nvSpPr>
          <p:cNvPr id="696" name="Google Shape;696;p18"/>
          <p:cNvSpPr txBox="1"/>
          <p:nvPr/>
        </p:nvSpPr>
        <p:spPr>
          <a:xfrm>
            <a:off x="4965192" y="2724912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· 캡션</a:t>
            </a:r>
            <a:endParaRPr/>
          </a:p>
        </p:txBody>
      </p:sp>
      <p:sp>
        <p:nvSpPr>
          <p:cNvPr id="697" name="Google Shape;697;p18"/>
          <p:cNvSpPr txBox="1"/>
          <p:nvPr/>
        </p:nvSpPr>
        <p:spPr>
          <a:xfrm>
            <a:off x="6149340" y="27249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15pt</a:t>
            </a:r>
            <a:endParaRPr/>
          </a:p>
        </p:txBody>
      </p:sp>
      <p:sp>
        <p:nvSpPr>
          <p:cNvPr id="698" name="Google Shape;698;p18"/>
          <p:cNvSpPr txBox="1"/>
          <p:nvPr/>
        </p:nvSpPr>
        <p:spPr>
          <a:xfrm>
            <a:off x="6771131" y="2724912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/>
          </a:p>
        </p:txBody>
      </p:sp>
      <p:sp>
        <p:nvSpPr>
          <p:cNvPr id="699" name="Google Shape;699;p18"/>
          <p:cNvSpPr txBox="1"/>
          <p:nvPr/>
        </p:nvSpPr>
        <p:spPr>
          <a:xfrm>
            <a:off x="4343400" y="30358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12pt</a:t>
            </a:r>
            <a:endParaRPr/>
          </a:p>
        </p:txBody>
      </p:sp>
      <p:sp>
        <p:nvSpPr>
          <p:cNvPr id="700" name="Google Shape;700;p18"/>
          <p:cNvSpPr txBox="1"/>
          <p:nvPr/>
        </p:nvSpPr>
        <p:spPr>
          <a:xfrm>
            <a:off x="4965192" y="3035808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작은 캡션</a:t>
            </a:r>
            <a:endParaRPr/>
          </a:p>
        </p:txBody>
      </p:sp>
      <p:sp>
        <p:nvSpPr>
          <p:cNvPr id="701" name="Google Shape;701;p18"/>
          <p:cNvSpPr txBox="1"/>
          <p:nvPr/>
        </p:nvSpPr>
        <p:spPr>
          <a:xfrm>
            <a:off x="6149340" y="30358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10.5pt</a:t>
            </a:r>
            <a:endParaRPr/>
          </a:p>
        </p:txBody>
      </p:sp>
      <p:sp>
        <p:nvSpPr>
          <p:cNvPr id="702" name="Google Shape;702;p18"/>
          <p:cNvSpPr txBox="1"/>
          <p:nvPr/>
        </p:nvSpPr>
        <p:spPr>
          <a:xfrm>
            <a:off x="6771131" y="3035808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키커 라벨</a:t>
            </a:r>
            <a:endParaRPr/>
          </a:p>
        </p:txBody>
      </p:sp>
      <p:sp>
        <p:nvSpPr>
          <p:cNvPr id="703" name="Google Shape;703;p18"/>
          <p:cNvSpPr txBox="1"/>
          <p:nvPr/>
        </p:nvSpPr>
        <p:spPr>
          <a:xfrm>
            <a:off x="4343400" y="340156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코드 · 날짜는 Consolas 8 ~ 10.5pt</a:t>
            </a:r>
            <a:endParaRPr/>
          </a:p>
        </p:txBody>
      </p:sp>
      <p:sp>
        <p:nvSpPr>
          <p:cNvPr id="704" name="Google Shape;704;p18"/>
          <p:cNvSpPr txBox="1"/>
          <p:nvPr/>
        </p:nvSpPr>
        <p:spPr>
          <a:xfrm>
            <a:off x="4343400" y="3657600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기본값 21pt — 심사 기준 하한선</a:t>
            </a:r>
            <a:endParaRPr/>
          </a:p>
        </p:txBody>
      </p:sp>
      <p:sp>
        <p:nvSpPr>
          <p:cNvPr id="705" name="Google Shape;705;p18"/>
          <p:cNvSpPr txBox="1"/>
          <p:nvPr/>
        </p:nvSpPr>
        <p:spPr>
          <a:xfrm>
            <a:off x="8183879" y="1371600"/>
            <a:ext cx="35051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  ·  그리드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8183879" y="1627632"/>
            <a:ext cx="3505169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8183879" y="1773936"/>
            <a:ext cx="2788920" cy="11521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8183879" y="1773936"/>
            <a:ext cx="2788920" cy="347472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8183879" y="2121408"/>
            <a:ext cx="2788920" cy="18288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 txBox="1"/>
          <p:nvPr/>
        </p:nvSpPr>
        <p:spPr>
          <a:xfrm>
            <a:off x="8375904" y="1874519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 30pt</a:t>
            </a:r>
            <a:endParaRPr/>
          </a:p>
        </p:txBody>
      </p:sp>
      <p:sp>
        <p:nvSpPr>
          <p:cNvPr id="711" name="Google Shape;711;p18"/>
          <p:cNvSpPr txBox="1"/>
          <p:nvPr/>
        </p:nvSpPr>
        <p:spPr>
          <a:xfrm>
            <a:off x="10424160" y="188366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</a:t>
            </a:r>
            <a:endParaRPr/>
          </a:p>
        </p:txBody>
      </p:sp>
      <p:sp>
        <p:nvSpPr>
          <p:cNvPr id="712" name="Google Shape;712;p18"/>
          <p:cNvSpPr/>
          <p:nvPr/>
        </p:nvSpPr>
        <p:spPr>
          <a:xfrm>
            <a:off x="8375904" y="2267712"/>
            <a:ext cx="658368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/>
          <p:nvPr/>
        </p:nvSpPr>
        <p:spPr>
          <a:xfrm>
            <a:off x="9198864" y="2267712"/>
            <a:ext cx="658368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8"/>
          <p:cNvSpPr/>
          <p:nvPr/>
        </p:nvSpPr>
        <p:spPr>
          <a:xfrm>
            <a:off x="10021824" y="2267712"/>
            <a:ext cx="658368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8183879" y="1773936"/>
            <a:ext cx="192024" cy="1152144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8"/>
          <p:cNvSpPr/>
          <p:nvPr/>
        </p:nvSpPr>
        <p:spPr>
          <a:xfrm>
            <a:off x="10780776" y="1773936"/>
            <a:ext cx="192024" cy="1152144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 txBox="1"/>
          <p:nvPr/>
        </p:nvSpPr>
        <p:spPr>
          <a:xfrm>
            <a:off x="8183879" y="301752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</a:t>
            </a:r>
            <a:endParaRPr/>
          </a:p>
        </p:txBody>
      </p:sp>
      <p:sp>
        <p:nvSpPr>
          <p:cNvPr id="718" name="Google Shape;718;p18"/>
          <p:cNvSpPr txBox="1"/>
          <p:nvPr/>
        </p:nvSpPr>
        <p:spPr>
          <a:xfrm>
            <a:off x="9189719" y="3017520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13.33 × 7.5 in (16:9)</a:t>
            </a:r>
            <a:endParaRPr/>
          </a:p>
        </p:txBody>
      </p:sp>
      <p:sp>
        <p:nvSpPr>
          <p:cNvPr id="719" name="Google Shape;719;p18"/>
          <p:cNvSpPr txBox="1"/>
          <p:nvPr/>
        </p:nvSpPr>
        <p:spPr>
          <a:xfrm>
            <a:off x="8183879" y="323697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좌우 여백</a:t>
            </a:r>
            <a:endParaRPr/>
          </a:p>
        </p:txBody>
      </p:sp>
      <p:sp>
        <p:nvSpPr>
          <p:cNvPr id="720" name="Google Shape;720;p18"/>
          <p:cNvSpPr txBox="1"/>
          <p:nvPr/>
        </p:nvSpPr>
        <p:spPr>
          <a:xfrm>
            <a:off x="9189719" y="3236976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0.93 in — 모든 요소의 기준선</a:t>
            </a:r>
            <a:endParaRPr/>
          </a:p>
        </p:txBody>
      </p:sp>
      <p:sp>
        <p:nvSpPr>
          <p:cNvPr id="721" name="Google Shape;721;p18"/>
          <p:cNvSpPr txBox="1"/>
          <p:nvPr/>
        </p:nvSpPr>
        <p:spPr>
          <a:xfrm>
            <a:off x="8183879" y="3456432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상단 띠</a:t>
            </a:r>
            <a:endParaRPr/>
          </a:p>
        </p:txBody>
      </p:sp>
      <p:sp>
        <p:nvSpPr>
          <p:cNvPr id="722" name="Google Shape;722;p18"/>
          <p:cNvSpPr txBox="1"/>
          <p:nvPr/>
        </p:nvSpPr>
        <p:spPr>
          <a:xfrm>
            <a:off x="9189719" y="3456432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1.92 in + 붉은 선 0.035 in</a:t>
            </a:r>
            <a:endParaRPr/>
          </a:p>
        </p:txBody>
      </p:sp>
      <p:sp>
        <p:nvSpPr>
          <p:cNvPr id="723" name="Google Shape;723;p18"/>
          <p:cNvSpPr txBox="1"/>
          <p:nvPr/>
        </p:nvSpPr>
        <p:spPr>
          <a:xfrm>
            <a:off x="8183879" y="3675887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시작</a:t>
            </a:r>
            <a:endParaRPr/>
          </a:p>
        </p:txBody>
      </p:sp>
      <p:sp>
        <p:nvSpPr>
          <p:cNvPr id="724" name="Google Shape;724;p18"/>
          <p:cNvSpPr txBox="1"/>
          <p:nvPr/>
        </p:nvSpPr>
        <p:spPr>
          <a:xfrm>
            <a:off x="9189719" y="3675887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y = 2.34 in · 간격 0.22 / 0.35</a:t>
            </a:r>
            <a:endParaRPr/>
          </a:p>
        </p:txBody>
      </p:sp>
      <p:sp>
        <p:nvSpPr>
          <p:cNvPr id="725" name="Google Shape;725;p18"/>
          <p:cNvSpPr/>
          <p:nvPr/>
        </p:nvSpPr>
        <p:spPr>
          <a:xfrm>
            <a:off x="502920" y="3895344"/>
            <a:ext cx="11186129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 txBox="1"/>
          <p:nvPr/>
        </p:nvSpPr>
        <p:spPr>
          <a:xfrm>
            <a:off x="502920" y="400507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COMPONENT  ·  복사해서 쓰는 조각</a:t>
            </a:r>
            <a:endParaRPr/>
          </a:p>
        </p:txBody>
      </p:sp>
      <p:sp>
        <p:nvSpPr>
          <p:cNvPr id="727" name="Google Shape;727;p18"/>
          <p:cNvSpPr txBox="1"/>
          <p:nvPr/>
        </p:nvSpPr>
        <p:spPr>
          <a:xfrm>
            <a:off x="502920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(기본)</a:t>
            </a:r>
            <a:endParaRPr/>
          </a:p>
        </p:txBody>
      </p:sp>
      <p:sp>
        <p:nvSpPr>
          <p:cNvPr id="728" name="Google Shape;728;p18"/>
          <p:cNvSpPr/>
          <p:nvPr/>
        </p:nvSpPr>
        <p:spPr>
          <a:xfrm>
            <a:off x="502920" y="4352544"/>
            <a:ext cx="2618224" cy="100584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8"/>
          <p:cNvSpPr txBox="1"/>
          <p:nvPr/>
        </p:nvSpPr>
        <p:spPr>
          <a:xfrm>
            <a:off x="685800" y="4498848"/>
            <a:ext cx="22524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730" name="Google Shape;730;p18"/>
          <p:cNvSpPr txBox="1"/>
          <p:nvPr/>
        </p:nvSpPr>
        <p:spPr>
          <a:xfrm>
            <a:off x="685800" y="4809744"/>
            <a:ext cx="225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#575757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행간 1.35</a:t>
            </a:r>
            <a:endParaRPr/>
          </a:p>
        </p:txBody>
      </p:sp>
      <p:sp>
        <p:nvSpPr>
          <p:cNvPr id="731" name="Google Shape;731;p18"/>
          <p:cNvSpPr txBox="1"/>
          <p:nvPr/>
        </p:nvSpPr>
        <p:spPr>
          <a:xfrm>
            <a:off x="3358888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(강조 · 채택)</a:t>
            </a:r>
            <a:endParaRPr/>
          </a:p>
        </p:txBody>
      </p:sp>
      <p:sp>
        <p:nvSpPr>
          <p:cNvPr id="732" name="Google Shape;732;p18"/>
          <p:cNvSpPr/>
          <p:nvPr/>
        </p:nvSpPr>
        <p:spPr>
          <a:xfrm>
            <a:off x="3358888" y="4352544"/>
            <a:ext cx="2618224" cy="100584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 txBox="1"/>
          <p:nvPr/>
        </p:nvSpPr>
        <p:spPr>
          <a:xfrm>
            <a:off x="3541768" y="4498848"/>
            <a:ext cx="22524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734" name="Google Shape;734;p18"/>
          <p:cNvSpPr txBox="1"/>
          <p:nvPr/>
        </p:nvSpPr>
        <p:spPr>
          <a:xfrm>
            <a:off x="3541768" y="4809744"/>
            <a:ext cx="225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#D3BFC0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테두리 #FF2733 1.75pt</a:t>
            </a:r>
            <a:endParaRPr/>
          </a:p>
        </p:txBody>
      </p:sp>
      <p:sp>
        <p:nvSpPr>
          <p:cNvPr id="735" name="Google Shape;735;p18"/>
          <p:cNvSpPr txBox="1"/>
          <p:nvPr/>
        </p:nvSpPr>
        <p:spPr>
          <a:xfrm>
            <a:off x="6214856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스탯 타일</a:t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6214856" y="4352544"/>
            <a:ext cx="2618224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 txBox="1"/>
          <p:nvPr/>
        </p:nvSpPr>
        <p:spPr>
          <a:xfrm>
            <a:off x="6397736" y="4462272"/>
            <a:ext cx="2252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5개</a:t>
            </a:r>
            <a:endParaRPr/>
          </a:p>
        </p:txBody>
      </p:sp>
      <p:sp>
        <p:nvSpPr>
          <p:cNvPr id="738" name="Google Shape;738;p18"/>
          <p:cNvSpPr txBox="1"/>
          <p:nvPr/>
        </p:nvSpPr>
        <p:spPr>
          <a:xfrm>
            <a:off x="6397736" y="4846320"/>
            <a:ext cx="225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14pt</a:t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6397736" y="5074920"/>
            <a:ext cx="225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보충 설명 12pt</a:t>
            </a:r>
            <a:endParaRPr/>
          </a:p>
        </p:txBody>
      </p:sp>
      <p:sp>
        <p:nvSpPr>
          <p:cNvPr id="740" name="Google Shape;740;p18"/>
          <p:cNvSpPr txBox="1"/>
          <p:nvPr/>
        </p:nvSpPr>
        <p:spPr>
          <a:xfrm>
            <a:off x="9070825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배지 · 넘버 · 칩</a:t>
            </a:r>
            <a:endParaRPr/>
          </a:p>
        </p:txBody>
      </p:sp>
      <p:sp>
        <p:nvSpPr>
          <p:cNvPr id="741" name="Google Shape;741;p18"/>
          <p:cNvSpPr/>
          <p:nvPr/>
        </p:nvSpPr>
        <p:spPr>
          <a:xfrm>
            <a:off x="9070825" y="4352544"/>
            <a:ext cx="261822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8"/>
          <p:cNvSpPr/>
          <p:nvPr/>
        </p:nvSpPr>
        <p:spPr>
          <a:xfrm>
            <a:off x="9253705" y="4480559"/>
            <a:ext cx="621792" cy="25603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8"/>
          <p:cNvSpPr txBox="1"/>
          <p:nvPr/>
        </p:nvSpPr>
        <p:spPr>
          <a:xfrm>
            <a:off x="9253705" y="4480559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/>
          </a:p>
        </p:txBody>
      </p:sp>
      <p:sp>
        <p:nvSpPr>
          <p:cNvPr id="744" name="Google Shape;744;p18"/>
          <p:cNvSpPr/>
          <p:nvPr/>
        </p:nvSpPr>
        <p:spPr>
          <a:xfrm>
            <a:off x="9966937" y="4480559"/>
            <a:ext cx="621792" cy="256032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8"/>
          <p:cNvSpPr txBox="1"/>
          <p:nvPr/>
        </p:nvSpPr>
        <p:spPr>
          <a:xfrm>
            <a:off x="9966937" y="4480559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</a:t>
            </a:r>
            <a:endParaRPr/>
          </a:p>
        </p:txBody>
      </p:sp>
      <p:sp>
        <p:nvSpPr>
          <p:cNvPr id="746" name="Google Shape;746;p18"/>
          <p:cNvSpPr txBox="1"/>
          <p:nvPr/>
        </p:nvSpPr>
        <p:spPr>
          <a:xfrm>
            <a:off x="9253705" y="482803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9784057" y="4846320"/>
            <a:ext cx="841248" cy="2743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8"/>
          <p:cNvSpPr txBox="1"/>
          <p:nvPr/>
        </p:nvSpPr>
        <p:spPr>
          <a:xfrm>
            <a:off x="9784057" y="4846320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칩</a:t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10698457" y="4846320"/>
            <a:ext cx="841248" cy="27432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8"/>
          <p:cNvSpPr txBox="1"/>
          <p:nvPr/>
        </p:nvSpPr>
        <p:spPr>
          <a:xfrm>
            <a:off x="10698457" y="4846320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칩</a:t>
            </a:r>
            <a:endParaRPr/>
          </a:p>
        </p:txBody>
      </p:sp>
      <p:sp>
        <p:nvSpPr>
          <p:cNvPr id="751" name="Google Shape;751;p18"/>
          <p:cNvSpPr txBox="1"/>
          <p:nvPr/>
        </p:nvSpPr>
        <p:spPr>
          <a:xfrm>
            <a:off x="502920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카드</a:t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502920" y="5742431"/>
            <a:ext cx="2618224" cy="896112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 txBox="1"/>
          <p:nvPr/>
        </p:nvSpPr>
        <p:spPr>
          <a:xfrm>
            <a:off x="685800" y="5852159"/>
            <a:ext cx="22524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GameScreen.tsx</a:t>
            </a:r>
            <a:endParaRPr/>
          </a:p>
        </p:txBody>
      </p:sp>
      <p:sp>
        <p:nvSpPr>
          <p:cNvPr id="754" name="Google Shape;754;p18"/>
          <p:cNvSpPr txBox="1"/>
          <p:nvPr/>
        </p:nvSpPr>
        <p:spPr>
          <a:xfrm>
            <a:off x="685800" y="6089903"/>
            <a:ext cx="225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const m = modalFor(state);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return &lt;MainScreen … /&gt;;</a:t>
            </a:r>
            <a:endParaRPr/>
          </a:p>
        </p:txBody>
      </p:sp>
      <p:sp>
        <p:nvSpPr>
          <p:cNvPr id="755" name="Google Shape;755;p18"/>
          <p:cNvSpPr txBox="1"/>
          <p:nvPr/>
        </p:nvSpPr>
        <p:spPr>
          <a:xfrm>
            <a:off x="3358888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타임라인</a:t>
            </a: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3358888" y="5742431"/>
            <a:ext cx="261822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8"/>
          <p:cNvSpPr/>
          <p:nvPr/>
        </p:nvSpPr>
        <p:spPr>
          <a:xfrm>
            <a:off x="3541768" y="6144768"/>
            <a:ext cx="2252464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8"/>
          <p:cNvSpPr/>
          <p:nvPr/>
        </p:nvSpPr>
        <p:spPr>
          <a:xfrm>
            <a:off x="3578344" y="6053327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 txBox="1"/>
          <p:nvPr/>
        </p:nvSpPr>
        <p:spPr>
          <a:xfrm>
            <a:off x="3468616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07/29</a:t>
            </a:r>
            <a:endParaRPr/>
          </a:p>
        </p:txBody>
      </p:sp>
      <p:sp>
        <p:nvSpPr>
          <p:cNvPr id="760" name="Google Shape;760;p18"/>
          <p:cNvSpPr txBox="1"/>
          <p:nvPr/>
        </p:nvSpPr>
        <p:spPr>
          <a:xfrm>
            <a:off x="3486904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v1.0</a:t>
            </a:r>
            <a:endParaRPr/>
          </a:p>
        </p:txBody>
      </p:sp>
      <p:sp>
        <p:nvSpPr>
          <p:cNvPr id="761" name="Google Shape;761;p18"/>
          <p:cNvSpPr/>
          <p:nvPr/>
        </p:nvSpPr>
        <p:spPr>
          <a:xfrm>
            <a:off x="4283445" y="6053327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8"/>
          <p:cNvSpPr txBox="1"/>
          <p:nvPr/>
        </p:nvSpPr>
        <p:spPr>
          <a:xfrm>
            <a:off x="4173717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08/19</a:t>
            </a:r>
            <a:endParaRPr/>
          </a:p>
        </p:txBody>
      </p:sp>
      <p:sp>
        <p:nvSpPr>
          <p:cNvPr id="763" name="Google Shape;763;p18"/>
          <p:cNvSpPr txBox="1"/>
          <p:nvPr/>
        </p:nvSpPr>
        <p:spPr>
          <a:xfrm>
            <a:off x="4192005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/>
          </a:p>
        </p:txBody>
      </p:sp>
      <p:sp>
        <p:nvSpPr>
          <p:cNvPr id="764" name="Google Shape;764;p18"/>
          <p:cNvSpPr/>
          <p:nvPr/>
        </p:nvSpPr>
        <p:spPr>
          <a:xfrm>
            <a:off x="4988547" y="6053327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8"/>
          <p:cNvSpPr txBox="1"/>
          <p:nvPr/>
        </p:nvSpPr>
        <p:spPr>
          <a:xfrm>
            <a:off x="4878819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08/30</a:t>
            </a:r>
            <a:endParaRPr/>
          </a:p>
        </p:txBody>
      </p:sp>
      <p:sp>
        <p:nvSpPr>
          <p:cNvPr id="766" name="Google Shape;766;p18"/>
          <p:cNvSpPr txBox="1"/>
          <p:nvPr/>
        </p:nvSpPr>
        <p:spPr>
          <a:xfrm>
            <a:off x="4897107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동결</a:t>
            </a:r>
            <a:endParaRPr/>
          </a:p>
        </p:txBody>
      </p:sp>
      <p:sp>
        <p:nvSpPr>
          <p:cNvPr id="767" name="Google Shape;767;p18"/>
          <p:cNvSpPr/>
          <p:nvPr/>
        </p:nvSpPr>
        <p:spPr>
          <a:xfrm>
            <a:off x="5693648" y="6053327"/>
            <a:ext cx="182880" cy="18288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8"/>
          <p:cNvSpPr txBox="1"/>
          <p:nvPr/>
        </p:nvSpPr>
        <p:spPr>
          <a:xfrm>
            <a:off x="5583920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09/08</a:t>
            </a:r>
            <a:endParaRPr/>
          </a:p>
        </p:txBody>
      </p:sp>
      <p:sp>
        <p:nvSpPr>
          <p:cNvPr id="769" name="Google Shape;769;p18"/>
          <p:cNvSpPr txBox="1"/>
          <p:nvPr/>
        </p:nvSpPr>
        <p:spPr>
          <a:xfrm>
            <a:off x="5602208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</a:t>
            </a:r>
            <a:endParaRPr/>
          </a:p>
        </p:txBody>
      </p:sp>
      <p:sp>
        <p:nvSpPr>
          <p:cNvPr id="770" name="Google Shape;770;p18"/>
          <p:cNvSpPr txBox="1"/>
          <p:nvPr/>
        </p:nvSpPr>
        <p:spPr>
          <a:xfrm>
            <a:off x="6214856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흐름</a:t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6214856" y="5742431"/>
            <a:ext cx="261822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8"/>
          <p:cNvSpPr/>
          <p:nvPr/>
        </p:nvSpPr>
        <p:spPr>
          <a:xfrm>
            <a:off x="6397736" y="5998464"/>
            <a:ext cx="603504" cy="3657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8"/>
          <p:cNvSpPr txBox="1"/>
          <p:nvPr/>
        </p:nvSpPr>
        <p:spPr>
          <a:xfrm>
            <a:off x="6397736" y="599846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묘사</a:t>
            </a:r>
            <a:endParaRPr/>
          </a:p>
        </p:txBody>
      </p:sp>
      <p:sp>
        <p:nvSpPr>
          <p:cNvPr id="774" name="Google Shape;774;p18"/>
          <p:cNvSpPr txBox="1"/>
          <p:nvPr/>
        </p:nvSpPr>
        <p:spPr>
          <a:xfrm>
            <a:off x="7001240" y="6016751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7220696" y="5998464"/>
            <a:ext cx="603504" cy="3657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7220696" y="599846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토론</a:t>
            </a:r>
            <a:endParaRPr/>
          </a:p>
        </p:txBody>
      </p:sp>
      <p:sp>
        <p:nvSpPr>
          <p:cNvPr id="777" name="Google Shape;777;p18"/>
          <p:cNvSpPr txBox="1"/>
          <p:nvPr/>
        </p:nvSpPr>
        <p:spPr>
          <a:xfrm>
            <a:off x="7824200" y="6016751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78" name="Google Shape;778;p18"/>
          <p:cNvSpPr/>
          <p:nvPr/>
        </p:nvSpPr>
        <p:spPr>
          <a:xfrm>
            <a:off x="8043656" y="5998464"/>
            <a:ext cx="603504" cy="36576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8"/>
          <p:cNvSpPr txBox="1"/>
          <p:nvPr/>
        </p:nvSpPr>
        <p:spPr>
          <a:xfrm>
            <a:off x="8043656" y="599846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</a:t>
            </a:r>
            <a:endParaRPr/>
          </a:p>
        </p:txBody>
      </p:sp>
      <p:sp>
        <p:nvSpPr>
          <p:cNvPr id="780" name="Google Shape;780;p18"/>
          <p:cNvSpPr txBox="1"/>
          <p:nvPr/>
        </p:nvSpPr>
        <p:spPr>
          <a:xfrm>
            <a:off x="9070825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· 강조 바</a:t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>
            <a:off x="9070825" y="5742431"/>
            <a:ext cx="261822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8"/>
          <p:cNvSpPr/>
          <p:nvPr/>
        </p:nvSpPr>
        <p:spPr>
          <a:xfrm>
            <a:off x="9253705" y="5925312"/>
            <a:ext cx="2252464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8"/>
          <p:cNvSpPr txBox="1"/>
          <p:nvPr/>
        </p:nvSpPr>
        <p:spPr>
          <a:xfrm>
            <a:off x="9253705" y="5980175"/>
            <a:ext cx="2252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구분선 0.012in #DCDCDC</a:t>
            </a:r>
            <a:endParaRPr/>
          </a:p>
        </p:txBody>
      </p:sp>
      <p:sp>
        <p:nvSpPr>
          <p:cNvPr id="784" name="Google Shape;784;p18"/>
          <p:cNvSpPr/>
          <p:nvPr/>
        </p:nvSpPr>
        <p:spPr>
          <a:xfrm>
            <a:off x="9253705" y="6199631"/>
            <a:ext cx="100584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8"/>
          <p:cNvSpPr txBox="1"/>
          <p:nvPr/>
        </p:nvSpPr>
        <p:spPr>
          <a:xfrm>
            <a:off x="9253705" y="6254496"/>
            <a:ext cx="2252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선 0.035in #FF2733</a:t>
            </a:r>
            <a:endParaRPr/>
          </a:p>
        </p:txBody>
      </p:sp>
      <p:sp>
        <p:nvSpPr>
          <p:cNvPr id="786" name="Google Shape;786;p18"/>
          <p:cNvSpPr/>
          <p:nvPr/>
        </p:nvSpPr>
        <p:spPr>
          <a:xfrm>
            <a:off x="9253705" y="6473951"/>
            <a:ext cx="32004" cy="128016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8"/>
          <p:cNvSpPr txBox="1"/>
          <p:nvPr/>
        </p:nvSpPr>
        <p:spPr>
          <a:xfrm>
            <a:off x="9363433" y="6455664"/>
            <a:ext cx="2161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인용 바 (세로)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2026-08-27T07:51:17.000</dcterms:created>
  <dc:creator>TeamB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