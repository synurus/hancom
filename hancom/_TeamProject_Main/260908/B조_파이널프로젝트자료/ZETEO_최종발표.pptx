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12192000"/>
  <p:embeddedFontLst>
    <p:embeddedFont>
      <p:font typeface="Hahmlet ExtraBold"/>
      <p:bold r:id="rId24"/>
    </p:embeddedFont>
    <p:embeddedFont>
      <p:font typeface="Hahmlet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000000"/>
          </p15:clr>
        </p15:guide>
        <p15:guide id="2" pos="3839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hzB8Ug6kuKIeZLAnVz7kfdN1e9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ahmletExtraBold-bold.fntdata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ahmlet-bold.fntdata"/><Relationship Id="rId25" Type="http://schemas.openxmlformats.org/officeDocument/2006/relationships/font" Target="fonts/Hahmlet-regular.fntdata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[0:00–0:15 · 누적 0:15] 안녕하세요. </a:t>
            </a:r>
            <a:r>
              <a:rPr lang="en-US"/>
              <a:t>라이어 게임 속에 숨은 하나의 봇을 찾는 프로젝트. ZETEO의 발표를 맡은 이현우 </a:t>
            </a:r>
            <a:r>
              <a:rPr lang="en-US"/>
              <a:t>입니다. 저희가 만든 ZETEO는 라이어 게임인 척하는 게임입니다. 다섯 명이 모이는데 그중 하나는 사람이 아닙니다.</a:t>
            </a:r>
            <a:endParaRPr/>
          </a:p>
        </p:txBody>
      </p:sp>
      <p:sp>
        <p:nvSpPr>
          <p:cNvPr id="94" name="Google Shape;9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[0:15–0:30 · 누적 0:30] 순서는 이렇습니다. 다섯 번째 핵심 코드 리뷰가 몸통이고, 시연은 맨 마지막에 보여드립니다.</a:t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[0:30–1:00 · 누적 1:00] 네 명이 각자 한 덩어리씩 가져갔습니다. 파일 단위로 소유자를 정해서 같은 파일을 두 사람이 고치는 일이 없게 했고, 그 결과 마지막 병합 충돌이 0건이었습니다. 오늘 코드 리뷰는 게임 화면을 맡은 제가 대표로 말씀드립니다.</a:t>
            </a:r>
            <a:endParaRPr/>
          </a:p>
        </p:txBody>
      </p:sp>
      <p:sp>
        <p:nvSpPr>
          <p:cNvPr id="153" name="Google Shape;1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[1:00–1:50 · 누적 1:50] 페르소나는 이서준입니다. 이 사람이 겪는 불편은 셋인데 — 사회자, 인원, 설치 — 셋 다 게임이 재미없어서가 아니라 판이 서지 않아서 생깁니다. 그래서 세 요구를 그대로 세 기능으로 옮겼습니다. 자동 진행, 봇 참가자, 무설치 세션. 웹 무설치도 방코드도 이미 있는 서비스들이 있지만, 마지막 줄이 저희만 채운 칸입니다.</a:t>
            </a:r>
            <a:endParaRPr/>
          </a:p>
        </p:txBody>
      </p:sp>
      <p:sp>
        <p:nvSpPr>
          <p:cNvPr id="192" name="Google Shape;1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9c682d955_33_0:notes"/>
          <p:cNvSpPr/>
          <p:nvPr>
            <p:ph idx="2" type="sldImg"/>
          </p:nvPr>
        </p:nvSpPr>
        <p:spPr>
          <a:xfrm>
            <a:off x="685727" y="1143030"/>
            <a:ext cx="5486546" cy="308618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9c682d955_33_0:notes"/>
          <p:cNvSpPr txBox="1"/>
          <p:nvPr>
            <p:ph idx="1" type="body"/>
          </p:nvPr>
        </p:nvSpPr>
        <p:spPr>
          <a:xfrm>
            <a:off x="685800" y="4400667"/>
            <a:ext cx="5486400" cy="3600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9c682d955_33_0:notes"/>
          <p:cNvSpPr txBox="1"/>
          <p:nvPr>
            <p:ph idx="12" type="sldNum"/>
          </p:nvPr>
        </p:nvSpPr>
        <p:spPr>
          <a:xfrm>
            <a:off x="3884613" y="8685445"/>
            <a:ext cx="2971800" cy="458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9c682d955_24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f9c682d955_24_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9c682d955_30_27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f9c682d955_30_27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쌓인 걸 봇에게 돌려주는 방법을 셋 검토했습니다. 관전자 LLM 을 두어 판마다 채점하게 하는 안은 채점자를 검증할 수단이 없었습니다. 설문 응답을 봇 프롬프트에 그대로 반영하는 안은 실제로 구현까지 갔다가 접었는데, 사람 검토 없이 프롬프트가 바뀌기 때문입니다. 수동으로 고치는 안은 판당 발언이 마흔 개가 넘고 재현이 안 됩니다.</a:t>
            </a:r>
            <a:endParaRPr/>
          </a:p>
        </p:txBody>
      </p:sp>
      <p:sp>
        <p:nvSpPr>
          <p:cNvPr id="317" name="Google Shape;317;g3f9c682d955_30_27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9c682d955_30_0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f9c682d955_30_0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자가개선을 하려면 재료가 있어야 하는데 그 재료를 게임이 스스로 만들어냅니다. 한 판이 끝나면 네 개의 표에 판의 결과, 발언 전량, 투표 전량, 설문이 남습니다. 이 중 가장 중요한 것은 설문에서 이 발언이 봇 같았다고 고른 값이 실제 발언 한 줄과 아이디로 이어진다는 점입니다. 사람이 어디서 걸렸는지를 직접 찍어준 좌표입니다.</a:t>
            </a:r>
            <a:endParaRPr/>
          </a:p>
        </p:txBody>
      </p:sp>
      <p:sp>
        <p:nvSpPr>
          <p:cNvPr id="344" name="Google Shape;344;g3f9c682d955_30_0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9c682d955_30_60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f9c682d955_30_60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루프는 이렇게 돕니다. 개발 세션이 응답을 끝낼 때마다 훅이 아직 쓰지 않은 판이 다섯 개인지 확인하고, 아니면 조용히 끝납니다. 조건이 차면 여섯 단계가 돕니다. 지목된 발언에서 실패 장면을 고정하고, 고치기 전 상태를 반복 측정해 기준선을 잡고, 지침을 고치고, 같은 장면 같은 횟수로 다시 재어 전후를 비교합니다. 그다음 이번 수정을 겨냥한 설문 문항을 갱신하고, 변경과 수치와 근거를 묶어 검토에 올립니다. 승인하면 병합·재배포되고, 쓴 판은 기록해 두어 두 번 돌지 않습니다.</a:t>
            </a:r>
            <a:endParaRPr/>
          </a:p>
        </p:txBody>
      </p:sp>
      <p:sp>
        <p:nvSpPr>
          <p:cNvPr id="366" name="Google Shape;366;g3f9c682d955_30_60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9c682d955_30_98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f9c682d955_30_98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루프가 ZETEO 전체와 어떻게 맞물리는지 말씀드리겠습니다. 사람이 놀면 기록이 쌓이고, 안 쓴 판이 다섯이면 루프가 돌고, 지침이 바뀌고, 바뀐 봇으로 다음 판이 시작되어 기록이 다시 쌓입니다. 첫 실행에서는 봇의 행동 목록 일곱 개 중 하나에만 조건이 빠져 있어서, 아무도 묻지 않았는데 자기 발언을 변명하고 있던 것을 고쳤습니다. 그리고 고친 내용을 겨냥한 설문 문항이 같이 갱신됩니다. 다음 참가자들이 그 자리에서 또 걸리는지를 대신 확인해 주는 셈입니다.</a:t>
            </a:r>
            <a:endParaRPr/>
          </a:p>
        </p:txBody>
      </p:sp>
      <p:sp>
        <p:nvSpPr>
          <p:cNvPr id="402" name="Google Shape;402;g3f9c682d955_30_98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[5:40–6:10 · 누적 6:10 · 약 30초]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저희가 만든 판은 규칙도 인원도 페이즈도 고정돼 있습니다. 그 위에서 봇의 두뇌만 갈아 끼울 수 있게 해뒀습니다 — 제공자 교체가 설정 한 줄입니다.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그러면 같은 조건에서 모델별로 사람이 얼마나 빨리 알아채는지, 무엇 때문에 걸리는지를 나란히 놓고 볼 수 있습니다. 소셜 디덕션 벤치마크가 됩니다.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기존 LLM 벤치마크와 다른 점은 심판이 사람이라는 것입니다. 그리고 점수와 함께 "왜 걸렸는지"가 문장으로 남습니다.</a:t>
            </a:r>
            <a:endParaRPr sz="1000"/>
          </a:p>
        </p:txBody>
      </p:sp>
      <p:sp>
        <p:nvSpPr>
          <p:cNvPr id="427" name="Google Shape;4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9dd5f40ea_1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f9dd5f40ea_1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[6:10–6:45 · 누적 6:45 · 약 35초] 사업성은 한 장으로 말씀드립니다. 트래픽이 없는 지금 단계에서 실행 가능한 건 애드센스뿐입니다. 인트로 화면에만 붙이고 게임 화면에는 넣지 않습니다. 애드블록에는 안 보인다는 한계도 알고 있고, 그래서 광고 제거 유료화는 기각했습니다. 부수적으로는 영어 버전 동시 런칭을 봅니다.</a:t>
            </a:r>
            <a:endParaRPr/>
          </a:p>
        </p:txBody>
      </p:sp>
      <p:sp>
        <p:nvSpPr>
          <p:cNvPr id="466" name="Google Shape;466;g3f9dd5f40ea_1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9f5e3993b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9f5e3993b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가로축은 광고 단가입니다. 1,000회 노출당 얼마를 버느냐입니다. 세로축은 판당 마진이고, 광고 수익에서 봇 원가 25원을 뺀 값입니다. 선 네 개는 한 판에 광고가 몇 번 노출되느냐인데, 사람 수 곱하하나 기 광고 화면 수입니다. 5명이 각자 화면 두 개를 보면 노출 10회입니다. 점은 각 선이 0원을 넘는 지점입니다. 왼쪽 회색이 한국 광고 단가 구간인데, 이 안에서 0원을 넘는 것은 광고 화면이 두 개인 경우뿐입니다. 그래서 결과 화면에 광고를 더 붙이는 것이 첫 번째 할 일입니다. 오른쪽은 그 다음 단계로, 판당 마진이 양수가 된 뒤에야 판 수로 서버비를 덮을 수 있습니다.</a:t>
            </a:r>
            <a:endParaRPr/>
          </a:p>
        </p:txBody>
      </p:sp>
      <p:sp>
        <p:nvSpPr>
          <p:cNvPr id="483" name="Google Shape;483;g3f9f5e3993b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[7:05–7:35 · 누적 7:35 · 약 30초] 기획 v1.0은 봇 여러 명이 섞인 마피아였습니다. 4주 안에 끝낼 수 있는 크기로 두 번 덜어내서 지금 형태가 됐습니다. 4주 동안 배운 건 한 문장으로 남습니다 — 오프라인에서 저절로 지켜지던 규칙은, 코드로 옮기는 순간 전부 「어떻게 강제하지?」가 된다는 것이었습니다.</a:t>
            </a:r>
            <a:br>
              <a:rPr lang="en-US"/>
            </a:br>
            <a:r>
              <a:rPr lang="en-US"/>
              <a:t>※ 커밋 수·파일 수는 8/19 기준 — 발표 직전 갱신할 것.</a:t>
            </a:r>
            <a:endParaRPr/>
          </a:p>
        </p:txBody>
      </p:sp>
      <p:sp>
        <p:nvSpPr>
          <p:cNvPr id="544" name="Google Shape;54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[7:35–11:35 · 시연 4분] 발표를 모두 마친 뒤 마지막에 진행. 라이브로 하되 실패 시 녹화본으로 즉시 전환.</a:t>
            </a:r>
            <a:endParaRPr/>
          </a:p>
        </p:txBody>
      </p:sp>
      <p:sp>
        <p:nvSpPr>
          <p:cNvPr id="573" name="Google Shape;57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fa3d26b96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fa3d26b96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fa3d26b96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[시연 종료 후] 감사합니다. 질문 받겠습니다.</a:t>
            </a:r>
            <a:endParaRPr/>
          </a:p>
        </p:txBody>
      </p:sp>
      <p:sp>
        <p:nvSpPr>
          <p:cNvPr id="591" name="Google Shape;59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9b3c50280_0_240"/>
          <p:cNvSpPr txBox="1"/>
          <p:nvPr>
            <p:ph idx="10" type="dt"/>
          </p:nvPr>
        </p:nvSpPr>
        <p:spPr>
          <a:xfrm>
            <a:off x="45720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f9b3c50280_0_240"/>
          <p:cNvSpPr txBox="1"/>
          <p:nvPr>
            <p:ph idx="11" type="ftr"/>
          </p:nvPr>
        </p:nvSpPr>
        <p:spPr>
          <a:xfrm>
            <a:off x="312421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f9b3c50280_0_240"/>
          <p:cNvSpPr txBox="1"/>
          <p:nvPr>
            <p:ph idx="12" type="sldNum"/>
          </p:nvPr>
        </p:nvSpPr>
        <p:spPr>
          <a:xfrm>
            <a:off x="6553227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9c682d955_19_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9c682d955_19_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f9c682d955_19_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9c682d955_19_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f9c682d955_19_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g3f9c682d955_19_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f9c682d955_19_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f9c682d955_19_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9c682d955_19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f9c682d955_19_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f9c682d955_19_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f9c682d955_19_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3f9c682d955_19_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9c682d955_19_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f9c682d955_19_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g3f9c682d955_19_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f9c682d955_19_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f9c682d955_19_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9c682d955_19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f9c682d955_19_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g3f9c682d955_19_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g3f9c682d955_19_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f9c682d955_19_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f9c682d955_19_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9c682d955_19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f9c682d955_19_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g3f9c682d955_19_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g3f9c682d955_19_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g3f9c682d955_19_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g3f9c682d955_19_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f9c682d955_19_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f9c682d955_19_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9c682d955_19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f9c682d955_19_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f9c682d955_19_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f9c682d955_19_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9c682d955_19_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f9c682d955_19_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g3f9c682d955_19_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g3f9c682d955_19_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f9c682d955_19_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f9c682d955_19_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c682d955_19_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f9c682d955_19_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g3f9c682d955_19_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g3f9c682d955_19_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f9c682d955_19_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f9c682d955_19_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9c682d955_19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f9c682d955_19_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g3f9c682d955_19_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f9c682d955_19_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f9c682d955_19_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c682d955_19_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9c682d955_19_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g3f9c682d955_19_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f9c682d955_19_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9c682d955_19_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9c682d955_19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g3f9c682d955_19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g3f9c682d955_19_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g3f9c682d955_19_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g3f9c682d955_19_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zeteo-deploy.up.railway.app/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9IQMVtUEldfdY_mZxkAAhhJrEhewt0E6/view" TargetMode="External"/><Relationship Id="rId4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850392" y="1691640"/>
            <a:ext cx="7498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라이어 게임 속에 숨은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단 하나의 봇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850392" y="4114800"/>
            <a:ext cx="1371600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850392" y="4434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2026. 09. 08.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50392" y="4846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6772563" y="5454675"/>
            <a:ext cx="5035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400"/>
              <a:buFont typeface="Malgun Gothic"/>
              <a:buNone/>
            </a:pPr>
            <a:r>
              <a:rPr i="0" lang="en-US" sz="3000" u="none" cap="none" strike="noStrike">
                <a:solidFill>
                  <a:srgbClr val="D3BFC0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우리 중 하나는 사람이 아닙니다</a:t>
            </a:r>
            <a:endParaRPr i="0" sz="3000" u="none" cap="none" strike="noStrike">
              <a:solidFill>
                <a:srgbClr val="D3BFC0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pic>
        <p:nvPicPr>
          <p:cNvPr descr="C:\Users\dd022\Desktop\개발 공부 자료\Project\Zeteo\apps\frontend\public\zeteo-logo.png"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444" y="586275"/>
            <a:ext cx="3905899" cy="1788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"/>
          <p:cNvGrpSpPr/>
          <p:nvPr/>
        </p:nvGrpSpPr>
        <p:grpSpPr>
          <a:xfrm>
            <a:off x="7780769" y="986333"/>
            <a:ext cx="3019500" cy="4235400"/>
            <a:chOff x="6754971" y="392342"/>
            <a:chExt cx="3019500" cy="4235400"/>
          </a:xfrm>
        </p:grpSpPr>
        <p:sp>
          <p:nvSpPr>
            <p:cNvPr id="103" name="Google Shape;103;p1"/>
            <p:cNvSpPr/>
            <p:nvPr/>
          </p:nvSpPr>
          <p:spPr>
            <a:xfrm>
              <a:off x="6754971" y="392342"/>
              <a:ext cx="3019500" cy="4235400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1" i="0" sz="2100" u="none" cap="none" strike="noStrike">
              <a:solidFill>
                <a:srgbClr val="FF27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발표 흐름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5039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50392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소개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5039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5039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45404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4454042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배경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445404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445404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8057693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8057693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시나리오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8057693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8057693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85039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50392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50392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5039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445404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4454042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4454042" y="44256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445404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8057693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8057693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방안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8057693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8057693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85039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850392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사업성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85039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85039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445404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4454042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히스토리 · 결론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445404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445404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8057693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8057693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8057693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8057693" y="6108192"/>
            <a:ext cx="3283610" cy="10973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팀원 소개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grpSp>
        <p:nvGrpSpPr>
          <p:cNvPr id="159" name="Google Shape;159;p3"/>
          <p:cNvGrpSpPr/>
          <p:nvPr/>
        </p:nvGrpSpPr>
        <p:grpSpPr>
          <a:xfrm>
            <a:off x="288194" y="2139764"/>
            <a:ext cx="2805423" cy="3767700"/>
            <a:chOff x="168577" y="2139764"/>
            <a:chExt cx="2805423" cy="3767700"/>
          </a:xfrm>
        </p:grpSpPr>
        <p:sp>
          <p:nvSpPr>
            <p:cNvPr id="160" name="Google Shape;160;p3"/>
            <p:cNvSpPr/>
            <p:nvPr/>
          </p:nvSpPr>
          <p:spPr>
            <a:xfrm>
              <a:off x="168577" y="2139764"/>
              <a:ext cx="2805300" cy="3767700"/>
            </a:xfrm>
            <a:prstGeom prst="rect">
              <a:avLst/>
            </a:prstGeom>
            <a:solidFill>
              <a:srgbClr val="F4F4F4"/>
            </a:solidFill>
            <a:ln cap="flat" cmpd="sng" w="22100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68577" y="2139764"/>
              <a:ext cx="2805398" cy="95521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 txBox="1"/>
            <p:nvPr/>
          </p:nvSpPr>
          <p:spPr>
            <a:xfrm>
              <a:off x="1223490" y="2139764"/>
              <a:ext cx="1637980" cy="955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박진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285291" y="3419004"/>
              <a:ext cx="22962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팀장 · 프론트 기반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3"/>
            <p:cNvSpPr txBox="1"/>
            <p:nvPr/>
          </p:nvSpPr>
          <p:spPr>
            <a:xfrm>
              <a:off x="285100" y="4250536"/>
              <a:ext cx="2688900" cy="10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br>
                <a:rPr lang="en-US" sz="16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디자인 토큰 · 공용 컴포넌트</a:t>
              </a:r>
              <a:b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b="0" i="0" sz="139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랜딩 / </a:t>
              </a:r>
              <a:r>
                <a:rPr lang="en-US" sz="18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방목록 / 대기실 / </a:t>
              </a:r>
              <a:endParaRPr sz="18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 / 설문</a:t>
              </a:r>
              <a:endParaRPr b="0" i="0" sz="165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t/>
              </a:r>
              <a:endPara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60732" y="2228225"/>
              <a:ext cx="758400" cy="777300"/>
            </a:xfrm>
            <a:prstGeom prst="ellipse">
              <a:avLst/>
            </a:prstGeom>
            <a:noFill/>
            <a:ln cap="flat" cmpd="sng" w="38100">
              <a:solidFill>
                <a:srgbClr val="FF27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FF2733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F</a:t>
              </a:r>
              <a:endParaRPr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3220172" y="2139707"/>
            <a:ext cx="2805398" cy="3767771"/>
            <a:chOff x="3180300" y="2139707"/>
            <a:chExt cx="2805398" cy="3767771"/>
          </a:xfrm>
        </p:grpSpPr>
        <p:sp>
          <p:nvSpPr>
            <p:cNvPr id="167" name="Google Shape;167;p3"/>
            <p:cNvSpPr/>
            <p:nvPr/>
          </p:nvSpPr>
          <p:spPr>
            <a:xfrm>
              <a:off x="3180300" y="2139707"/>
              <a:ext cx="2805398" cy="3767771"/>
            </a:xfrm>
            <a:prstGeom prst="rect">
              <a:avLst/>
            </a:prstGeom>
            <a:solidFill>
              <a:srgbClr val="F4F4F4"/>
            </a:solidFill>
            <a:ln cap="flat" cmpd="sng" w="25800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3180300" y="2139707"/>
              <a:ext cx="2805398" cy="95521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4177404" y="2139707"/>
              <a:ext cx="1637980" cy="955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이현우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3318245" y="3418947"/>
              <a:ext cx="22962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프론트 · 게임 화면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"/>
            <p:cNvSpPr txBox="1"/>
            <p:nvPr/>
          </p:nvSpPr>
          <p:spPr>
            <a:xfrm>
              <a:off x="3284825" y="4243418"/>
              <a:ext cx="2678100" cy="8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lang="en-US" sz="18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컨텐츠 기획</a:t>
              </a:r>
              <a:b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b="0" i="0" sz="18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lang="en-US" sz="18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 플레이 화면</a:t>
              </a:r>
              <a:endParaRPr b="0" i="0" sz="18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3265492" y="2228225"/>
              <a:ext cx="758400" cy="777300"/>
            </a:xfrm>
            <a:prstGeom prst="ellipse">
              <a:avLst/>
            </a:prstGeom>
            <a:noFill/>
            <a:ln cap="flat" cmpd="sng" w="38100">
              <a:solidFill>
                <a:srgbClr val="FF27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FF2733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F</a:t>
              </a:r>
              <a:endParaRPr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</p:grpSp>
      <p:grpSp>
        <p:nvGrpSpPr>
          <p:cNvPr id="173" name="Google Shape;173;p3"/>
          <p:cNvGrpSpPr/>
          <p:nvPr/>
        </p:nvGrpSpPr>
        <p:grpSpPr>
          <a:xfrm>
            <a:off x="9104336" y="2139770"/>
            <a:ext cx="2805398" cy="3767771"/>
            <a:chOff x="9204016" y="2139770"/>
            <a:chExt cx="2805398" cy="3767771"/>
          </a:xfrm>
        </p:grpSpPr>
        <p:sp>
          <p:nvSpPr>
            <p:cNvPr id="174" name="Google Shape;174;p3"/>
            <p:cNvSpPr/>
            <p:nvPr/>
          </p:nvSpPr>
          <p:spPr>
            <a:xfrm>
              <a:off x="9204016" y="2139770"/>
              <a:ext cx="2805398" cy="3767771"/>
            </a:xfrm>
            <a:prstGeom prst="rect">
              <a:avLst/>
            </a:prstGeom>
            <a:solidFill>
              <a:srgbClr val="F4F4F4"/>
            </a:solidFill>
            <a:ln cap="flat" cmpd="sng" w="22125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9204016" y="2139770"/>
              <a:ext cx="2805398" cy="95521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 txBox="1"/>
            <p:nvPr/>
          </p:nvSpPr>
          <p:spPr>
            <a:xfrm>
              <a:off x="10208991" y="2139770"/>
              <a:ext cx="1637980" cy="9551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김정현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9278265" y="3419010"/>
              <a:ext cx="22962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엔진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9299448" y="4202905"/>
              <a:ext cx="2678100" cy="8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말투 </a:t>
              </a:r>
              <a:r>
                <a:rPr lang="en-US" sz="18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 행동 </a:t>
              </a:r>
              <a: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규칙</a:t>
              </a:r>
              <a:endParaRPr sz="18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t/>
              </a:r>
              <a:endParaRPr sz="15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8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프롬프트</a:t>
              </a:r>
              <a:r>
                <a:rPr lang="en-US" sz="18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개선 루프 설계</a:t>
              </a:r>
              <a:endParaRPr sz="18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9299142" y="2228225"/>
              <a:ext cx="758400" cy="777300"/>
            </a:xfrm>
            <a:prstGeom prst="ellipse">
              <a:avLst/>
            </a:prstGeom>
            <a:noFill/>
            <a:ln cap="flat" cmpd="sng" w="38100">
              <a:solidFill>
                <a:srgbClr val="FF27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FF2733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B</a:t>
              </a:r>
              <a:endParaRPr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</p:grpSp>
      <p:grpSp>
        <p:nvGrpSpPr>
          <p:cNvPr id="180" name="Google Shape;180;p3"/>
          <p:cNvGrpSpPr/>
          <p:nvPr/>
        </p:nvGrpSpPr>
        <p:grpSpPr>
          <a:xfrm>
            <a:off x="6161882" y="2139660"/>
            <a:ext cx="2805528" cy="3767308"/>
            <a:chOff x="6191787" y="2139660"/>
            <a:chExt cx="2805528" cy="3767308"/>
          </a:xfrm>
        </p:grpSpPr>
        <p:sp>
          <p:nvSpPr>
            <p:cNvPr id="181" name="Google Shape;181;p3"/>
            <p:cNvSpPr/>
            <p:nvPr/>
          </p:nvSpPr>
          <p:spPr>
            <a:xfrm>
              <a:off x="6282317" y="2228225"/>
              <a:ext cx="758400" cy="777300"/>
            </a:xfrm>
            <a:prstGeom prst="ellipse">
              <a:avLst/>
            </a:prstGeom>
            <a:noFill/>
            <a:ln cap="flat" cmpd="sng" w="38100">
              <a:solidFill>
                <a:srgbClr val="FF27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FF2733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B</a:t>
              </a:r>
              <a:endParaRPr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6191787" y="2139660"/>
              <a:ext cx="2805528" cy="3767308"/>
            </a:xfrm>
            <a:prstGeom prst="rect">
              <a:avLst/>
            </a:prstGeom>
            <a:solidFill>
              <a:srgbClr val="F4F4F4"/>
            </a:solidFill>
            <a:ln cap="flat" cmpd="sng" w="22125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6191787" y="2139660"/>
              <a:ext cx="2805528" cy="955058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6446509" y="2139660"/>
              <a:ext cx="636876" cy="955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3018"/>
                <a:buFont typeface="Malgun Gothic"/>
                <a:buNone/>
              </a:pPr>
              <a:r>
                <a:t/>
              </a:r>
              <a:endParaRPr b="0" i="0" sz="30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3"/>
            <p:cNvSpPr txBox="1"/>
            <p:nvPr/>
          </p:nvSpPr>
          <p:spPr>
            <a:xfrm>
              <a:off x="7204634" y="2139660"/>
              <a:ext cx="1637980" cy="955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유민성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3"/>
            <p:cNvSpPr txBox="1"/>
            <p:nvPr/>
          </p:nvSpPr>
          <p:spPr>
            <a:xfrm>
              <a:off x="6275425" y="4147225"/>
              <a:ext cx="2697300" cy="135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rPr lang="en-US" sz="18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서버 · 이벤트</a:t>
              </a:r>
              <a:r>
                <a:rPr lang="en-US" sz="18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· </a:t>
              </a:r>
              <a:r>
                <a:rPr lang="en-US" sz="18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페이즈</a:t>
              </a:r>
              <a:br>
                <a:rPr lang="en-US" sz="18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en-US" sz="18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정보 격리</a:t>
              </a:r>
              <a:endParaRPr b="1" sz="18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t/>
              </a:r>
              <a:endParaRPr sz="18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rPr lang="en-US" sz="18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스키마 · 인프라 설계</a:t>
              </a:r>
              <a:endParaRPr sz="18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6276652" y="3418798"/>
              <a:ext cx="2296200" cy="31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백엔드 · 서버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6282317" y="2228225"/>
              <a:ext cx="758400" cy="777300"/>
            </a:xfrm>
            <a:prstGeom prst="ellipse">
              <a:avLst/>
            </a:prstGeom>
            <a:noFill/>
            <a:ln cap="flat" cmpd="sng" w="38100">
              <a:solidFill>
                <a:srgbClr val="FF27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>
                  <a:solidFill>
                    <a:srgbClr val="FF2733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B</a:t>
              </a:r>
              <a:endParaRPr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기획 배경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850400" y="2311066"/>
            <a:ext cx="4892100" cy="71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AI는 소셜 디덕션 게임할 때 티가 난다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4"/>
          <p:cNvCxnSpPr/>
          <p:nvPr/>
        </p:nvCxnSpPr>
        <p:spPr>
          <a:xfrm>
            <a:off x="3296412" y="3192403"/>
            <a:ext cx="0" cy="25590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00" name="Google Shape;200;p4"/>
          <p:cNvSpPr/>
          <p:nvPr/>
        </p:nvSpPr>
        <p:spPr>
          <a:xfrm>
            <a:off x="850400" y="3621390"/>
            <a:ext cx="4892100" cy="13155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사람처럼 말하는 봇을 넣는다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봇이 스스로 나아지게 한다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6405741" y="2463833"/>
            <a:ext cx="21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 루프</a:t>
            </a:r>
            <a:endParaRPr b="1" sz="2400"/>
          </a:p>
        </p:txBody>
      </p:sp>
      <p:sp>
        <p:nvSpPr>
          <p:cNvPr id="202" name="Google Shape;202;p4"/>
          <p:cNvSpPr txBox="1"/>
          <p:nvPr/>
        </p:nvSpPr>
        <p:spPr>
          <a:xfrm>
            <a:off x="6405741" y="3100292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800"/>
          </a:p>
        </p:txBody>
      </p:sp>
      <p:sp>
        <p:nvSpPr>
          <p:cNvPr id="203" name="Google Shape;203;p4"/>
          <p:cNvSpPr txBox="1"/>
          <p:nvPr/>
        </p:nvSpPr>
        <p:spPr>
          <a:xfrm>
            <a:off x="6881228" y="3115954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종료 시점에 봇을 지목한다</a:t>
            </a:r>
            <a:endParaRPr sz="1800"/>
          </a:p>
        </p:txBody>
      </p:sp>
      <p:sp>
        <p:nvSpPr>
          <p:cNvPr id="204" name="Google Shape;204;p4"/>
          <p:cNvSpPr/>
          <p:nvPr/>
        </p:nvSpPr>
        <p:spPr>
          <a:xfrm>
            <a:off x="6405749" y="3516579"/>
            <a:ext cx="4917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6405741" y="3680256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800"/>
          </a:p>
        </p:txBody>
      </p:sp>
      <p:sp>
        <p:nvSpPr>
          <p:cNvPr id="206" name="Google Shape;206;p4"/>
          <p:cNvSpPr txBox="1"/>
          <p:nvPr/>
        </p:nvSpPr>
        <p:spPr>
          <a:xfrm>
            <a:off x="6881228" y="3684602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티가 난 부분을 설문으로 받는다</a:t>
            </a:r>
            <a:endParaRPr sz="1800"/>
          </a:p>
        </p:txBody>
      </p:sp>
      <p:sp>
        <p:nvSpPr>
          <p:cNvPr id="207" name="Google Shape;207;p4"/>
          <p:cNvSpPr/>
          <p:nvPr/>
        </p:nvSpPr>
        <p:spPr>
          <a:xfrm>
            <a:off x="6405749" y="4130480"/>
            <a:ext cx="4917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6405741" y="4271539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800"/>
          </a:p>
        </p:txBody>
      </p:sp>
      <p:sp>
        <p:nvSpPr>
          <p:cNvPr id="209" name="Google Shape;209;p4"/>
          <p:cNvSpPr txBox="1"/>
          <p:nvPr/>
        </p:nvSpPr>
        <p:spPr>
          <a:xfrm>
            <a:off x="6881228" y="4253251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봇의 지침을 갱신한다</a:t>
            </a:r>
            <a:endParaRPr b="1" sz="210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850400" y="5328232"/>
            <a:ext cx="10491300" cy="6465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라이어를 찾는 게임 속에 봇을 찾는 게임을 담았습니다.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9c682d955_33_0"/>
          <p:cNvSpPr/>
          <p:nvPr/>
        </p:nvSpPr>
        <p:spPr>
          <a:xfrm>
            <a:off x="0" y="0"/>
            <a:ext cx="12192020" cy="1783080"/>
          </a:xfrm>
          <a:prstGeom prst="rect">
            <a:avLst/>
          </a:prstGeom>
          <a:solidFill>
            <a:srgbClr val="14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9c682d955_33_0"/>
          <p:cNvSpPr/>
          <p:nvPr/>
        </p:nvSpPr>
        <p:spPr>
          <a:xfrm>
            <a:off x="0" y="1751076"/>
            <a:ext cx="12192020" cy="32004"/>
          </a:xfrm>
          <a:prstGeom prst="rect">
            <a:avLst/>
          </a:prstGeom>
          <a:solidFill>
            <a:srgbClr val="E942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9c682d955_33_0"/>
          <p:cNvSpPr txBox="1"/>
          <p:nvPr/>
        </p:nvSpPr>
        <p:spPr>
          <a:xfrm>
            <a:off x="850392" y="457200"/>
            <a:ext cx="10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9c682d955_33_0"/>
          <p:cNvSpPr txBox="1"/>
          <p:nvPr/>
        </p:nvSpPr>
        <p:spPr>
          <a:xfrm>
            <a:off x="850392" y="804672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lang="en-US" sz="32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유저 시나리오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grpSp>
        <p:nvGrpSpPr>
          <p:cNvPr id="220" name="Google Shape;220;g3f9c682d955_33_0"/>
          <p:cNvGrpSpPr/>
          <p:nvPr/>
        </p:nvGrpSpPr>
        <p:grpSpPr>
          <a:xfrm>
            <a:off x="535143" y="2891493"/>
            <a:ext cx="11059878" cy="2899865"/>
            <a:chOff x="583370" y="2216303"/>
            <a:chExt cx="11059878" cy="2899865"/>
          </a:xfrm>
        </p:grpSpPr>
        <p:cxnSp>
          <p:nvCxnSpPr>
            <p:cNvPr id="221" name="Google Shape;221;g3f9c682d955_33_0"/>
            <p:cNvCxnSpPr/>
            <p:nvPr/>
          </p:nvCxnSpPr>
          <p:spPr>
            <a:xfrm>
              <a:off x="1373352" y="3119563"/>
              <a:ext cx="9479700" cy="0"/>
            </a:xfrm>
            <a:prstGeom prst="straightConnector1">
              <a:avLst/>
            </a:prstGeom>
            <a:noFill/>
            <a:ln cap="flat" cmpd="sng" w="26400">
              <a:solidFill>
                <a:srgbClr val="DCDCD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2" name="Google Shape;222;g3f9c682d955_33_0"/>
            <p:cNvSpPr/>
            <p:nvPr/>
          </p:nvSpPr>
          <p:spPr>
            <a:xfrm>
              <a:off x="583370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g3f9c682d955_33_0"/>
            <p:cNvSpPr/>
            <p:nvPr/>
          </p:nvSpPr>
          <p:spPr>
            <a:xfrm>
              <a:off x="1259181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g3f9c682d955_33_0"/>
            <p:cNvSpPr/>
            <p:nvPr/>
          </p:nvSpPr>
          <p:spPr>
            <a:xfrm>
              <a:off x="583370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g3f9c682d955_33_0"/>
            <p:cNvSpPr/>
            <p:nvPr/>
          </p:nvSpPr>
          <p:spPr>
            <a:xfrm>
              <a:off x="2163333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g3f9c682d955_33_0"/>
            <p:cNvSpPr/>
            <p:nvPr/>
          </p:nvSpPr>
          <p:spPr>
            <a:xfrm>
              <a:off x="2839143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f9c682d955_33_0"/>
            <p:cNvSpPr/>
            <p:nvPr/>
          </p:nvSpPr>
          <p:spPr>
            <a:xfrm>
              <a:off x="2163333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입장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3f9c682d955_33_0"/>
            <p:cNvSpPr/>
            <p:nvPr/>
          </p:nvSpPr>
          <p:spPr>
            <a:xfrm>
              <a:off x="3743296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03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g3f9c682d955_33_0"/>
            <p:cNvSpPr/>
            <p:nvPr/>
          </p:nvSpPr>
          <p:spPr>
            <a:xfrm>
              <a:off x="4419107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f9c682d955_33_0"/>
            <p:cNvSpPr/>
            <p:nvPr/>
          </p:nvSpPr>
          <p:spPr>
            <a:xfrm>
              <a:off x="3743296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f9c682d955_33_0"/>
            <p:cNvSpPr/>
            <p:nvPr/>
          </p:nvSpPr>
          <p:spPr>
            <a:xfrm>
              <a:off x="6903222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05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g3f9c682d955_33_0"/>
            <p:cNvSpPr/>
            <p:nvPr/>
          </p:nvSpPr>
          <p:spPr>
            <a:xfrm>
              <a:off x="7579032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g3f9c682d955_33_0"/>
            <p:cNvSpPr/>
            <p:nvPr/>
          </p:nvSpPr>
          <p:spPr>
            <a:xfrm>
              <a:off x="6903222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g3f9c682d955_33_0"/>
            <p:cNvSpPr/>
            <p:nvPr/>
          </p:nvSpPr>
          <p:spPr>
            <a:xfrm>
              <a:off x="8483185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06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g3f9c682d955_33_0"/>
            <p:cNvSpPr/>
            <p:nvPr/>
          </p:nvSpPr>
          <p:spPr>
            <a:xfrm>
              <a:off x="9079138" y="2925600"/>
              <a:ext cx="388200" cy="388200"/>
            </a:xfrm>
            <a:prstGeom prst="ellipse">
              <a:avLst/>
            </a:prstGeom>
            <a:solidFill>
              <a:srgbClr val="F6D9D7"/>
            </a:solidFill>
            <a:ln>
              <a:noFill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g3f9c682d955_33_0"/>
            <p:cNvSpPr/>
            <p:nvPr/>
          </p:nvSpPr>
          <p:spPr>
            <a:xfrm>
              <a:off x="9158996" y="3005467"/>
              <a:ext cx="228300" cy="228300"/>
            </a:xfrm>
            <a:prstGeom prst="ellipse">
              <a:avLst/>
            </a:prstGeom>
            <a:solidFill>
              <a:srgbClr val="E9423E"/>
            </a:solidFill>
            <a:ln cap="flat" cmpd="sng" w="19825">
              <a:solidFill>
                <a:srgbClr val="E942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g3f9c682d955_33_0"/>
            <p:cNvSpPr/>
            <p:nvPr/>
          </p:nvSpPr>
          <p:spPr>
            <a:xfrm>
              <a:off x="8483185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설문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g3f9c682d955_33_0"/>
            <p:cNvSpPr/>
            <p:nvPr/>
          </p:nvSpPr>
          <p:spPr>
            <a:xfrm>
              <a:off x="7682880" y="4165467"/>
              <a:ext cx="3180600" cy="95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386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지목</a:t>
              </a:r>
              <a:b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이유 수집</a:t>
              </a:r>
              <a:endPara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g3f9c682d955_33_0"/>
            <p:cNvSpPr/>
            <p:nvPr/>
          </p:nvSpPr>
          <p:spPr>
            <a:xfrm>
              <a:off x="10063149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07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3f9c682d955_33_0"/>
            <p:cNvSpPr/>
            <p:nvPr/>
          </p:nvSpPr>
          <p:spPr>
            <a:xfrm>
              <a:off x="10738958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f9c682d955_33_0"/>
            <p:cNvSpPr/>
            <p:nvPr/>
          </p:nvSpPr>
          <p:spPr>
            <a:xfrm>
              <a:off x="10063149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g3f9c682d955_33_0"/>
            <p:cNvSpPr/>
            <p:nvPr/>
          </p:nvSpPr>
          <p:spPr>
            <a:xfrm>
              <a:off x="5919211" y="2925600"/>
              <a:ext cx="388200" cy="388200"/>
            </a:xfrm>
            <a:prstGeom prst="ellipse">
              <a:avLst/>
            </a:prstGeom>
            <a:solidFill>
              <a:srgbClr val="F6D9D7"/>
            </a:solidFill>
            <a:ln>
              <a:noFill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f9c682d955_33_0"/>
            <p:cNvSpPr/>
            <p:nvPr/>
          </p:nvSpPr>
          <p:spPr>
            <a:xfrm>
              <a:off x="5323260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04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g3f9c682d955_33_0"/>
            <p:cNvSpPr/>
            <p:nvPr/>
          </p:nvSpPr>
          <p:spPr>
            <a:xfrm>
              <a:off x="5999069" y="3005467"/>
              <a:ext cx="228300" cy="228300"/>
            </a:xfrm>
            <a:prstGeom prst="ellipse">
              <a:avLst/>
            </a:prstGeom>
            <a:solidFill>
              <a:srgbClr val="E9423E"/>
            </a:solidFill>
            <a:ln cap="flat" cmpd="sng" w="19825">
              <a:solidFill>
                <a:srgbClr val="E942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f9c682d955_33_0"/>
            <p:cNvSpPr/>
            <p:nvPr/>
          </p:nvSpPr>
          <p:spPr>
            <a:xfrm>
              <a:off x="5323260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지목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g3f9c682d955_24_0"/>
          <p:cNvGrpSpPr/>
          <p:nvPr/>
        </p:nvGrpSpPr>
        <p:grpSpPr>
          <a:xfrm>
            <a:off x="228600" y="1901285"/>
            <a:ext cx="3017521" cy="1163334"/>
            <a:chOff x="228600" y="2208089"/>
            <a:chExt cx="3017521" cy="1163334"/>
          </a:xfrm>
        </p:grpSpPr>
        <p:grpSp>
          <p:nvGrpSpPr>
            <p:cNvPr id="251" name="Google Shape;251;g3f9c682d955_24_0"/>
            <p:cNvGrpSpPr/>
            <p:nvPr/>
          </p:nvGrpSpPr>
          <p:grpSpPr>
            <a:xfrm>
              <a:off x="228600" y="2208089"/>
              <a:ext cx="3017521" cy="1163334"/>
              <a:chOff x="228600" y="2113431"/>
              <a:chExt cx="3017521" cy="1163334"/>
            </a:xfrm>
          </p:grpSpPr>
          <p:sp>
            <p:nvSpPr>
              <p:cNvPr id="252" name="Google Shape;252;g3f9c682d955_24_0"/>
              <p:cNvSpPr/>
              <p:nvPr/>
            </p:nvSpPr>
            <p:spPr>
              <a:xfrm>
                <a:off x="228600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랜딩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g3f9c682d955_24_0"/>
              <p:cNvSpPr/>
              <p:nvPr/>
            </p:nvSpPr>
            <p:spPr>
              <a:xfrm>
                <a:off x="1248157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6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방목록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g3f9c682d955_24_0"/>
              <p:cNvSpPr/>
              <p:nvPr/>
            </p:nvSpPr>
            <p:spPr>
              <a:xfrm>
                <a:off x="2267713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6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대기실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g3f9c682d955_24_0"/>
              <p:cNvSpPr/>
              <p:nvPr/>
            </p:nvSpPr>
            <p:spPr>
              <a:xfrm>
                <a:off x="228600" y="2805958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게임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g3f9c682d955_24_0"/>
              <p:cNvSpPr/>
              <p:nvPr/>
            </p:nvSpPr>
            <p:spPr>
              <a:xfrm>
                <a:off x="2267607" y="2798962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C2162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설문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g3f9c682d955_24_0"/>
              <p:cNvSpPr/>
              <p:nvPr/>
            </p:nvSpPr>
            <p:spPr>
              <a:xfrm>
                <a:off x="1248138" y="2808164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결과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8" name="Google Shape;258;g3f9c682d955_24_0"/>
              <p:cNvCxnSpPr/>
              <p:nvPr/>
            </p:nvCxnSpPr>
            <p:spPr>
              <a:xfrm>
                <a:off x="1124712" y="2347668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59" name="Google Shape;259;g3f9c682d955_24_0"/>
              <p:cNvCxnSpPr/>
              <p:nvPr/>
            </p:nvCxnSpPr>
            <p:spPr>
              <a:xfrm>
                <a:off x="1124712" y="3040195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0" name="Google Shape;260;g3f9c682d955_24_0"/>
              <p:cNvCxnSpPr/>
              <p:nvPr/>
            </p:nvCxnSpPr>
            <p:spPr>
              <a:xfrm>
                <a:off x="2144269" y="2347668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1" name="Google Shape;261;g3f9c682d955_24_0"/>
              <p:cNvCxnSpPr/>
              <p:nvPr/>
            </p:nvCxnSpPr>
            <p:spPr>
              <a:xfrm>
                <a:off x="2144269" y="3040195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2" name="Google Shape;262;g3f9c682d955_24_0"/>
              <p:cNvCxnSpPr/>
              <p:nvPr/>
            </p:nvCxnSpPr>
            <p:spPr>
              <a:xfrm>
                <a:off x="3163825" y="2347668"/>
                <a:ext cx="822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3" name="Google Shape;263;g3f9c682d955_24_0"/>
              <p:cNvCxnSpPr/>
              <p:nvPr/>
            </p:nvCxnSpPr>
            <p:spPr>
              <a:xfrm rot="10800000">
                <a:off x="676621" y="2663379"/>
                <a:ext cx="25695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4" name="Google Shape;264;g3f9c682d955_24_0"/>
              <p:cNvCxnSpPr/>
              <p:nvPr/>
            </p:nvCxnSpPr>
            <p:spPr>
              <a:xfrm>
                <a:off x="676656" y="2663379"/>
                <a:ext cx="0" cy="1425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</p:grpSp>
        <p:cxnSp>
          <p:nvCxnSpPr>
            <p:cNvPr id="265" name="Google Shape;265;g3f9c682d955_24_0"/>
            <p:cNvCxnSpPr/>
            <p:nvPr/>
          </p:nvCxnSpPr>
          <p:spPr>
            <a:xfrm>
              <a:off x="3246121" y="2442319"/>
              <a:ext cx="0" cy="315600"/>
            </a:xfrm>
            <a:prstGeom prst="straightConnector1">
              <a:avLst/>
            </a:prstGeom>
            <a:noFill/>
            <a:ln cap="flat" cmpd="sng" w="12700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sp>
        <p:nvSpPr>
          <p:cNvPr id="266" name="Google Shape;266;g3f9c682d955_24_0"/>
          <p:cNvSpPr/>
          <p:nvPr/>
        </p:nvSpPr>
        <p:spPr>
          <a:xfrm>
            <a:off x="0" y="0"/>
            <a:ext cx="12191700" cy="1024200"/>
          </a:xfrm>
          <a:prstGeom prst="roundRect">
            <a:avLst>
              <a:gd fmla="val 0" name="adj"/>
            </a:avLst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9c682d955_24_0"/>
          <p:cNvSpPr/>
          <p:nvPr/>
        </p:nvSpPr>
        <p:spPr>
          <a:xfrm>
            <a:off x="0" y="1024125"/>
            <a:ext cx="12191700" cy="35700"/>
          </a:xfrm>
          <a:prstGeom prst="roundRect">
            <a:avLst>
              <a:gd fmla="val 0" name="adj"/>
            </a:avLst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9c682d955_24_0"/>
          <p:cNvSpPr txBox="1"/>
          <p:nvPr/>
        </p:nvSpPr>
        <p:spPr>
          <a:xfrm>
            <a:off x="850392" y="116864"/>
            <a:ext cx="548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04</a:t>
            </a:r>
            <a:endParaRPr sz="2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g3f9c682d955_24_0"/>
          <p:cNvSpPr txBox="1"/>
          <p:nvPr/>
        </p:nvSpPr>
        <p:spPr>
          <a:xfrm>
            <a:off x="838335" y="436047"/>
            <a:ext cx="7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시스템 설계도</a:t>
            </a:r>
            <a:endParaRPr sz="3200"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270" name="Google Shape;270;g3f9c682d955_24_0"/>
          <p:cNvSpPr/>
          <p:nvPr/>
        </p:nvSpPr>
        <p:spPr>
          <a:xfrm>
            <a:off x="228600" y="1273130"/>
            <a:ext cx="3063300" cy="346200"/>
          </a:xfrm>
          <a:prstGeom prst="roundRect">
            <a:avLst>
              <a:gd fmla="val 30000" name="adj"/>
            </a:avLst>
          </a:prstGeom>
          <a:solidFill>
            <a:srgbClr val="575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" name="Google Shape;271;g3f9c682d955_24_0"/>
          <p:cNvSpPr/>
          <p:nvPr/>
        </p:nvSpPr>
        <p:spPr>
          <a:xfrm>
            <a:off x="4069082" y="1273130"/>
            <a:ext cx="4480500" cy="346200"/>
          </a:xfrm>
          <a:prstGeom prst="roundRect">
            <a:avLst>
              <a:gd fmla="val 30000" name="adj"/>
            </a:avLst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Railway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g3f9c682d955_24_0"/>
          <p:cNvSpPr/>
          <p:nvPr/>
        </p:nvSpPr>
        <p:spPr>
          <a:xfrm>
            <a:off x="8823964" y="1273130"/>
            <a:ext cx="2862000" cy="346200"/>
          </a:xfrm>
          <a:prstGeom prst="roundRect">
            <a:avLst>
              <a:gd fmla="val 3000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API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g3f9c682d955_24_0"/>
          <p:cNvSpPr/>
          <p:nvPr/>
        </p:nvSpPr>
        <p:spPr>
          <a:xfrm>
            <a:off x="228600" y="3327557"/>
            <a:ext cx="3063300" cy="10692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f9c682d955_24_0"/>
          <p:cNvSpPr txBox="1"/>
          <p:nvPr/>
        </p:nvSpPr>
        <p:spPr>
          <a:xfrm>
            <a:off x="384052" y="3494199"/>
            <a:ext cx="277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클라이언트</a:t>
            </a:r>
            <a:endParaRPr b="1" i="0" sz="2100" u="none" cap="none" strike="noStrike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g3f9c682d955_24_0"/>
          <p:cNvSpPr txBox="1"/>
          <p:nvPr/>
        </p:nvSpPr>
        <p:spPr>
          <a:xfrm>
            <a:off x="304328" y="3967671"/>
            <a:ext cx="295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Vite + CSR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Socket.io-client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" name="Google Shape;276;g3f9c682d955_24_0"/>
          <p:cNvSpPr/>
          <p:nvPr/>
        </p:nvSpPr>
        <p:spPr>
          <a:xfrm>
            <a:off x="4069075" y="1920901"/>
            <a:ext cx="4480500" cy="6570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Express + Socket.IO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9c682d955_24_0"/>
          <p:cNvSpPr/>
          <p:nvPr/>
        </p:nvSpPr>
        <p:spPr>
          <a:xfrm>
            <a:off x="4069075" y="3036250"/>
            <a:ext cx="4480500" cy="7143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로직 코어</a:t>
            </a:r>
            <a:endParaRPr sz="1800">
              <a:solidFill>
                <a:srgbClr val="F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g3f9c682d955_24_0"/>
          <p:cNvCxnSpPr/>
          <p:nvPr/>
        </p:nvCxnSpPr>
        <p:spPr>
          <a:xfrm>
            <a:off x="6309363" y="3783525"/>
            <a:ext cx="0" cy="3054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9" name="Google Shape;279;g3f9c682d955_24_0"/>
          <p:cNvSpPr/>
          <p:nvPr/>
        </p:nvSpPr>
        <p:spPr>
          <a:xfrm>
            <a:off x="4069082" y="4130186"/>
            <a:ext cx="4480500" cy="10692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9c682d955_24_0"/>
          <p:cNvSpPr txBox="1"/>
          <p:nvPr/>
        </p:nvSpPr>
        <p:spPr>
          <a:xfrm>
            <a:off x="5920225" y="4174650"/>
            <a:ext cx="77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모듈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g3f9c682d955_24_0"/>
          <p:cNvSpPr/>
          <p:nvPr/>
        </p:nvSpPr>
        <p:spPr>
          <a:xfrm>
            <a:off x="4213475" y="4537575"/>
            <a:ext cx="11256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index.ts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9c682d955_24_0"/>
          <p:cNvSpPr/>
          <p:nvPr/>
        </p:nvSpPr>
        <p:spPr>
          <a:xfrm>
            <a:off x="5448550" y="4537575"/>
            <a:ext cx="1841100" cy="605100"/>
          </a:xfrm>
          <a:prstGeom prst="roundRect">
            <a:avLst>
              <a:gd fmla="val 10000" name="adj"/>
            </a:avLst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prompts.ts</a:t>
            </a:r>
            <a:endParaRPr b="1" sz="2400">
              <a:solidFill>
                <a:srgbClr val="FF27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9c682d955_24_0"/>
          <p:cNvSpPr/>
          <p:nvPr/>
        </p:nvSpPr>
        <p:spPr>
          <a:xfrm>
            <a:off x="7399275" y="4537564"/>
            <a:ext cx="10284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llm.ts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g3f9c682d955_24_0"/>
          <p:cNvCxnSpPr/>
          <p:nvPr/>
        </p:nvCxnSpPr>
        <p:spPr>
          <a:xfrm>
            <a:off x="6309363" y="5213169"/>
            <a:ext cx="2700" cy="1389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5" name="Google Shape;285;g3f9c682d955_24_0"/>
          <p:cNvSpPr/>
          <p:nvPr/>
        </p:nvSpPr>
        <p:spPr>
          <a:xfrm>
            <a:off x="4069082" y="5365818"/>
            <a:ext cx="4480500" cy="325800"/>
          </a:xfrm>
          <a:prstGeom prst="roundRect">
            <a:avLst>
              <a:gd fmla="val 3000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endParaRPr b="1" sz="2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g3f9c682d955_24_0"/>
          <p:cNvSpPr/>
          <p:nvPr/>
        </p:nvSpPr>
        <p:spPr>
          <a:xfrm>
            <a:off x="4069075" y="5764534"/>
            <a:ext cx="44805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9c682d955_24_0"/>
          <p:cNvSpPr txBox="1"/>
          <p:nvPr/>
        </p:nvSpPr>
        <p:spPr>
          <a:xfrm>
            <a:off x="3310129" y="2003358"/>
            <a:ext cx="7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8" name="Google Shape;288;g3f9c682d955_24_0"/>
          <p:cNvCxnSpPr/>
          <p:nvPr/>
        </p:nvCxnSpPr>
        <p:spPr>
          <a:xfrm>
            <a:off x="3346705" y="2311302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9" name="Google Shape;289;g3f9c682d955_24_0"/>
          <p:cNvSpPr txBox="1"/>
          <p:nvPr/>
        </p:nvSpPr>
        <p:spPr>
          <a:xfrm>
            <a:off x="3310129" y="3258445"/>
            <a:ext cx="7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event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0" name="Google Shape;290;g3f9c682d955_24_0"/>
          <p:cNvCxnSpPr/>
          <p:nvPr/>
        </p:nvCxnSpPr>
        <p:spPr>
          <a:xfrm rot="10800000">
            <a:off x="3346706" y="3566388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1" name="Google Shape;291;g3f9c682d955_24_0"/>
          <p:cNvSpPr/>
          <p:nvPr/>
        </p:nvSpPr>
        <p:spPr>
          <a:xfrm>
            <a:off x="8823925" y="3036238"/>
            <a:ext cx="2862000" cy="657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Discord Webhook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g3f9c682d955_24_0"/>
          <p:cNvCxnSpPr/>
          <p:nvPr/>
        </p:nvCxnSpPr>
        <p:spPr>
          <a:xfrm>
            <a:off x="8549644" y="3371157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3" name="Google Shape;293;g3f9c682d955_24_0"/>
          <p:cNvSpPr/>
          <p:nvPr/>
        </p:nvSpPr>
        <p:spPr>
          <a:xfrm>
            <a:off x="8823925" y="4130185"/>
            <a:ext cx="2862000" cy="657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호환 API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g3f9c682d955_24_0"/>
          <p:cNvCxnSpPr/>
          <p:nvPr/>
        </p:nvCxnSpPr>
        <p:spPr>
          <a:xfrm>
            <a:off x="8549644" y="4477385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5" name="Google Shape;295;g3f9c682d955_24_0"/>
          <p:cNvSpPr/>
          <p:nvPr/>
        </p:nvSpPr>
        <p:spPr>
          <a:xfrm>
            <a:off x="8823975" y="5083893"/>
            <a:ext cx="2862000" cy="1260300"/>
          </a:xfrm>
          <a:prstGeom prst="roundRect">
            <a:avLst>
              <a:gd fmla="val 5000" name="adj"/>
            </a:avLst>
          </a:prstGeom>
          <a:noFill/>
          <a:ln cap="flat" cmpd="sng" w="9525">
            <a:solidFill>
              <a:srgbClr val="5757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9c682d955_24_0"/>
          <p:cNvSpPr/>
          <p:nvPr/>
        </p:nvSpPr>
        <p:spPr>
          <a:xfrm>
            <a:off x="8823986" y="5092177"/>
            <a:ext cx="45600" cy="1254600"/>
          </a:xfrm>
          <a:prstGeom prst="roundRect">
            <a:avLst>
              <a:gd fmla="val 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9c682d955_24_0"/>
          <p:cNvSpPr/>
          <p:nvPr/>
        </p:nvSpPr>
        <p:spPr>
          <a:xfrm>
            <a:off x="8902700" y="5306843"/>
            <a:ext cx="7314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9c682d955_24_0"/>
          <p:cNvSpPr txBox="1"/>
          <p:nvPr/>
        </p:nvSpPr>
        <p:spPr>
          <a:xfrm>
            <a:off x="8902711" y="5360818"/>
            <a:ext cx="71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 훅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g3f9c682d955_24_0"/>
          <p:cNvSpPr txBox="1"/>
          <p:nvPr/>
        </p:nvSpPr>
        <p:spPr>
          <a:xfrm>
            <a:off x="9615679" y="5408224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00" name="Google Shape;300;g3f9c682d955_24_0"/>
          <p:cNvSpPr/>
          <p:nvPr/>
        </p:nvSpPr>
        <p:spPr>
          <a:xfrm>
            <a:off x="9766925" y="5306843"/>
            <a:ext cx="9603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9c682d955_24_0"/>
          <p:cNvSpPr txBox="1"/>
          <p:nvPr/>
        </p:nvSpPr>
        <p:spPr>
          <a:xfrm>
            <a:off x="9783627" y="5360818"/>
            <a:ext cx="92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/selfrefine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g3f9c682d955_24_0"/>
          <p:cNvSpPr txBox="1"/>
          <p:nvPr/>
        </p:nvSpPr>
        <p:spPr>
          <a:xfrm>
            <a:off x="10712841" y="5404858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03" name="Google Shape;303;g3f9c682d955_24_0"/>
          <p:cNvSpPr/>
          <p:nvPr/>
        </p:nvSpPr>
        <p:spPr>
          <a:xfrm>
            <a:off x="10863975" y="5306843"/>
            <a:ext cx="7782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9c682d955_24_0"/>
          <p:cNvSpPr txBox="1"/>
          <p:nvPr/>
        </p:nvSpPr>
        <p:spPr>
          <a:xfrm>
            <a:off x="10860605" y="5360818"/>
            <a:ext cx="77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replay.ts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g3f9c682d955_24_0"/>
          <p:cNvSpPr/>
          <p:nvPr/>
        </p:nvSpPr>
        <p:spPr>
          <a:xfrm>
            <a:off x="9068018" y="5768125"/>
            <a:ext cx="4116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9c682d955_24_0"/>
          <p:cNvSpPr txBox="1"/>
          <p:nvPr/>
        </p:nvSpPr>
        <p:spPr>
          <a:xfrm>
            <a:off x="9068018" y="5808229"/>
            <a:ext cx="41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PR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g3f9c682d955_24_0"/>
          <p:cNvSpPr txBox="1"/>
          <p:nvPr/>
        </p:nvSpPr>
        <p:spPr>
          <a:xfrm>
            <a:off x="9485236" y="5852268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08" name="Google Shape;308;g3f9c682d955_24_0"/>
          <p:cNvSpPr/>
          <p:nvPr/>
        </p:nvSpPr>
        <p:spPr>
          <a:xfrm>
            <a:off x="9664652" y="5768118"/>
            <a:ext cx="18705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9c682d955_24_0"/>
          <p:cNvSpPr txBox="1"/>
          <p:nvPr/>
        </p:nvSpPr>
        <p:spPr>
          <a:xfrm>
            <a:off x="9573777" y="5808218"/>
            <a:ext cx="204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 승인 · dev 머지</a:t>
            </a:r>
            <a:endParaRPr b="1" sz="150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0" name="Google Shape;310;g3f9c682d955_24_0"/>
          <p:cNvCxnSpPr/>
          <p:nvPr/>
        </p:nvCxnSpPr>
        <p:spPr>
          <a:xfrm>
            <a:off x="8549644" y="6022664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triangl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11" name="Google Shape;311;g3f9c682d955_24_0"/>
          <p:cNvCxnSpPr/>
          <p:nvPr/>
        </p:nvCxnSpPr>
        <p:spPr>
          <a:xfrm>
            <a:off x="6309313" y="2650318"/>
            <a:ext cx="0" cy="3054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12" name="Google Shape;312;g3f9c682d955_24_0"/>
          <p:cNvSpPr txBox="1"/>
          <p:nvPr/>
        </p:nvSpPr>
        <p:spPr>
          <a:xfrm>
            <a:off x="8900796" y="5847374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13" name="Google Shape;313;g3f9c682d955_24_0"/>
          <p:cNvSpPr txBox="1"/>
          <p:nvPr/>
        </p:nvSpPr>
        <p:spPr>
          <a:xfrm>
            <a:off x="3211125" y="3656682"/>
            <a:ext cx="92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정보격리</a:t>
            </a:r>
            <a:endParaRPr b="1">
              <a:solidFill>
                <a:srgbClr val="C216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9c682d955_30_27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9c682d955_30_27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1" name="Google Shape;321;g3f9c682d955_30_27"/>
          <p:cNvGrpSpPr/>
          <p:nvPr/>
        </p:nvGrpSpPr>
        <p:grpSpPr>
          <a:xfrm>
            <a:off x="850426" y="2560333"/>
            <a:ext cx="3283500" cy="3370134"/>
            <a:chOff x="850415" y="2560320"/>
            <a:chExt cx="3283500" cy="3017400"/>
          </a:xfrm>
        </p:grpSpPr>
        <p:sp>
          <p:nvSpPr>
            <p:cNvPr id="322" name="Google Shape;322;g3f9c682d955_30_27"/>
            <p:cNvSpPr/>
            <p:nvPr/>
          </p:nvSpPr>
          <p:spPr>
            <a:xfrm>
              <a:off x="850415" y="2560320"/>
              <a:ext cx="3283500" cy="30174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3" name="Google Shape;323;g3f9c682d955_30_27"/>
            <p:cNvSpPr/>
            <p:nvPr/>
          </p:nvSpPr>
          <p:spPr>
            <a:xfrm>
              <a:off x="1161319" y="2824005"/>
              <a:ext cx="19119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2100"/>
                <a:buFont typeface="Hahmlet"/>
                <a:buNone/>
              </a:pPr>
              <a:r>
                <a:rPr b="1" i="0" lang="en-US" sz="24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관전자 LLM</a:t>
              </a:r>
              <a:endParaRPr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4" name="Google Shape;324;g3f9c682d955_30_27"/>
            <p:cNvSpPr/>
            <p:nvPr/>
          </p:nvSpPr>
          <p:spPr>
            <a:xfrm>
              <a:off x="1161319" y="3419856"/>
              <a:ext cx="2661900" cy="9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관전자 봇이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채점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서 제시안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5" name="Google Shape;325;g3f9c682d955_30_27"/>
            <p:cNvSpPr/>
            <p:nvPr/>
          </p:nvSpPr>
          <p:spPr>
            <a:xfrm>
              <a:off x="1161319" y="4469734"/>
              <a:ext cx="2661900" cy="11100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6" name="Google Shape;326;g3f9c682d955_30_27"/>
            <p:cNvSpPr/>
            <p:nvPr/>
          </p:nvSpPr>
          <p:spPr>
            <a:xfrm>
              <a:off x="1161319" y="4681728"/>
              <a:ext cx="26619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채점자를 검증할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수단이 없다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27" name="Google Shape;327;g3f9c682d955_30_27"/>
          <p:cNvGrpSpPr/>
          <p:nvPr/>
        </p:nvGrpSpPr>
        <p:grpSpPr>
          <a:xfrm>
            <a:off x="4454173" y="2560333"/>
            <a:ext cx="3283500" cy="3370134"/>
            <a:chOff x="4454161" y="2560320"/>
            <a:chExt cx="3283500" cy="3017400"/>
          </a:xfrm>
        </p:grpSpPr>
        <p:sp>
          <p:nvSpPr>
            <p:cNvPr id="328" name="Google Shape;328;g3f9c682d955_30_27"/>
            <p:cNvSpPr/>
            <p:nvPr/>
          </p:nvSpPr>
          <p:spPr>
            <a:xfrm>
              <a:off x="4454161" y="2560320"/>
              <a:ext cx="3283500" cy="30174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9" name="Google Shape;329;g3f9c682d955_30_27"/>
            <p:cNvSpPr/>
            <p:nvPr/>
          </p:nvSpPr>
          <p:spPr>
            <a:xfrm>
              <a:off x="4765076" y="2824000"/>
              <a:ext cx="21858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2100"/>
                <a:buFont typeface="Hahmlet"/>
                <a:buNone/>
              </a:pPr>
              <a:r>
                <a:rPr b="1" i="0" lang="en-US" sz="24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설문 자동 주입</a:t>
              </a:r>
              <a:endParaRPr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0" name="Google Shape;330;g3f9c682d955_30_27"/>
            <p:cNvSpPr/>
            <p:nvPr/>
          </p:nvSpPr>
          <p:spPr>
            <a:xfrm>
              <a:off x="4765065" y="3419856"/>
              <a:ext cx="2661900" cy="9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응답을 그대로 반영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구현까지 갔던 안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1" name="Google Shape;331;g3f9c682d955_30_27"/>
            <p:cNvSpPr/>
            <p:nvPr/>
          </p:nvSpPr>
          <p:spPr>
            <a:xfrm>
              <a:off x="4765065" y="4469734"/>
              <a:ext cx="2661900" cy="11100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2" name="Google Shape;332;g3f9c682d955_30_27"/>
            <p:cNvSpPr/>
            <p:nvPr/>
          </p:nvSpPr>
          <p:spPr>
            <a:xfrm>
              <a:off x="4765065" y="4681728"/>
              <a:ext cx="26619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사람 검토 없이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프롬프트가 바뀐다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33" name="Google Shape;333;g3f9c682d955_30_27"/>
          <p:cNvGrpSpPr/>
          <p:nvPr/>
        </p:nvGrpSpPr>
        <p:grpSpPr>
          <a:xfrm>
            <a:off x="8057920" y="2560333"/>
            <a:ext cx="3283500" cy="3370134"/>
            <a:chOff x="8057908" y="2560320"/>
            <a:chExt cx="3283500" cy="3017400"/>
          </a:xfrm>
        </p:grpSpPr>
        <p:sp>
          <p:nvSpPr>
            <p:cNvPr id="334" name="Google Shape;334;g3f9c682d955_30_27"/>
            <p:cNvSpPr/>
            <p:nvPr/>
          </p:nvSpPr>
          <p:spPr>
            <a:xfrm>
              <a:off x="8057908" y="2560320"/>
              <a:ext cx="3283500" cy="30174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5" name="Google Shape;335;g3f9c682d955_30_27"/>
            <p:cNvSpPr/>
            <p:nvPr/>
          </p:nvSpPr>
          <p:spPr>
            <a:xfrm>
              <a:off x="8368812" y="2824005"/>
              <a:ext cx="19119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2100"/>
                <a:buFont typeface="Hahmlet"/>
                <a:buNone/>
              </a:pPr>
              <a:r>
                <a:rPr b="1" i="0" lang="en-US" sz="24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수동 회귀</a:t>
              </a:r>
              <a:endParaRPr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6" name="Google Shape;336;g3f9c682d955_30_27"/>
            <p:cNvSpPr/>
            <p:nvPr/>
          </p:nvSpPr>
          <p:spPr>
            <a:xfrm>
              <a:off x="8368812" y="4469734"/>
              <a:ext cx="2661900" cy="11100"/>
            </a:xfrm>
            <a:prstGeom prst="rect">
              <a:avLst/>
            </a:pr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7" name="Google Shape;337;g3f9c682d955_30_27"/>
            <p:cNvSpPr/>
            <p:nvPr/>
          </p:nvSpPr>
          <p:spPr>
            <a:xfrm>
              <a:off x="8368812" y="3419856"/>
              <a:ext cx="2661900" cy="9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직접 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수정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en-US" sz="21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MVP</a:t>
              </a:r>
              <a:r>
                <a:rPr i="0" lang="en-US" sz="2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방식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8" name="Google Shape;338;g3f9c682d955_30_27"/>
            <p:cNvSpPr/>
            <p:nvPr/>
          </p:nvSpPr>
          <p:spPr>
            <a:xfrm>
              <a:off x="8368812" y="4681728"/>
              <a:ext cx="2661900" cy="67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lang="en-US" sz="2100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동일한 상황이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15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재현이 안 된다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39" name="Google Shape;339;g3f9c682d955_30_27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 획</a:t>
            </a:r>
            <a:endParaRPr b="1"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0" name="Google Shape;340;g3f9c682d955_30_27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봇을 어떻게 개선할까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9c682d955_30_0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47" name="Google Shape;347;g3f9c682d955_30_0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48" name="Google Shape;348;g3f9c682d955_30_0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맥</a:t>
            </a: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락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9" name="Google Shape;349;g3f9c682d955_30_0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i="0" lang="en-US" sz="3200" u="none" cap="none" strike="noStrike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한 판이 남기는 것</a:t>
            </a:r>
            <a:endParaRPr i="0" sz="3200" u="none" cap="none" strike="noStrike">
              <a:solidFill>
                <a:srgbClr val="F3E6E6"/>
              </a:solidFill>
              <a:latin typeface="Hahmlet"/>
              <a:ea typeface="Hahmlet"/>
              <a:cs typeface="Hahmlet"/>
              <a:sym typeface="Hahmlet"/>
            </a:endParaRPr>
          </a:p>
        </p:txBody>
      </p:sp>
      <p:grpSp>
        <p:nvGrpSpPr>
          <p:cNvPr id="350" name="Google Shape;350;g3f9c682d955_30_0"/>
          <p:cNvGrpSpPr/>
          <p:nvPr/>
        </p:nvGrpSpPr>
        <p:grpSpPr>
          <a:xfrm>
            <a:off x="850425" y="2413060"/>
            <a:ext cx="5541383" cy="3642174"/>
            <a:chOff x="850424" y="2560325"/>
            <a:chExt cx="5541383" cy="3145500"/>
          </a:xfrm>
        </p:grpSpPr>
        <p:sp>
          <p:nvSpPr>
            <p:cNvPr id="351" name="Google Shape;351;g3f9c682d955_30_0"/>
            <p:cNvSpPr/>
            <p:nvPr/>
          </p:nvSpPr>
          <p:spPr>
            <a:xfrm>
              <a:off x="850424" y="2560325"/>
              <a:ext cx="5486400" cy="3145500"/>
            </a:xfrm>
            <a:prstGeom prst="rect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2" name="Google Shape;352;g3f9c682d955_30_0"/>
            <p:cNvSpPr/>
            <p:nvPr/>
          </p:nvSpPr>
          <p:spPr>
            <a:xfrm>
              <a:off x="1179607" y="2761488"/>
              <a:ext cx="52122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1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 판 = 네 개의 표</a:t>
              </a:r>
              <a:endParaRPr i="0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3" name="Google Shape;353;g3f9c682d955_30_0"/>
            <p:cNvSpPr/>
            <p:nvPr/>
          </p:nvSpPr>
          <p:spPr>
            <a:xfrm>
              <a:off x="1191539" y="3364992"/>
              <a:ext cx="32919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결과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4" name="Google Shape;354;g3f9c682d955_30_0"/>
            <p:cNvSpPr/>
            <p:nvPr/>
          </p:nvSpPr>
          <p:spPr>
            <a:xfrm>
              <a:off x="1191553" y="3913625"/>
              <a:ext cx="42717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발언 전량 — 누가 언제 무엇을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5" name="Google Shape;355;g3f9c682d955_30_0"/>
            <p:cNvSpPr/>
            <p:nvPr/>
          </p:nvSpPr>
          <p:spPr>
            <a:xfrm>
              <a:off x="1191553" y="4462275"/>
              <a:ext cx="41949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투표 전량 — 라이어 · 봇 지목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6" name="Google Shape;356;g3f9c682d955_30_0"/>
            <p:cNvSpPr/>
            <p:nvPr/>
          </p:nvSpPr>
          <p:spPr>
            <a:xfrm>
              <a:off x="1191539" y="5010912"/>
              <a:ext cx="32919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Char char="●"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어느 발언이 ·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왜 봇 같았나</a:t>
              </a:r>
              <a:endParaRPr b="1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57" name="Google Shape;357;g3f9c682d955_30_0"/>
          <p:cNvGrpSpPr/>
          <p:nvPr/>
        </p:nvGrpSpPr>
        <p:grpSpPr>
          <a:xfrm>
            <a:off x="6727176" y="2413060"/>
            <a:ext cx="4614600" cy="3642174"/>
            <a:chOff x="6727175" y="2560325"/>
            <a:chExt cx="4614600" cy="3145500"/>
          </a:xfrm>
        </p:grpSpPr>
        <p:sp>
          <p:nvSpPr>
            <p:cNvPr id="358" name="Google Shape;358;g3f9c682d955_30_0"/>
            <p:cNvSpPr/>
            <p:nvPr/>
          </p:nvSpPr>
          <p:spPr>
            <a:xfrm>
              <a:off x="6727175" y="2560325"/>
              <a:ext cx="4614600" cy="3145500"/>
            </a:xfrm>
            <a:prstGeom prst="rect">
              <a:avLst/>
            </a:prstGeom>
            <a:solidFill>
              <a:srgbClr val="1F0A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59" name="Google Shape;359;g3f9c682d955_30_0"/>
            <p:cNvSpPr/>
            <p:nvPr/>
          </p:nvSpPr>
          <p:spPr>
            <a:xfrm>
              <a:off x="7056369" y="2761488"/>
              <a:ext cx="36576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2100"/>
                <a:buFont typeface="Hahmlet"/>
                <a:buNone/>
              </a:pPr>
              <a:r>
                <a:rPr b="1" i="0" lang="en-US" sz="21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가장 중요한 한 칸</a:t>
              </a:r>
              <a:endParaRPr i="0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0" name="Google Shape;360;g3f9c682d955_30_0"/>
            <p:cNvSpPr/>
            <p:nvPr/>
          </p:nvSpPr>
          <p:spPr>
            <a:xfrm>
              <a:off x="7056375" y="3167123"/>
              <a:ext cx="40560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500"/>
                <a:buFont typeface="Hahmlet"/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설문단계에서 봇근거 발언을 </a:t>
              </a:r>
              <a:r>
                <a:rPr i="0" lang="en-US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</a:t>
              </a: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릅</a:t>
              </a:r>
              <a:r>
                <a:rPr i="0" lang="en-US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니다.</a:t>
              </a:r>
              <a:endParaRPr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1" name="Google Shape;361;g3f9c682d955_30_0"/>
            <p:cNvSpPr/>
            <p:nvPr/>
          </p:nvSpPr>
          <p:spPr>
            <a:xfrm>
              <a:off x="7056374" y="3747128"/>
              <a:ext cx="3657600" cy="12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3BFC0"/>
                </a:buClr>
                <a:buSzPts val="1200"/>
                <a:buFont typeface="Consolas"/>
                <a:buNone/>
              </a:pPr>
              <a:r>
                <a:rPr i="0" lang="en-US" sz="1800" u="none" cap="none" strike="noStrike">
                  <a:solidFill>
                    <a:srgbClr val="D3BFC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survey_responses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200"/>
                <a:buFont typeface="Consolas"/>
                <a:buNone/>
              </a:pPr>
              <a:r>
                <a:rPr i="0" lang="en-US" sz="18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.picked_message_runtime_id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1200"/>
                <a:buFont typeface="Consolas"/>
                <a:buNone/>
              </a:pPr>
              <a:r>
                <a:rPr b="1" i="0" lang="en-US" sz="18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           ↕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1200"/>
                <a:buFont typeface="Consolas"/>
                <a:buNone/>
              </a:pPr>
              <a:r>
                <a:rPr i="0" lang="en-US" sz="1800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game_messages.runtime_id</a:t>
              </a:r>
              <a:endParaRPr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62" name="Google Shape;362;g3f9c682d955_30_0"/>
            <p:cNvSpPr/>
            <p:nvPr/>
          </p:nvSpPr>
          <p:spPr>
            <a:xfrm>
              <a:off x="7056369" y="5081365"/>
              <a:ext cx="36576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1500"/>
                <a:buFont typeface="Hahmlet"/>
                <a:buNone/>
              </a:pPr>
              <a:r>
                <a:rPr b="1" i="0" lang="en-US" sz="18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사람이 “어디서” 를 찍어준 좌표</a:t>
              </a:r>
              <a:endParaRPr i="0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9c682d955_30_60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f9c682d955_30_60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f9c682d955_30_60"/>
          <p:cNvSpPr/>
          <p:nvPr/>
        </p:nvSpPr>
        <p:spPr>
          <a:xfrm>
            <a:off x="850415" y="2159323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깨우기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g3f9c682d955_30_60"/>
          <p:cNvSpPr/>
          <p:nvPr/>
        </p:nvSpPr>
        <p:spPr>
          <a:xfrm>
            <a:off x="1838242" y="2159318"/>
            <a:ext cx="963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응답을 끝낼 때마다 훅이 확인합니다 —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미적용 기록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다섯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인가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g3f9c682d955_30_60"/>
          <p:cNvSpPr/>
          <p:nvPr/>
        </p:nvSpPr>
        <p:spPr>
          <a:xfrm>
            <a:off x="850415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g3f9c682d955_30_60"/>
          <p:cNvSpPr/>
          <p:nvPr/>
        </p:nvSpPr>
        <p:spPr>
          <a:xfrm>
            <a:off x="1124742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사례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g3f9c682d955_30_60"/>
          <p:cNvSpPr/>
          <p:nvPr/>
        </p:nvSpPr>
        <p:spPr>
          <a:xfrm>
            <a:off x="1124742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장면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g3f9c682d955_30_60"/>
          <p:cNvSpPr/>
          <p:nvPr/>
        </p:nvSpPr>
        <p:spPr>
          <a:xfrm>
            <a:off x="4091439" y="2810128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6" name="Google Shape;376;g3f9c682d955_30_60"/>
          <p:cNvSpPr/>
          <p:nvPr/>
        </p:nvSpPr>
        <p:spPr>
          <a:xfrm>
            <a:off x="4475497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g3f9c682d955_30_60"/>
          <p:cNvSpPr/>
          <p:nvPr/>
        </p:nvSpPr>
        <p:spPr>
          <a:xfrm>
            <a:off x="4749825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기준선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8" name="Google Shape;378;g3f9c682d955_30_60"/>
          <p:cNvSpPr/>
          <p:nvPr/>
        </p:nvSpPr>
        <p:spPr>
          <a:xfrm>
            <a:off x="4749825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고치기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 상태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측정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f9c682d955_30_60"/>
          <p:cNvSpPr/>
          <p:nvPr/>
        </p:nvSpPr>
        <p:spPr>
          <a:xfrm>
            <a:off x="7716523" y="2810128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g3f9c682d955_30_60"/>
          <p:cNvSpPr/>
          <p:nvPr/>
        </p:nvSpPr>
        <p:spPr>
          <a:xfrm>
            <a:off x="8100581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1" name="Google Shape;381;g3f9c682d955_30_60"/>
          <p:cNvSpPr/>
          <p:nvPr/>
        </p:nvSpPr>
        <p:spPr>
          <a:xfrm>
            <a:off x="8374908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수정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g3f9c682d955_30_60"/>
          <p:cNvSpPr/>
          <p:nvPr/>
        </p:nvSpPr>
        <p:spPr>
          <a:xfrm>
            <a:off x="8374908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지침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수정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g3f9c682d955_30_60"/>
          <p:cNvSpPr/>
          <p:nvPr/>
        </p:nvSpPr>
        <p:spPr>
          <a:xfrm>
            <a:off x="850415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g3f9c682d955_30_60"/>
          <p:cNvSpPr/>
          <p:nvPr/>
        </p:nvSpPr>
        <p:spPr>
          <a:xfrm>
            <a:off x="1124742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재측정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g3f9c682d955_30_60"/>
          <p:cNvSpPr/>
          <p:nvPr/>
        </p:nvSpPr>
        <p:spPr>
          <a:xfrm>
            <a:off x="1124742" y="5172521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상황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전후 비교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g3f9c682d955_30_60"/>
          <p:cNvSpPr/>
          <p:nvPr/>
        </p:nvSpPr>
        <p:spPr>
          <a:xfrm>
            <a:off x="4091439" y="4605593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g3f9c682d955_30_60"/>
          <p:cNvSpPr/>
          <p:nvPr/>
        </p:nvSpPr>
        <p:spPr>
          <a:xfrm>
            <a:off x="4475497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g3f9c682d955_30_60"/>
          <p:cNvSpPr/>
          <p:nvPr/>
        </p:nvSpPr>
        <p:spPr>
          <a:xfrm>
            <a:off x="4749825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다음 문항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g3f9c682d955_30_60"/>
          <p:cNvSpPr/>
          <p:nvPr/>
        </p:nvSpPr>
        <p:spPr>
          <a:xfrm>
            <a:off x="4749825" y="5172521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문항 갱신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g3f9c682d955_30_60"/>
          <p:cNvSpPr/>
          <p:nvPr/>
        </p:nvSpPr>
        <p:spPr>
          <a:xfrm>
            <a:off x="7716523" y="4605593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g3f9c682d955_30_60"/>
          <p:cNvSpPr/>
          <p:nvPr/>
        </p:nvSpPr>
        <p:spPr>
          <a:xfrm>
            <a:off x="8100581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2" name="Google Shape;392;g3f9c682d955_30_60"/>
          <p:cNvSpPr/>
          <p:nvPr/>
        </p:nvSpPr>
        <p:spPr>
          <a:xfrm>
            <a:off x="8374908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 올리기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3" name="Google Shape;393;g3f9c682d955_30_60"/>
          <p:cNvSpPr/>
          <p:nvPr/>
        </p:nvSpPr>
        <p:spPr>
          <a:xfrm>
            <a:off x="8374900" y="5172511"/>
            <a:ext cx="285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수치 · 근거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항목 검토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4" name="Google Shape;394;g3f9c682d955_30_60"/>
          <p:cNvSpPr/>
          <p:nvPr/>
        </p:nvSpPr>
        <p:spPr>
          <a:xfrm>
            <a:off x="850415" y="6053128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닫기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g3f9c682d955_30_60"/>
          <p:cNvSpPr/>
          <p:nvPr/>
        </p:nvSpPr>
        <p:spPr>
          <a:xfrm>
            <a:off x="1838242" y="6053130"/>
            <a:ext cx="963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승인하면 병합 · 재배포됩니다.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 및 변경 항목은 기록해 둡니다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96" name="Google Shape;396;g3f9c682d955_30_60"/>
          <p:cNvCxnSpPr>
            <a:stCxn id="380" idx="2"/>
            <a:endCxn id="383" idx="0"/>
          </p:cNvCxnSpPr>
          <p:nvPr/>
        </p:nvCxnSpPr>
        <p:spPr>
          <a:xfrm rot="5400000">
            <a:off x="5801681" y="686278"/>
            <a:ext cx="588600" cy="72501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rgbClr val="C2162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7" name="Google Shape;397;g3f9c682d955_30_60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선택과 근거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8" name="Google Shape;398;g3f9c682d955_30_60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스스로 깨어나는 루프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9c682d955_30_98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9c682d955_30_98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9c682d955_30_98"/>
          <p:cNvSpPr/>
          <p:nvPr/>
        </p:nvSpPr>
        <p:spPr>
          <a:xfrm>
            <a:off x="850415" y="2695739"/>
            <a:ext cx="1049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바퀴가 끝나면 다음 바퀴의 </a:t>
            </a:r>
            <a:r>
              <a:rPr b="1" lang="en-US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</a:t>
            </a: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문지도 함께 바뀝니다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g3f9c682d955_30_98"/>
          <p:cNvSpPr/>
          <p:nvPr/>
        </p:nvSpPr>
        <p:spPr>
          <a:xfrm>
            <a:off x="1020955" y="3821206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g3f9c682d955_30_98"/>
          <p:cNvSpPr/>
          <p:nvPr/>
        </p:nvSpPr>
        <p:spPr>
          <a:xfrm>
            <a:off x="1020955" y="3821206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lang="en-US" sz="24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게임을 한다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9" name="Google Shape;409;g3f9c682d955_30_98"/>
          <p:cNvSpPr/>
          <p:nvPr/>
        </p:nvSpPr>
        <p:spPr>
          <a:xfrm>
            <a:off x="3654497" y="3821206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g3f9c682d955_30_98"/>
          <p:cNvSpPr/>
          <p:nvPr/>
        </p:nvSpPr>
        <p:spPr>
          <a:xfrm>
            <a:off x="3654497" y="3821206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기록이 쌓인다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g3f9c682d955_30_98"/>
          <p:cNvSpPr/>
          <p:nvPr/>
        </p:nvSpPr>
        <p:spPr>
          <a:xfrm>
            <a:off x="6288040" y="3821206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2" name="Google Shape;412;g3f9c682d955_30_98"/>
          <p:cNvSpPr/>
          <p:nvPr/>
        </p:nvSpPr>
        <p:spPr>
          <a:xfrm>
            <a:off x="6288040" y="3821206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루프가 돈다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3" name="Google Shape;413;g3f9c682d955_30_98"/>
          <p:cNvSpPr/>
          <p:nvPr/>
        </p:nvSpPr>
        <p:spPr>
          <a:xfrm>
            <a:off x="8921582" y="3821206"/>
            <a:ext cx="2249400" cy="7131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g3f9c682d955_30_98"/>
          <p:cNvSpPr/>
          <p:nvPr/>
        </p:nvSpPr>
        <p:spPr>
          <a:xfrm>
            <a:off x="8921582" y="3821206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지침이 바뀐다</a:t>
            </a:r>
            <a:endParaRPr b="1" i="0" sz="2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5" name="Google Shape;415;g3f9c682d955_30_98"/>
          <p:cNvSpPr/>
          <p:nvPr/>
        </p:nvSpPr>
        <p:spPr>
          <a:xfrm>
            <a:off x="2198850" y="5231252"/>
            <a:ext cx="780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바뀐 봇으로 다음 판이 시작되고, 기록이 다시 쌓입니다</a:t>
            </a:r>
            <a:endParaRPr b="1" i="0" sz="2400" u="none" cap="none" strike="noStrike">
              <a:solidFill>
                <a:srgbClr val="C216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6" name="Google Shape;416;g3f9c682d955_30_98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 과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g3f9c682d955_30_98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고쳐진 봇이 다음 판에 나갑니다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8" name="Google Shape;418;g3f9c682d955_30_98"/>
          <p:cNvCxnSpPr/>
          <p:nvPr/>
        </p:nvCxnSpPr>
        <p:spPr>
          <a:xfrm rot="10800000">
            <a:off x="2139507" y="4638627"/>
            <a:ext cx="12300" cy="3396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g3f9c682d955_30_98"/>
          <p:cNvCxnSpPr>
            <a:stCxn id="408" idx="3"/>
            <a:endCxn id="410" idx="1"/>
          </p:cNvCxnSpPr>
          <p:nvPr/>
        </p:nvCxnSpPr>
        <p:spPr>
          <a:xfrm>
            <a:off x="3270355" y="4177756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g3f9c682d955_30_98"/>
          <p:cNvCxnSpPr/>
          <p:nvPr/>
        </p:nvCxnSpPr>
        <p:spPr>
          <a:xfrm>
            <a:off x="5903968" y="4177756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" name="Google Shape;421;g3f9c682d955_30_98"/>
          <p:cNvCxnSpPr/>
          <p:nvPr/>
        </p:nvCxnSpPr>
        <p:spPr>
          <a:xfrm>
            <a:off x="8537443" y="4177756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g3f9c682d955_30_98"/>
          <p:cNvCxnSpPr/>
          <p:nvPr/>
        </p:nvCxnSpPr>
        <p:spPr>
          <a:xfrm>
            <a:off x="10044182" y="4642694"/>
            <a:ext cx="4200" cy="3315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g3f9c682d955_30_98"/>
          <p:cNvCxnSpPr/>
          <p:nvPr/>
        </p:nvCxnSpPr>
        <p:spPr>
          <a:xfrm flipH="1">
            <a:off x="2134950" y="4982831"/>
            <a:ext cx="7932000" cy="81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활용 방안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433" name="Google Shape;433;p12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850392" y="2183489"/>
            <a:ext cx="104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모델만 바꿔 끼우면, 그대로 소셜 디덕션 벤치마크가 됩니다</a:t>
            </a:r>
            <a:endParaRPr sz="2100"/>
          </a:p>
        </p:txBody>
      </p:sp>
      <p:sp>
        <p:nvSpPr>
          <p:cNvPr id="435" name="Google Shape;435;p12"/>
          <p:cNvSpPr/>
          <p:nvPr/>
        </p:nvSpPr>
        <p:spPr>
          <a:xfrm>
            <a:off x="850392" y="2635890"/>
            <a:ext cx="104913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850400" y="2818670"/>
            <a:ext cx="2444400" cy="1227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 txBox="1"/>
          <p:nvPr/>
        </p:nvSpPr>
        <p:spPr>
          <a:xfrm>
            <a:off x="1051560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2100"/>
          </a:p>
        </p:txBody>
      </p:sp>
      <p:sp>
        <p:nvSpPr>
          <p:cNvPr id="438" name="Google Shape;438;p12"/>
          <p:cNvSpPr txBox="1"/>
          <p:nvPr/>
        </p:nvSpPr>
        <p:spPr>
          <a:xfrm>
            <a:off x="1051560" y="3379453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모델을 바꾼다</a:t>
            </a:r>
            <a:endParaRPr sz="2100"/>
          </a:p>
        </p:txBody>
      </p:sp>
      <p:cxnSp>
        <p:nvCxnSpPr>
          <p:cNvPr id="439" name="Google Shape;439;p12"/>
          <p:cNvCxnSpPr/>
          <p:nvPr/>
        </p:nvCxnSpPr>
        <p:spPr>
          <a:xfrm>
            <a:off x="3331456" y="3562333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40" name="Google Shape;440;p12"/>
          <p:cNvSpPr/>
          <p:nvPr/>
        </p:nvSpPr>
        <p:spPr>
          <a:xfrm>
            <a:off x="3532625" y="2818670"/>
            <a:ext cx="2444400" cy="1227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3733792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2100"/>
          </a:p>
        </p:txBody>
      </p:sp>
      <p:sp>
        <p:nvSpPr>
          <p:cNvPr id="442" name="Google Shape;442;p12"/>
          <p:cNvSpPr txBox="1"/>
          <p:nvPr/>
        </p:nvSpPr>
        <p:spPr>
          <a:xfrm>
            <a:off x="3733800" y="3379456"/>
            <a:ext cx="219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판을 돌린다</a:t>
            </a:r>
            <a:endParaRPr sz="2100"/>
          </a:p>
        </p:txBody>
      </p:sp>
      <p:cxnSp>
        <p:nvCxnSpPr>
          <p:cNvPr id="443" name="Google Shape;443;p12"/>
          <p:cNvCxnSpPr/>
          <p:nvPr/>
        </p:nvCxnSpPr>
        <p:spPr>
          <a:xfrm>
            <a:off x="6013688" y="3562333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44" name="Google Shape;444;p12"/>
          <p:cNvSpPr/>
          <p:nvPr/>
        </p:nvSpPr>
        <p:spPr>
          <a:xfrm>
            <a:off x="6214850" y="2818670"/>
            <a:ext cx="2444400" cy="12279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6416024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2100"/>
          </a:p>
        </p:txBody>
      </p:sp>
      <p:sp>
        <p:nvSpPr>
          <p:cNvPr id="446" name="Google Shape;446;p12"/>
          <p:cNvSpPr txBox="1"/>
          <p:nvPr/>
        </p:nvSpPr>
        <p:spPr>
          <a:xfrm>
            <a:off x="6416024" y="3379453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판정한다</a:t>
            </a:r>
            <a:endParaRPr sz="2100">
              <a:solidFill>
                <a:schemeClr val="lt1"/>
              </a:solidFill>
            </a:endParaRPr>
          </a:p>
        </p:txBody>
      </p:sp>
      <p:cxnSp>
        <p:nvCxnSpPr>
          <p:cNvPr id="447" name="Google Shape;447;p12"/>
          <p:cNvCxnSpPr/>
          <p:nvPr/>
        </p:nvCxnSpPr>
        <p:spPr>
          <a:xfrm>
            <a:off x="8695921" y="3562333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48" name="Google Shape;448;p12"/>
          <p:cNvSpPr/>
          <p:nvPr/>
        </p:nvSpPr>
        <p:spPr>
          <a:xfrm>
            <a:off x="8897100" y="2818670"/>
            <a:ext cx="2444400" cy="1227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 txBox="1"/>
          <p:nvPr/>
        </p:nvSpPr>
        <p:spPr>
          <a:xfrm>
            <a:off x="9098257" y="2980648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2100"/>
          </a:p>
        </p:txBody>
      </p:sp>
      <p:sp>
        <p:nvSpPr>
          <p:cNvPr id="450" name="Google Shape;450;p12"/>
          <p:cNvSpPr txBox="1"/>
          <p:nvPr/>
        </p:nvSpPr>
        <p:spPr>
          <a:xfrm>
            <a:off x="9098257" y="3379453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기록이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남는다</a:t>
            </a:r>
            <a:endParaRPr sz="2100"/>
          </a:p>
        </p:txBody>
      </p:sp>
      <p:sp>
        <p:nvSpPr>
          <p:cNvPr id="451" name="Google Shape;451;p12"/>
          <p:cNvSpPr txBox="1"/>
          <p:nvPr/>
        </p:nvSpPr>
        <p:spPr>
          <a:xfrm>
            <a:off x="850392" y="4312139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재는가</a:t>
            </a:r>
            <a:endParaRPr sz="2100"/>
          </a:p>
        </p:txBody>
      </p:sp>
      <p:sp>
        <p:nvSpPr>
          <p:cNvPr id="452" name="Google Shape;452;p12"/>
          <p:cNvSpPr/>
          <p:nvPr/>
        </p:nvSpPr>
        <p:spPr>
          <a:xfrm>
            <a:off x="850400" y="4849112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981034" y="5044584"/>
            <a:ext cx="199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색출 정답률</a:t>
            </a:r>
            <a:endParaRPr sz="2100"/>
          </a:p>
        </p:txBody>
      </p:sp>
      <p:sp>
        <p:nvSpPr>
          <p:cNvPr id="454" name="Google Shape;454;p12"/>
          <p:cNvSpPr/>
          <p:nvPr/>
        </p:nvSpPr>
        <p:spPr>
          <a:xfrm>
            <a:off x="3415275" y="4849112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3545926" y="5044584"/>
            <a:ext cx="199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티 사유 분포</a:t>
            </a:r>
            <a:endParaRPr sz="2100"/>
          </a:p>
        </p:txBody>
      </p:sp>
      <p:sp>
        <p:nvSpPr>
          <p:cNvPr id="456" name="Google Shape;456;p12"/>
          <p:cNvSpPr/>
          <p:nvPr/>
        </p:nvSpPr>
        <p:spPr>
          <a:xfrm>
            <a:off x="850400" y="5614815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 txBox="1"/>
          <p:nvPr/>
        </p:nvSpPr>
        <p:spPr>
          <a:xfrm>
            <a:off x="981024" y="5810264"/>
            <a:ext cx="207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 승률</a:t>
            </a:r>
            <a:endParaRPr sz="2100"/>
          </a:p>
        </p:txBody>
      </p:sp>
      <p:sp>
        <p:nvSpPr>
          <p:cNvPr id="458" name="Google Shape;458;p12"/>
          <p:cNvSpPr/>
          <p:nvPr/>
        </p:nvSpPr>
        <p:spPr>
          <a:xfrm>
            <a:off x="3415275" y="5614815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 txBox="1"/>
          <p:nvPr/>
        </p:nvSpPr>
        <p:spPr>
          <a:xfrm>
            <a:off x="3523291" y="5810264"/>
            <a:ext cx="219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갱신 후 비교</a:t>
            </a:r>
            <a:endParaRPr sz="2100"/>
          </a:p>
        </p:txBody>
      </p:sp>
      <p:sp>
        <p:nvSpPr>
          <p:cNvPr id="460" name="Google Shape;460;p12"/>
          <p:cNvSpPr/>
          <p:nvPr/>
        </p:nvSpPr>
        <p:spPr>
          <a:xfrm>
            <a:off x="6013700" y="4849117"/>
            <a:ext cx="5328000" cy="14496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 txBox="1"/>
          <p:nvPr/>
        </p:nvSpPr>
        <p:spPr>
          <a:xfrm>
            <a:off x="6214557" y="4966555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LLM 벤치마크와 다른 점</a:t>
            </a:r>
            <a:endParaRPr>
              <a:solidFill>
                <a:srgbClr val="FF2733"/>
              </a:solidFill>
            </a:endParaRPr>
          </a:p>
        </p:txBody>
      </p:sp>
      <p:sp>
        <p:nvSpPr>
          <p:cNvPr id="462" name="Google Shape;462;p12"/>
          <p:cNvSpPr txBox="1"/>
          <p:nvPr/>
        </p:nvSpPr>
        <p:spPr>
          <a:xfrm>
            <a:off x="6214545" y="5433596"/>
            <a:ext cx="4995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정답을 채점표가 아니라 사람이 정합니다</a:t>
            </a:r>
            <a:endParaRPr b="1" sz="1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점수와 함께 왜 걸렸는지가 문장으로 남습니다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9dd5f40ea_12_0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f9dd5f40ea_12_0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f9dd5f40ea_12_0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9dd5f40ea_12_0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600"/>
              <a:buFont typeface="Malgun Gothic"/>
              <a:buNone/>
            </a:pPr>
            <a:r>
              <a:rPr b="0"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사업성</a:t>
            </a:r>
            <a:endParaRPr b="0"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472" name="Google Shape;472;g3f9dd5f40ea_12_0"/>
          <p:cNvSpPr/>
          <p:nvPr/>
        </p:nvSpPr>
        <p:spPr>
          <a:xfrm>
            <a:off x="598575" y="2139700"/>
            <a:ext cx="6254700" cy="42480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f9dd5f40ea_12_0"/>
          <p:cNvSpPr txBox="1"/>
          <p:nvPr/>
        </p:nvSpPr>
        <p:spPr>
          <a:xfrm>
            <a:off x="918622" y="2569137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30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9dd5f40ea_12_0"/>
          <p:cNvSpPr txBox="1"/>
          <p:nvPr/>
        </p:nvSpPr>
        <p:spPr>
          <a:xfrm>
            <a:off x="918622" y="3144992"/>
            <a:ext cx="576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Google AdSense 화면 광고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9dd5f40ea_12_0"/>
          <p:cNvSpPr txBox="1"/>
          <p:nvPr/>
        </p:nvSpPr>
        <p:spPr>
          <a:xfrm>
            <a:off x="7137155" y="2595649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600"/>
              <a:buFont typeface="Malgun Gothic"/>
              <a:buNone/>
            </a:pPr>
            <a:r>
              <a:rPr b="1" lang="en-US" sz="30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GLOBAL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9dd5f40ea_12_0"/>
          <p:cNvSpPr txBox="1"/>
          <p:nvPr/>
        </p:nvSpPr>
        <p:spPr>
          <a:xfrm>
            <a:off x="7137158" y="3175742"/>
            <a:ext cx="395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 버전 글로벌 동시 런칭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9dd5f40ea_12_0"/>
          <p:cNvSpPr txBox="1"/>
          <p:nvPr/>
        </p:nvSpPr>
        <p:spPr>
          <a:xfrm>
            <a:off x="7126201" y="3866200"/>
            <a:ext cx="4755000" cy="23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개발 리소스는 1회, 언어만 추가하면 됩니다</a:t>
            </a:r>
            <a:endParaRPr b="1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텍스트 UI라 현지화 비용이 낮습니다</a:t>
            </a:r>
            <a:endParaRPr b="1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18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Google AdSense 광고 단가</a:t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1" lang="en-US" sz="1800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─ 영미권이 한국의 4 ~ 8배</a:t>
            </a:r>
            <a:endParaRPr b="1" sz="1800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g3f9dd5f40ea_12_0"/>
          <p:cNvSpPr txBox="1"/>
          <p:nvPr/>
        </p:nvSpPr>
        <p:spPr>
          <a:xfrm>
            <a:off x="918622" y="4101645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lang="en-US" sz="30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PLUS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9dd5f40ea_12_0"/>
          <p:cNvSpPr txBox="1"/>
          <p:nvPr/>
        </p:nvSpPr>
        <p:spPr>
          <a:xfrm>
            <a:off x="918625" y="4379816"/>
            <a:ext cx="57606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00"/>
              <a:buFont typeface="Malgun Gothic"/>
              <a:buNone/>
            </a:pP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유료구독 - 광고제거, 보이스챗, 비공개방</a:t>
            </a:r>
            <a:b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b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 - 한국어 교보재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9f5e3993b_0_7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9f5e3993b_0_7"/>
          <p:cNvSpPr/>
          <p:nvPr/>
        </p:nvSpPr>
        <p:spPr>
          <a:xfrm>
            <a:off x="0" y="1755648"/>
            <a:ext cx="121917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9f5e3993b_0_7"/>
          <p:cNvSpPr/>
          <p:nvPr/>
        </p:nvSpPr>
        <p:spPr>
          <a:xfrm>
            <a:off x="850392" y="445861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 · 사업성</a:t>
            </a:r>
            <a:endParaRPr i="0" sz="2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g3f9f5e3993b_0_7"/>
          <p:cNvSpPr/>
          <p:nvPr/>
        </p:nvSpPr>
        <p:spPr>
          <a:xfrm>
            <a:off x="850392" y="879656"/>
            <a:ext cx="8595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i="0" lang="en-US" sz="3200" u="none" cap="none" strike="noStrike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언제 흑자가 되나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9f5e3993b_0_7"/>
          <p:cNvSpPr/>
          <p:nvPr/>
        </p:nvSpPr>
        <p:spPr>
          <a:xfrm>
            <a:off x="850392" y="2103120"/>
            <a:ext cx="3108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단가별 판당 마진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g3f9f5e3993b_0_7"/>
          <p:cNvSpPr/>
          <p:nvPr/>
        </p:nvSpPr>
        <p:spPr>
          <a:xfrm>
            <a:off x="3480706" y="2134840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Hahmlet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highlight>
                  <a:srgbClr val="000000"/>
                </a:highlight>
                <a:latin typeface="Malgun Gothic"/>
                <a:ea typeface="Malgun Gothic"/>
                <a:cs typeface="Malgun Gothic"/>
                <a:sym typeface="Malgun Gothic"/>
              </a:rPr>
              <a:t>노출 = 판당 사람 수 × 광고 화면 수</a:t>
            </a:r>
            <a:endParaRPr i="0" sz="1800" u="none" cap="none" strike="noStrike">
              <a:solidFill>
                <a:srgbClr val="FFFFFF"/>
              </a:solidFill>
              <a:highlight>
                <a:srgbClr val="0000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1" name="Google Shape;491;g3f9f5e3993b_0_7"/>
          <p:cNvSpPr/>
          <p:nvPr/>
        </p:nvSpPr>
        <p:spPr>
          <a:xfrm>
            <a:off x="1874520" y="2615184"/>
            <a:ext cx="1042500" cy="2962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f9f5e3993b_0_7"/>
          <p:cNvSpPr/>
          <p:nvPr/>
        </p:nvSpPr>
        <p:spPr>
          <a:xfrm>
            <a:off x="1874520" y="2670048"/>
            <a:ext cx="1042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Hahmlet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 $1~2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3" name="Google Shape;493;g3f9f5e3993b_0_7"/>
          <p:cNvSpPr/>
          <p:nvPr/>
        </p:nvSpPr>
        <p:spPr>
          <a:xfrm>
            <a:off x="2916936" y="2670048"/>
            <a:ext cx="4169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Hahmlet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영어권 $2~6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4" name="Google Shape;494;g3f9f5e3993b_0_7"/>
          <p:cNvSpPr/>
          <p:nvPr/>
        </p:nvSpPr>
        <p:spPr>
          <a:xfrm rot="-5400000">
            <a:off x="-84" y="3730776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Hahmlet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마진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95" name="Google Shape;495;g3f9f5e3993b_0_7"/>
          <p:cNvCxnSpPr/>
          <p:nvPr/>
        </p:nvCxnSpPr>
        <p:spPr>
          <a:xfrm>
            <a:off x="1874520" y="2615184"/>
            <a:ext cx="0" cy="2962800"/>
          </a:xfrm>
          <a:prstGeom prst="straightConnector1">
            <a:avLst/>
          </a:prstGeom>
          <a:noFill/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g3f9f5e3993b_0_7"/>
          <p:cNvSpPr/>
          <p:nvPr/>
        </p:nvSpPr>
        <p:spPr>
          <a:xfrm>
            <a:off x="1161288" y="2625123"/>
            <a:ext cx="62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100"/>
              <a:buFont typeface="Consolas"/>
              <a:buNone/>
            </a:pPr>
            <a:r>
              <a:rPr i="0" lang="en-US" sz="11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＋90원</a:t>
            </a:r>
            <a:endParaRPr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7" name="Google Shape;497;g3f9f5e3993b_0_7"/>
          <p:cNvSpPr/>
          <p:nvPr/>
        </p:nvSpPr>
        <p:spPr>
          <a:xfrm>
            <a:off x="1161288" y="4943723"/>
            <a:ext cx="62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0원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8" name="Google Shape;498;g3f9f5e3993b_0_7"/>
          <p:cNvSpPr/>
          <p:nvPr/>
        </p:nvSpPr>
        <p:spPr>
          <a:xfrm>
            <a:off x="1161288" y="5358384"/>
            <a:ext cx="62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100"/>
              <a:buFont typeface="Consolas"/>
              <a:buNone/>
            </a:pPr>
            <a:r>
              <a:rPr i="0" lang="en-US" sz="11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－20원</a:t>
            </a:r>
            <a:endParaRPr i="0" sz="1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99" name="Google Shape;499;g3f9f5e3993b_0_7"/>
          <p:cNvCxnSpPr/>
          <p:nvPr/>
        </p:nvCxnSpPr>
        <p:spPr>
          <a:xfrm>
            <a:off x="1874520" y="5062595"/>
            <a:ext cx="52122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g3f9f5e3993b_0_7"/>
          <p:cNvSpPr/>
          <p:nvPr/>
        </p:nvSpPr>
        <p:spPr>
          <a:xfrm>
            <a:off x="1600200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9f5e3993b_0_7"/>
          <p:cNvSpPr/>
          <p:nvPr/>
        </p:nvSpPr>
        <p:spPr>
          <a:xfrm>
            <a:off x="2642616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$2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9f5e3993b_0_7"/>
          <p:cNvSpPr/>
          <p:nvPr/>
        </p:nvSpPr>
        <p:spPr>
          <a:xfrm>
            <a:off x="3685032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f9f5e3993b_0_7"/>
          <p:cNvSpPr/>
          <p:nvPr/>
        </p:nvSpPr>
        <p:spPr>
          <a:xfrm>
            <a:off x="4727448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$4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f9f5e3993b_0_7"/>
          <p:cNvSpPr/>
          <p:nvPr/>
        </p:nvSpPr>
        <p:spPr>
          <a:xfrm>
            <a:off x="5769864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$5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f9f5e3993b_0_7"/>
          <p:cNvSpPr/>
          <p:nvPr/>
        </p:nvSpPr>
        <p:spPr>
          <a:xfrm>
            <a:off x="6812280" y="5650992"/>
            <a:ext cx="548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$6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f9f5e3993b_0_7"/>
          <p:cNvSpPr/>
          <p:nvPr/>
        </p:nvSpPr>
        <p:spPr>
          <a:xfrm>
            <a:off x="1874520" y="5961888"/>
            <a:ext cx="5212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Hahmlet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단가 RPM — 광고 1,000회 노출당 수익</a:t>
            </a:r>
            <a:endParaRPr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07" name="Google Shape;507;g3f9f5e3993b_0_7"/>
          <p:cNvCxnSpPr/>
          <p:nvPr/>
        </p:nvCxnSpPr>
        <p:spPr>
          <a:xfrm flipH="1" rot="10800000">
            <a:off x="1874520" y="4859574"/>
            <a:ext cx="5212200" cy="705900"/>
          </a:xfrm>
          <a:prstGeom prst="straightConnector1">
            <a:avLst/>
          </a:prstGeom>
          <a:noFill/>
          <a:ln cap="flat" cmpd="sng" w="31750">
            <a:solidFill>
              <a:srgbClr val="F0857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g3f9f5e3993b_0_7"/>
          <p:cNvSpPr/>
          <p:nvPr/>
        </p:nvSpPr>
        <p:spPr>
          <a:xfrm>
            <a:off x="5537359" y="5012303"/>
            <a:ext cx="100500" cy="100500"/>
          </a:xfrm>
          <a:prstGeom prst="ellipse">
            <a:avLst/>
          </a:prstGeom>
          <a:solidFill>
            <a:srgbClr val="F0857E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9" name="Google Shape;509;g3f9f5e3993b_0_7"/>
          <p:cNvCxnSpPr/>
          <p:nvPr/>
        </p:nvCxnSpPr>
        <p:spPr>
          <a:xfrm flipH="1" rot="10800000">
            <a:off x="1874520" y="4647880"/>
            <a:ext cx="5212200" cy="882300"/>
          </a:xfrm>
          <a:prstGeom prst="straightConnector1">
            <a:avLst/>
          </a:prstGeom>
          <a:noFill/>
          <a:ln cap="flat" cmpd="sng" w="31750">
            <a:solidFill>
              <a:srgbClr val="DC4A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0" name="Google Shape;510;g3f9f5e3993b_0_7"/>
          <p:cNvSpPr/>
          <p:nvPr/>
        </p:nvSpPr>
        <p:spPr>
          <a:xfrm>
            <a:off x="4586250" y="5012303"/>
            <a:ext cx="100500" cy="100500"/>
          </a:xfrm>
          <a:prstGeom prst="ellipse">
            <a:avLst/>
          </a:prstGeom>
          <a:solidFill>
            <a:srgbClr val="DC4A4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1" name="Google Shape;511;g3f9f5e3993b_0_7"/>
          <p:cNvCxnSpPr/>
          <p:nvPr/>
        </p:nvCxnSpPr>
        <p:spPr>
          <a:xfrm flipH="1" rot="10800000">
            <a:off x="1874520" y="3589108"/>
            <a:ext cx="5212200" cy="1764600"/>
          </a:xfrm>
          <a:prstGeom prst="straightConnector1">
            <a:avLst/>
          </a:prstGeom>
          <a:noFill/>
          <a:ln cap="flat" cmpd="sng" w="31750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2" name="Google Shape;512;g3f9f5e3993b_0_7"/>
          <p:cNvSpPr/>
          <p:nvPr/>
        </p:nvSpPr>
        <p:spPr>
          <a:xfrm>
            <a:off x="2684031" y="5012303"/>
            <a:ext cx="100500" cy="100500"/>
          </a:xfrm>
          <a:prstGeom prst="ellipse">
            <a:avLst/>
          </a:prstGeom>
          <a:solidFill>
            <a:srgbClr val="C2162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3" name="Google Shape;513;g3f9f5e3993b_0_7"/>
          <p:cNvCxnSpPr/>
          <p:nvPr/>
        </p:nvCxnSpPr>
        <p:spPr>
          <a:xfrm flipH="1" rot="10800000">
            <a:off x="1874520" y="2742031"/>
            <a:ext cx="5212200" cy="2470500"/>
          </a:xfrm>
          <a:prstGeom prst="straightConnector1">
            <a:avLst/>
          </a:prstGeom>
          <a:noFill/>
          <a:ln cap="flat" cmpd="sng" w="31750">
            <a:solidFill>
              <a:srgbClr val="7E0D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g3f9f5e3993b_0_7"/>
          <p:cNvSpPr/>
          <p:nvPr/>
        </p:nvSpPr>
        <p:spPr>
          <a:xfrm>
            <a:off x="2140540" y="5012303"/>
            <a:ext cx="100500" cy="100500"/>
          </a:xfrm>
          <a:prstGeom prst="ellipse">
            <a:avLst/>
          </a:prstGeom>
          <a:solidFill>
            <a:srgbClr val="7E0D1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f9f5e3993b_0_7"/>
          <p:cNvSpPr/>
          <p:nvPr/>
        </p:nvSpPr>
        <p:spPr>
          <a:xfrm>
            <a:off x="5203603" y="5154035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857E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0857E"/>
                </a:solidFill>
                <a:latin typeface="Consolas"/>
                <a:ea typeface="Consolas"/>
                <a:cs typeface="Consolas"/>
                <a:sym typeface="Consolas"/>
              </a:rPr>
              <a:t>$4.56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9f5e3993b_0_7"/>
          <p:cNvSpPr/>
          <p:nvPr/>
        </p:nvSpPr>
        <p:spPr>
          <a:xfrm>
            <a:off x="4252532" y="5321954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4A4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DC4A44"/>
                </a:solidFill>
                <a:latin typeface="Consolas"/>
                <a:ea typeface="Consolas"/>
                <a:cs typeface="Consolas"/>
                <a:sym typeface="Consolas"/>
              </a:rPr>
              <a:t>$3.65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f9f5e3993b_0_7"/>
          <p:cNvSpPr/>
          <p:nvPr/>
        </p:nvSpPr>
        <p:spPr>
          <a:xfrm>
            <a:off x="2350275" y="5154035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$1.82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f9f5e3993b_0_7"/>
          <p:cNvSpPr/>
          <p:nvPr/>
        </p:nvSpPr>
        <p:spPr>
          <a:xfrm>
            <a:off x="1874520" y="5246992"/>
            <a:ext cx="768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0D1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E0D14"/>
                </a:solidFill>
                <a:latin typeface="Consolas"/>
                <a:ea typeface="Consolas"/>
                <a:cs typeface="Consolas"/>
                <a:sym typeface="Consolas"/>
              </a:rPr>
              <a:t>$1.30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f9f5e3993b_0_7"/>
          <p:cNvSpPr/>
          <p:nvPr/>
        </p:nvSpPr>
        <p:spPr>
          <a:xfrm>
            <a:off x="7178040" y="2586486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0D14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7E0D14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14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g3f9f5e3993b_0_7"/>
          <p:cNvSpPr/>
          <p:nvPr/>
        </p:nvSpPr>
        <p:spPr>
          <a:xfrm>
            <a:off x="7178040" y="2842518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7명 × 2화면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g3f9f5e3993b_0_7"/>
          <p:cNvSpPr/>
          <p:nvPr/>
        </p:nvSpPr>
        <p:spPr>
          <a:xfrm>
            <a:off x="7178040" y="3433548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10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2" name="Google Shape;522;g3f9f5e3993b_0_7"/>
          <p:cNvSpPr/>
          <p:nvPr/>
        </p:nvSpPr>
        <p:spPr>
          <a:xfrm>
            <a:off x="7178040" y="3689580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2화면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3" name="Google Shape;523;g3f9f5e3993b_0_7"/>
          <p:cNvSpPr/>
          <p:nvPr/>
        </p:nvSpPr>
        <p:spPr>
          <a:xfrm>
            <a:off x="7178040" y="4492376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4A44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DC4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5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4" name="Google Shape;524;g3f9f5e3993b_0_7"/>
          <p:cNvSpPr/>
          <p:nvPr/>
        </p:nvSpPr>
        <p:spPr>
          <a:xfrm>
            <a:off x="7178040" y="4748408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1화면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5" name="Google Shape;525;g3f9f5e3993b_0_7"/>
          <p:cNvSpPr/>
          <p:nvPr/>
        </p:nvSpPr>
        <p:spPr>
          <a:xfrm>
            <a:off x="7178040" y="5004440"/>
            <a:ext cx="91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57E"/>
              </a:buClr>
              <a:buSzPts val="1300"/>
              <a:buFont typeface="Hahmlet"/>
              <a:buNone/>
            </a:pPr>
            <a:r>
              <a:rPr b="1" i="0" lang="en-US" sz="1300" u="none" cap="none" strike="noStrike">
                <a:solidFill>
                  <a:srgbClr val="F0857E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노출 4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g3f9f5e3993b_0_7"/>
          <p:cNvSpPr/>
          <p:nvPr/>
        </p:nvSpPr>
        <p:spPr>
          <a:xfrm>
            <a:off x="7178040" y="5260472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4명 × 1화면</a:t>
            </a:r>
            <a:endParaRPr i="0" sz="105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7" name="Google Shape;527;g3f9f5e3993b_0_7"/>
          <p:cNvSpPr/>
          <p:nvPr/>
        </p:nvSpPr>
        <p:spPr>
          <a:xfrm>
            <a:off x="8183880" y="2615184"/>
            <a:ext cx="3154800" cy="1572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f9f5e3993b_0_7"/>
          <p:cNvSpPr/>
          <p:nvPr/>
        </p:nvSpPr>
        <p:spPr>
          <a:xfrm>
            <a:off x="8439912" y="2795506"/>
            <a:ext cx="264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 구간</a:t>
            </a:r>
            <a:endParaRPr i="0" sz="21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g3f9f5e3993b_0_7"/>
          <p:cNvSpPr/>
          <p:nvPr/>
        </p:nvSpPr>
        <p:spPr>
          <a:xfrm>
            <a:off x="8439900" y="3182097"/>
            <a:ext cx="27522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화면이 2개여야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0원을 넘습니다.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0" name="Google Shape;530;g3f9f5e3993b_0_7"/>
          <p:cNvSpPr/>
          <p:nvPr/>
        </p:nvSpPr>
        <p:spPr>
          <a:xfrm>
            <a:off x="8183880" y="4334256"/>
            <a:ext cx="3154800" cy="17373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f9f5e3993b_0_7"/>
          <p:cNvSpPr/>
          <p:nvPr/>
        </p:nvSpPr>
        <p:spPr>
          <a:xfrm>
            <a:off x="8439912" y="4480560"/>
            <a:ext cx="264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서버비를 덮는 하루 판 수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2" name="Google Shape;532;g3f9f5e3993b_0_7"/>
          <p:cNvSpPr/>
          <p:nvPr/>
        </p:nvSpPr>
        <p:spPr>
          <a:xfrm>
            <a:off x="8439912" y="4846320"/>
            <a:ext cx="65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400"/>
              <a:buFont typeface="Hahmlet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영어권</a:t>
            </a:r>
            <a:endParaRPr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3" name="Google Shape;533;g3f9f5e3993b_0_7"/>
          <p:cNvSpPr/>
          <p:nvPr/>
        </p:nvSpPr>
        <p:spPr>
          <a:xfrm>
            <a:off x="9116568" y="4873752"/>
            <a:ext cx="123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2화면 · $4</a:t>
            </a:r>
            <a:endParaRPr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4" name="Google Shape;534;g3f9f5e3993b_0_7"/>
          <p:cNvSpPr/>
          <p:nvPr/>
        </p:nvSpPr>
        <p:spPr>
          <a:xfrm>
            <a:off x="10332720" y="4809744"/>
            <a:ext cx="77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8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46판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5" name="Google Shape;535;g3f9f5e3993b_0_7"/>
          <p:cNvSpPr/>
          <p:nvPr/>
        </p:nvSpPr>
        <p:spPr>
          <a:xfrm>
            <a:off x="8439912" y="5394960"/>
            <a:ext cx="65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400"/>
              <a:buFont typeface="Hahmlet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</a:t>
            </a:r>
            <a:endParaRPr i="0" sz="1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6" name="Google Shape;536;g3f9f5e3993b_0_7"/>
          <p:cNvSpPr/>
          <p:nvPr/>
        </p:nvSpPr>
        <p:spPr>
          <a:xfrm>
            <a:off x="9116568" y="5422392"/>
            <a:ext cx="123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050"/>
              <a:buFont typeface="Hahmlet"/>
              <a:buNone/>
            </a:pPr>
            <a:r>
              <a:rPr i="0" lang="en-US" sz="105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5명 × 2화면 · $2</a:t>
            </a:r>
            <a:endParaRPr i="0" sz="105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7" name="Google Shape;537;g3f9f5e3993b_0_7"/>
          <p:cNvSpPr/>
          <p:nvPr/>
        </p:nvSpPr>
        <p:spPr>
          <a:xfrm>
            <a:off x="10332720" y="5358384"/>
            <a:ext cx="77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8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571판</a:t>
            </a:r>
            <a:endParaRPr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8" name="Google Shape;538;g3f9f5e3993b_0_7"/>
          <p:cNvSpPr/>
          <p:nvPr/>
        </p:nvSpPr>
        <p:spPr>
          <a:xfrm>
            <a:off x="8439912" y="5742432"/>
            <a:ext cx="264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100"/>
              <a:buFont typeface="Hahmlet"/>
              <a:buNone/>
            </a:pPr>
            <a:r>
              <a:rPr i="0" lang="en-US" sz="11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서버비 월 $30 기준</a:t>
            </a:r>
            <a:endParaRPr i="0" sz="1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9" name="Google Shape;539;g3f9f5e3993b_0_7"/>
          <p:cNvSpPr/>
          <p:nvPr/>
        </p:nvSpPr>
        <p:spPr>
          <a:xfrm>
            <a:off x="850392" y="6309360"/>
            <a:ext cx="10491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9f5e3993b_0_7"/>
          <p:cNvSpPr/>
          <p:nvPr/>
        </p:nvSpPr>
        <p:spPr>
          <a:xfrm>
            <a:off x="850392" y="6391656"/>
            <a:ext cx="10491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Hahmlet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실측 </a:t>
            </a:r>
            <a:r>
              <a:rPr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원가 판당 25원(알리바바 콘솔, 2판 10K 토큰)    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가정 </a:t>
            </a:r>
            <a:r>
              <a:rPr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RPM $1~6은 공개 참고범위. · 환율 1,370원 · 서버비 월 $30 · 광고 외 수익 0</a:t>
            </a:r>
            <a:endParaRPr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5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개발 히스토리와 결론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850392" y="2507376"/>
            <a:ext cx="10491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868680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 txBox="1"/>
          <p:nvPr/>
        </p:nvSpPr>
        <p:spPr>
          <a:xfrm>
            <a:off x="1088045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</a:t>
            </a: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 txBox="1"/>
          <p:nvPr/>
        </p:nvSpPr>
        <p:spPr>
          <a:xfrm>
            <a:off x="1088050" y="3197306"/>
            <a:ext cx="20418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여러 명이 섞인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마피아 게임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3197824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 txBox="1"/>
          <p:nvPr/>
        </p:nvSpPr>
        <p:spPr>
          <a:xfrm>
            <a:off x="3417190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 txBox="1"/>
          <p:nvPr/>
        </p:nvSpPr>
        <p:spPr>
          <a:xfrm>
            <a:off x="3407651" y="3186281"/>
            <a:ext cx="24996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게임으로 변경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1명 고정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5817816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5"/>
          <p:cNvSpPr txBox="1"/>
          <p:nvPr/>
        </p:nvSpPr>
        <p:spPr>
          <a:xfrm>
            <a:off x="6037182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 txBox="1"/>
          <p:nvPr/>
        </p:nvSpPr>
        <p:spPr>
          <a:xfrm>
            <a:off x="6125911" y="3158581"/>
            <a:ext cx="1742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DB · Railway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1" lang="en-US" sz="18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18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루프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7866166" y="2397648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5"/>
          <p:cNvSpPr txBox="1"/>
          <p:nvPr/>
        </p:nvSpPr>
        <p:spPr>
          <a:xfrm>
            <a:off x="8085531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반영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 txBox="1"/>
          <p:nvPr/>
        </p:nvSpPr>
        <p:spPr>
          <a:xfrm>
            <a:off x="8158826" y="3164705"/>
            <a:ext cx="18831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리플레이</a:t>
            </a:r>
            <a:b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방목록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9763506" y="2397648"/>
            <a:ext cx="228600" cy="228600"/>
          </a:xfrm>
          <a:prstGeom prst="ellipse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5"/>
          <p:cNvSpPr txBox="1"/>
          <p:nvPr/>
        </p:nvSpPr>
        <p:spPr>
          <a:xfrm>
            <a:off x="9982871" y="2726832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 txBox="1"/>
          <p:nvPr/>
        </p:nvSpPr>
        <p:spPr>
          <a:xfrm>
            <a:off x="10015034" y="3165847"/>
            <a:ext cx="15960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</a:t>
            </a:r>
            <a:endParaRPr b="1" i="0" sz="2100" u="none" cap="none" strike="noStrike">
              <a:solidFill>
                <a:srgbClr val="C216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6" name="Google Shape;566;p15"/>
          <p:cNvGrpSpPr/>
          <p:nvPr/>
        </p:nvGrpSpPr>
        <p:grpSpPr>
          <a:xfrm>
            <a:off x="850392" y="4316730"/>
            <a:ext cx="10626610" cy="1810512"/>
            <a:chOff x="850392" y="4754880"/>
            <a:chExt cx="10626610" cy="1810512"/>
          </a:xfrm>
        </p:grpSpPr>
        <p:sp>
          <p:nvSpPr>
            <p:cNvPr id="567" name="Google Shape;567;p15"/>
            <p:cNvSpPr/>
            <p:nvPr/>
          </p:nvSpPr>
          <p:spPr>
            <a:xfrm>
              <a:off x="850392" y="4754880"/>
              <a:ext cx="10490911" cy="1810512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5"/>
            <p:cNvSpPr txBox="1"/>
            <p:nvPr/>
          </p:nvSpPr>
          <p:spPr>
            <a:xfrm>
              <a:off x="1041153" y="4965467"/>
              <a:ext cx="9759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2600"/>
                <a:buFont typeface="Malgun Gothic"/>
                <a:buNone/>
              </a:pPr>
              <a:r>
                <a:rPr b="1" i="0" lang="en-US" sz="26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결론 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15"/>
            <p:cNvSpPr txBox="1"/>
            <p:nvPr/>
          </p:nvSpPr>
          <p:spPr>
            <a:xfrm>
              <a:off x="1075102" y="5466745"/>
              <a:ext cx="1040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840"/>
                <a:buFont typeface="Malgun Gothic"/>
                <a:buNone/>
              </a:pP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오프라인</a:t>
              </a: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게임 규칙은</a:t>
              </a: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코드로 옮기는 순간 "어떻게 강제할 것인가"가 됐습니다.</a:t>
              </a:r>
              <a:endParaRPr b="1" sz="214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840"/>
                <a:buFont typeface="Malgun Gothic"/>
                <a:buNone/>
              </a:pPr>
              <a:r>
                <a:rPr b="1" lang="en-US" sz="214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그리고 그 중 봇의 규칙은, 이제 사람이 아니라 게임 스스로 고칩니다. </a:t>
              </a:r>
              <a:endParaRPr b="1" sz="214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6"/>
          <p:cNvSpPr txBox="1"/>
          <p:nvPr/>
        </p:nvSpPr>
        <p:spPr>
          <a:xfrm>
            <a:off x="448950" y="5162217"/>
            <a:ext cx="11294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https://zeteo-deploy.up.railway.app/</a:t>
            </a:r>
            <a:endParaRPr b="1" sz="5000" u="sng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6" name="Google Shape;576;p16"/>
          <p:cNvSpPr txBox="1"/>
          <p:nvPr/>
        </p:nvSpPr>
        <p:spPr>
          <a:xfrm>
            <a:off x="850392" y="457200"/>
            <a:ext cx="10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 txBox="1"/>
          <p:nvPr/>
        </p:nvSpPr>
        <p:spPr>
          <a:xfrm>
            <a:off x="850392" y="804672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lang="en-US" sz="46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시연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pic>
        <p:nvPicPr>
          <p:cNvPr id="578" name="Google Shape;578;p16" title="qr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6700" y="1571812"/>
            <a:ext cx="3275445" cy="327544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16"/>
          <p:cNvSpPr/>
          <p:nvPr/>
        </p:nvSpPr>
        <p:spPr>
          <a:xfrm>
            <a:off x="4460125" y="1572375"/>
            <a:ext cx="3280800" cy="3295800"/>
          </a:xfrm>
          <a:prstGeom prst="rect">
            <a:avLst/>
          </a:prstGeom>
          <a:noFill/>
          <a:ln cap="flat" cmpd="sng" w="76200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fa3d26b968_0_0"/>
          <p:cNvSpPr txBox="1"/>
          <p:nvPr/>
        </p:nvSpPr>
        <p:spPr>
          <a:xfrm>
            <a:off x="850392" y="457200"/>
            <a:ext cx="10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fa3d26b968_0_0"/>
          <p:cNvSpPr txBox="1"/>
          <p:nvPr/>
        </p:nvSpPr>
        <p:spPr>
          <a:xfrm>
            <a:off x="850392" y="804672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lang="en-US" sz="46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웹훅 로그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pic>
        <p:nvPicPr>
          <p:cNvPr id="587" name="Google Shape;587;g3fa3d26b968_0_0" title="웹훅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5350" y="731400"/>
            <a:ext cx="7884489" cy="605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7"/>
          <p:cNvSpPr/>
          <p:nvPr/>
        </p:nvSpPr>
        <p:spPr>
          <a:xfrm>
            <a:off x="4754880" y="1272540"/>
            <a:ext cx="2651760" cy="2651760"/>
          </a:xfrm>
          <a:prstGeom prst="ellipse">
            <a:avLst/>
          </a:prstGeom>
          <a:noFill/>
          <a:ln cap="flat" cmpd="sng" w="25400">
            <a:solidFill>
              <a:srgbClr val="4A1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7"/>
          <p:cNvSpPr txBox="1"/>
          <p:nvPr/>
        </p:nvSpPr>
        <p:spPr>
          <a:xfrm>
            <a:off x="4754880" y="1272540"/>
            <a:ext cx="2651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9600"/>
              <a:buFont typeface="Malgun Gothic"/>
              <a:buNone/>
            </a:pPr>
            <a:r>
              <a:rPr b="1" i="0" lang="en-US" sz="9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7"/>
          <p:cNvSpPr txBox="1"/>
          <p:nvPr/>
        </p:nvSpPr>
        <p:spPr>
          <a:xfrm>
            <a:off x="0" y="4567737"/>
            <a:ext cx="1219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0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우리 중 하나는 사람이 아닙니다</a:t>
            </a:r>
            <a:endParaRPr i="0" sz="3000" u="none" cap="none" strike="noStrike">
              <a:solidFill>
                <a:srgbClr val="F3E6E6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596" name="Google Shape;596;p17"/>
          <p:cNvSpPr/>
          <p:nvPr/>
        </p:nvSpPr>
        <p:spPr>
          <a:xfrm>
            <a:off x="5410048" y="5249727"/>
            <a:ext cx="13716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7"/>
          <p:cNvSpPr txBox="1"/>
          <p:nvPr/>
        </p:nvSpPr>
        <p:spPr>
          <a:xfrm>
            <a:off x="0" y="542925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  ·  Q &amp; A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 txBox="1"/>
          <p:nvPr/>
        </p:nvSpPr>
        <p:spPr>
          <a:xfrm>
            <a:off x="0" y="5958840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7C7E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9B7C7E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9" name="Google Shape;599;p17"/>
          <p:cNvGrpSpPr/>
          <p:nvPr/>
        </p:nvGrpSpPr>
        <p:grpSpPr>
          <a:xfrm>
            <a:off x="4686021" y="370559"/>
            <a:ext cx="2820432" cy="4063743"/>
            <a:chOff x="6754971" y="392342"/>
            <a:chExt cx="3019411" cy="4235271"/>
          </a:xfrm>
        </p:grpSpPr>
        <p:sp>
          <p:nvSpPr>
            <p:cNvPr id="600" name="Google Shape;600;p17"/>
            <p:cNvSpPr/>
            <p:nvPr/>
          </p:nvSpPr>
          <p:spPr>
            <a:xfrm>
              <a:off x="6754971" y="392342"/>
              <a:ext cx="3019411" cy="4235271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1" name="Google Shape;60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2026-08-27T07:51:17.000</dcterms:created>
  <dc:creator>TeamB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