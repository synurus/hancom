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685800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" name="Shape 1"/>
          <p:cNvSpPr/>
          <p:nvPr/>
        </p:nvSpPr>
        <p:spPr>
          <a:xfrm>
            <a:off x="9573768" y="685800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4" name="Shape 2"/>
          <p:cNvSpPr/>
          <p:nvPr/>
        </p:nvSpPr>
        <p:spPr>
          <a:xfrm>
            <a:off x="9866376" y="685800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685800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6" name="Shape 4"/>
          <p:cNvSpPr/>
          <p:nvPr/>
        </p:nvSpPr>
        <p:spPr>
          <a:xfrm>
            <a:off x="10451592" y="685800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7" name="Shape 5"/>
          <p:cNvSpPr/>
          <p:nvPr/>
        </p:nvSpPr>
        <p:spPr>
          <a:xfrm>
            <a:off x="10744200" y="685800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8" name="Shape 6"/>
          <p:cNvSpPr/>
          <p:nvPr/>
        </p:nvSpPr>
        <p:spPr>
          <a:xfrm>
            <a:off x="11036808" y="685800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9" name="Shape 7"/>
          <p:cNvSpPr/>
          <p:nvPr/>
        </p:nvSpPr>
        <p:spPr>
          <a:xfrm>
            <a:off x="11329416" y="685800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0" name="Shape 8"/>
          <p:cNvSpPr/>
          <p:nvPr/>
        </p:nvSpPr>
        <p:spPr>
          <a:xfrm>
            <a:off x="11622024" y="685800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1" name="Shape 9"/>
          <p:cNvSpPr/>
          <p:nvPr/>
        </p:nvSpPr>
        <p:spPr>
          <a:xfrm>
            <a:off x="9281160" y="978408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2" name="Shape 10"/>
          <p:cNvSpPr/>
          <p:nvPr/>
        </p:nvSpPr>
        <p:spPr>
          <a:xfrm>
            <a:off x="9573768" y="978408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3" name="Shape 11"/>
          <p:cNvSpPr/>
          <p:nvPr/>
        </p:nvSpPr>
        <p:spPr>
          <a:xfrm>
            <a:off x="9866376" y="978408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58984" y="978408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51592" y="978408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44200" y="978408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36808" y="978408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29416" y="978408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2024" y="978408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1271016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1" name="Shape 19"/>
          <p:cNvSpPr/>
          <p:nvPr/>
        </p:nvSpPr>
        <p:spPr>
          <a:xfrm>
            <a:off x="9573768" y="1271016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2" name="Shape 20"/>
          <p:cNvSpPr/>
          <p:nvPr/>
        </p:nvSpPr>
        <p:spPr>
          <a:xfrm>
            <a:off x="9866376" y="1271016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8984" y="1271016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51592" y="1271016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44200" y="1271016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36808" y="1271016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1329416" y="1271016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22024" y="1271016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29" name="Shape 27"/>
          <p:cNvSpPr/>
          <p:nvPr/>
        </p:nvSpPr>
        <p:spPr>
          <a:xfrm>
            <a:off x="9281160" y="1563624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0" name="Shape 28"/>
          <p:cNvSpPr/>
          <p:nvPr/>
        </p:nvSpPr>
        <p:spPr>
          <a:xfrm>
            <a:off x="9573768" y="1563624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1" name="Shape 29"/>
          <p:cNvSpPr/>
          <p:nvPr/>
        </p:nvSpPr>
        <p:spPr>
          <a:xfrm>
            <a:off x="9866376" y="1563624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8984" y="1563624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51592" y="1563624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44200" y="1563624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5" name="Shape 33"/>
          <p:cNvSpPr/>
          <p:nvPr/>
        </p:nvSpPr>
        <p:spPr>
          <a:xfrm>
            <a:off x="11036808" y="1563624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6" name="Shape 34"/>
          <p:cNvSpPr/>
          <p:nvPr/>
        </p:nvSpPr>
        <p:spPr>
          <a:xfrm>
            <a:off x="11329416" y="1563624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7" name="Shape 35"/>
          <p:cNvSpPr/>
          <p:nvPr/>
        </p:nvSpPr>
        <p:spPr>
          <a:xfrm>
            <a:off x="11622024" y="1563624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8" name="Shape 36"/>
          <p:cNvSpPr/>
          <p:nvPr/>
        </p:nvSpPr>
        <p:spPr>
          <a:xfrm>
            <a:off x="9281160" y="1856232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39" name="Shape 37"/>
          <p:cNvSpPr/>
          <p:nvPr/>
        </p:nvSpPr>
        <p:spPr>
          <a:xfrm>
            <a:off x="9573768" y="1856232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40" name="Shape 38"/>
          <p:cNvSpPr/>
          <p:nvPr/>
        </p:nvSpPr>
        <p:spPr>
          <a:xfrm>
            <a:off x="9866376" y="1856232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58984" y="1856232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51592" y="1856232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43" name="Shape 41"/>
          <p:cNvSpPr/>
          <p:nvPr/>
        </p:nvSpPr>
        <p:spPr>
          <a:xfrm>
            <a:off x="10744200" y="1856232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36808" y="1856232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45" name="Shape 43"/>
          <p:cNvSpPr/>
          <p:nvPr/>
        </p:nvSpPr>
        <p:spPr>
          <a:xfrm>
            <a:off x="11329416" y="1856232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622024" y="1856232"/>
            <a:ext cx="73152" cy="73152"/>
          </a:xfrm>
          <a:prstGeom prst="ellipse">
            <a:avLst/>
          </a:prstGeom>
          <a:solidFill>
            <a:srgbClr val="3A424D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" y="914400"/>
            <a:ext cx="182880" cy="18288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777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코드 시스템 리뷰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분기형 코드북</a:t>
            </a:r>
            <a:endParaRPr lang="en-US" sz="5400" dirty="0"/>
          </a:p>
        </p:txBody>
      </p:sp>
      <p:sp>
        <p:nvSpPr>
          <p:cNvPr id="50" name="Shape 48"/>
          <p:cNvSpPr/>
          <p:nvPr/>
        </p:nvSpPr>
        <p:spPr>
          <a:xfrm>
            <a:off x="822960" y="3456432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2B333D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3456432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/codebook</a:t>
            </a:r>
            <a:endParaRPr lang="en-US" sz="2400" dirty="0"/>
          </a:p>
        </p:txBody>
      </p:sp>
      <p:sp>
        <p:nvSpPr>
          <p:cNvPr id="52" name="Shape 50"/>
          <p:cNvSpPr/>
          <p:nvPr/>
        </p:nvSpPr>
        <p:spPr>
          <a:xfrm>
            <a:off x="822960" y="498348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2B333D"/>
          </a:solidFill>
          <a:ln/>
        </p:spPr>
      </p:sp>
      <p:sp>
        <p:nvSpPr>
          <p:cNvPr id="53" name="Text 51"/>
          <p:cNvSpPr/>
          <p:nvPr/>
        </p:nvSpPr>
        <p:spPr>
          <a:xfrm>
            <a:off x="1188720" y="51389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팀명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18872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Zeteo</a:t>
            </a:r>
            <a:endParaRPr lang="en-US" sz="2600" dirty="0"/>
          </a:p>
        </p:txBody>
      </p:sp>
      <p:sp>
        <p:nvSpPr>
          <p:cNvPr id="55" name="Shape 53"/>
          <p:cNvSpPr/>
          <p:nvPr/>
        </p:nvSpPr>
        <p:spPr>
          <a:xfrm>
            <a:off x="4389120" y="5212080"/>
            <a:ext cx="0" cy="822960"/>
          </a:xfrm>
          <a:prstGeom prst="line">
            <a:avLst/>
          </a:prstGeom>
          <a:noFill/>
          <a:ln w="12700">
            <a:solidFill>
              <a:srgbClr val="4E586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51389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754880" y="5440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박진   ·   김정현   ·   이현우   ·   유민성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자기 코드만 아는 상태가 됐다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4명이 파트를 나눠 개발하면서 실제로 벌어진 일들 (8월 12일 하루)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56432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603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7F2F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파일 충돌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858768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박진·이현우가 서로 모르는 채 같은 CSS 파일을 각자 고쳐, 병합할 때 7개 파일이 부딪혔다.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61104" y="2286000"/>
            <a:ext cx="3456432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5424" y="25603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7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25603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5424" y="310896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기능 두 번 개발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35424" y="3858768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유민성이 knowledge.ts를 만들었지만, 봇 쪽에서 이미 검토하고 보류한 기능이었다.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73568" y="2286000"/>
            <a:ext cx="3456432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5603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7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8247888" y="25603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310896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12개 중 리뷰 1개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47888" y="3858768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11개는 아무도 읽지 않은 채 그대로 병합됐다.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94960"/>
            <a:ext cx="10332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리뷰를 안 한 게 아니라, </a:t>
            </a:r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남의 코드를 읽을 진입로가 없었다.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리뷰만으로는 부족했다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PR은 '무엇이 바뀌었는지'만 보여준다. 우리가 몰랐던 건 '이 파일이 원래 뭘 하는지'였다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21208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42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리뷰의 한계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바뀐 줄(diff)만 보인다 — 파일 전체 맥락은 안 보인다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문제는 “이 파일이 뭘 하는 파일인지”를 모르는 것이었다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앞으로 남은 PR이 적어, 리뷰 기록이 쌓일 시간이 없다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9320" y="2286000"/>
            <a:ext cx="5623560" cy="34290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팀원마다 밝은 영역이 다르다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막대가 길수록 그 영역을 잘 아는 쪽 (자체 진단)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3456432"/>
            <a:ext cx="128016" cy="12801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8083296" y="3364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555480" y="3456432"/>
            <a:ext cx="128016" cy="128016"/>
          </a:xfrm>
          <a:prstGeom prst="ellipse">
            <a:avLst/>
          </a:prstGeom>
          <a:solidFill>
            <a:srgbClr val="45566A"/>
          </a:solidFill>
          <a:ln/>
        </p:spPr>
      </p:sp>
      <p:sp>
        <p:nvSpPr>
          <p:cNvPr id="15" name="Text 13"/>
          <p:cNvSpPr/>
          <p:nvPr/>
        </p:nvSpPr>
        <p:spPr>
          <a:xfrm>
            <a:off x="9774936" y="33649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백엔드·봇·DB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703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이현우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3767328"/>
            <a:ext cx="1508760" cy="182880"/>
          </a:xfrm>
          <a:prstGeom prst="roundRect">
            <a:avLst>
              <a:gd name="adj" fmla="val 25000"/>
            </a:avLst>
          </a:prstGeom>
          <a:solidFill>
            <a:srgbClr val="D7DDE2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3767328"/>
            <a:ext cx="1282446" cy="182880"/>
          </a:xfrm>
          <a:prstGeom prst="roundRect">
            <a:avLst>
              <a:gd name="adj" fmla="val 25000"/>
            </a:avLst>
          </a:prstGeom>
          <a:solidFill>
            <a:srgbClr val="0E7C6B"/>
          </a:solidFill>
          <a:ln/>
        </p:spPr>
      </p:sp>
      <p:sp>
        <p:nvSpPr>
          <p:cNvPr id="19" name="Shape 17"/>
          <p:cNvSpPr/>
          <p:nvPr/>
        </p:nvSpPr>
        <p:spPr>
          <a:xfrm>
            <a:off x="9555480" y="3767328"/>
            <a:ext cx="1600200" cy="182880"/>
          </a:xfrm>
          <a:prstGeom prst="roundRect">
            <a:avLst>
              <a:gd name="adj" fmla="val 25000"/>
            </a:avLst>
          </a:prstGeom>
          <a:solidFill>
            <a:srgbClr val="D7DDE2"/>
          </a:solidFill>
          <a:ln/>
        </p:spPr>
      </p:sp>
      <p:sp>
        <p:nvSpPr>
          <p:cNvPr id="20" name="Shape 18"/>
          <p:cNvSpPr/>
          <p:nvPr/>
        </p:nvSpPr>
        <p:spPr>
          <a:xfrm>
            <a:off x="9555480" y="3767328"/>
            <a:ext cx="480060" cy="182880"/>
          </a:xfrm>
          <a:prstGeom prst="roundRect">
            <a:avLst>
              <a:gd name="adj" fmla="val 25000"/>
            </a:avLst>
          </a:prstGeom>
          <a:solidFill>
            <a:srgbClr val="45566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187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유민성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63840" y="4251960"/>
            <a:ext cx="1508760" cy="182880"/>
          </a:xfrm>
          <a:prstGeom prst="roundRect">
            <a:avLst>
              <a:gd name="adj" fmla="val 25000"/>
            </a:avLst>
          </a:prstGeom>
          <a:solidFill>
            <a:srgbClr val="D7DDE2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0" y="4251960"/>
            <a:ext cx="452628" cy="182880"/>
          </a:xfrm>
          <a:prstGeom prst="roundRect">
            <a:avLst>
              <a:gd name="adj" fmla="val 25000"/>
            </a:avLst>
          </a:prstGeom>
          <a:solidFill>
            <a:srgbClr val="0E7C6B"/>
          </a:solidFill>
          <a:ln/>
        </p:spPr>
      </p:sp>
      <p:sp>
        <p:nvSpPr>
          <p:cNvPr id="24" name="Shape 22"/>
          <p:cNvSpPr/>
          <p:nvPr/>
        </p:nvSpPr>
        <p:spPr>
          <a:xfrm>
            <a:off x="9555480" y="4251960"/>
            <a:ext cx="1600200" cy="182880"/>
          </a:xfrm>
          <a:prstGeom prst="roundRect">
            <a:avLst>
              <a:gd name="adj" fmla="val 25000"/>
            </a:avLst>
          </a:prstGeom>
          <a:solidFill>
            <a:srgbClr val="D7DDE2"/>
          </a:solidFill>
          <a:ln/>
        </p:spPr>
      </p:sp>
      <p:sp>
        <p:nvSpPr>
          <p:cNvPr id="25" name="Shape 23"/>
          <p:cNvSpPr/>
          <p:nvPr/>
        </p:nvSpPr>
        <p:spPr>
          <a:xfrm>
            <a:off x="9555480" y="4251960"/>
            <a:ext cx="1360170" cy="182880"/>
          </a:xfrm>
          <a:prstGeom prst="roundRect">
            <a:avLst>
              <a:gd name="adj" fmla="val 25000"/>
            </a:avLst>
          </a:prstGeom>
          <a:solidFill>
            <a:srgbClr val="45566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6725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박진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863840" y="4736592"/>
            <a:ext cx="1508760" cy="182880"/>
          </a:xfrm>
          <a:prstGeom prst="roundRect">
            <a:avLst>
              <a:gd name="adj" fmla="val 25000"/>
            </a:avLst>
          </a:prstGeom>
          <a:solidFill>
            <a:srgbClr val="D7DDE2"/>
          </a:solidFill>
          <a:ln/>
        </p:spPr>
      </p:sp>
      <p:sp>
        <p:nvSpPr>
          <p:cNvPr id="28" name="Shape 26"/>
          <p:cNvSpPr/>
          <p:nvPr/>
        </p:nvSpPr>
        <p:spPr>
          <a:xfrm>
            <a:off x="7863840" y="4736592"/>
            <a:ext cx="1282446" cy="182880"/>
          </a:xfrm>
          <a:prstGeom prst="roundRect">
            <a:avLst>
              <a:gd name="adj" fmla="val 25000"/>
            </a:avLst>
          </a:prstGeom>
          <a:solidFill>
            <a:srgbClr val="0E7C6B"/>
          </a:solidFill>
          <a:ln/>
        </p:spPr>
      </p:sp>
      <p:sp>
        <p:nvSpPr>
          <p:cNvPr id="29" name="Shape 27"/>
          <p:cNvSpPr/>
          <p:nvPr/>
        </p:nvSpPr>
        <p:spPr>
          <a:xfrm>
            <a:off x="9555480" y="4736592"/>
            <a:ext cx="1600200" cy="182880"/>
          </a:xfrm>
          <a:prstGeom prst="roundRect">
            <a:avLst>
              <a:gd name="adj" fmla="val 25000"/>
            </a:avLst>
          </a:prstGeom>
          <a:solidFill>
            <a:srgbClr val="D7DDE2"/>
          </a:solidFill>
          <a:ln/>
        </p:spPr>
      </p:sp>
      <p:sp>
        <p:nvSpPr>
          <p:cNvPr id="30" name="Shape 28"/>
          <p:cNvSpPr/>
          <p:nvPr/>
        </p:nvSpPr>
        <p:spPr>
          <a:xfrm>
            <a:off x="9555480" y="4736592"/>
            <a:ext cx="560070" cy="182880"/>
          </a:xfrm>
          <a:prstGeom prst="roundRect">
            <a:avLst>
              <a:gd name="adj" fmla="val 25000"/>
            </a:avLst>
          </a:prstGeom>
          <a:solidFill>
            <a:srgbClr val="45566A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51572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김정현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863840" y="5221224"/>
            <a:ext cx="1508760" cy="182880"/>
          </a:xfrm>
          <a:prstGeom prst="roundRect">
            <a:avLst>
              <a:gd name="adj" fmla="val 25000"/>
            </a:avLst>
          </a:prstGeom>
          <a:solidFill>
            <a:srgbClr val="D7DDE2"/>
          </a:solidFill>
          <a:ln/>
        </p:spPr>
      </p:sp>
      <p:sp>
        <p:nvSpPr>
          <p:cNvPr id="33" name="Shape 31"/>
          <p:cNvSpPr/>
          <p:nvPr/>
        </p:nvSpPr>
        <p:spPr>
          <a:xfrm>
            <a:off x="7863840" y="5221224"/>
            <a:ext cx="452628" cy="182880"/>
          </a:xfrm>
          <a:prstGeom prst="roundRect">
            <a:avLst>
              <a:gd name="adj" fmla="val 25000"/>
            </a:avLst>
          </a:prstGeom>
          <a:solidFill>
            <a:srgbClr val="0E7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9555480" y="5221224"/>
            <a:ext cx="1600200" cy="182880"/>
          </a:xfrm>
          <a:prstGeom prst="roundRect">
            <a:avLst>
              <a:gd name="adj" fmla="val 25000"/>
            </a:avLst>
          </a:prstGeom>
          <a:solidFill>
            <a:srgbClr val="D7DDE2"/>
          </a:solidFill>
          <a:ln/>
        </p:spPr>
      </p:sp>
      <p:sp>
        <p:nvSpPr>
          <p:cNvPr id="35" name="Shape 33"/>
          <p:cNvSpPr/>
          <p:nvPr/>
        </p:nvSpPr>
        <p:spPr>
          <a:xfrm>
            <a:off x="9555480" y="5221224"/>
            <a:ext cx="1280160" cy="182880"/>
          </a:xfrm>
          <a:prstGeom prst="roundRect">
            <a:avLst>
              <a:gd name="adj" fmla="val 25000"/>
            </a:avLst>
          </a:prstGeom>
          <a:solidFill>
            <a:srgbClr val="45566A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870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한 줄짜리 설명 문서는 한 명을 지루하게 하고, 다른 한 명을 놓친다.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분기형 코드북 — 게임북 방식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사람이 이미 아는 만큼 건너뛸 수 있는 문서를, 파일마다 하나씩 만든다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8521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 질문 예시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“봇이 서버 안에서 도는지 밖에서 도는지 아시나요?”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 →  6번으로 바로 (구조부터)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아니오  →  2번부터 (짧은 설명을 거쳐 6번으로)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4864608"/>
            <a:ext cx="521208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01091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 질문은 ZETEO를 알아야 답할 수 있는 것으로만 낸다. “SDK 써보셨나요” 같은 일반 지식이 아니라.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228600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1B2129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54203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76656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아는 사람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35440" y="254203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23544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처음인 사람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0" y="2651760"/>
            <a:ext cx="0" cy="960120"/>
          </a:xfrm>
          <a:prstGeom prst="line">
            <a:avLst/>
          </a:prstGeom>
          <a:noFill/>
          <a:ln w="12700">
            <a:solidFill>
              <a:srgbClr val="4E58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767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도착까지 거치는 노드 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4224528"/>
            <a:ext cx="4663440" cy="0"/>
          </a:xfrm>
          <a:prstGeom prst="line">
            <a:avLst/>
          </a:prstGeom>
          <a:noFill/>
          <a:ln w="12700">
            <a:solidFill>
              <a:srgbClr val="4E58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3708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노드는 똑같다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4892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건너뛰는 것은 선행 개념 설명이지 코드가 아니다.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아는 사람도 그 파일의 핵심은 전부 보고 지나간다.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/codebook 스킬에 고정한 생성 규칙 5가지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코드북을 만들 때 스킬이 따라야 하는 기준. 사람이 매번 판단하지 않도록 파일에 박아 두었다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39312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551176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3312" y="25146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ZETEO 안에서만</a:t>
            </a:r>
            <a:endParaRPr lang="en-US" sz="15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성립하게 쓴다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8096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“SDK란 무엇인가”는 쓰지 않는다. “이 함수가 게임의 어느 순간에 불리는가”를 쓴다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2331720"/>
            <a:ext cx="3639312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5424" y="2551176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5146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연결까지 쓴다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35424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하나로 끝내지 않고, 전체 흐름과 어떻게 물리는지까지 쓴다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3296" y="2331720"/>
            <a:ext cx="3639312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2551176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87968" y="25146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노드를</a:t>
            </a:r>
            <a:endParaRPr lang="en-US" sz="15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반드시 넣는다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02752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마지막에 “이제 설명할 수 있는 것” 목록을 빠짐없이 넣는다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79976"/>
            <a:ext cx="3639312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4599432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53312" y="45628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깨졌을 때를</a:t>
            </a:r>
            <a:endParaRPr lang="en-US" sz="15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같이 쓴다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68096" y="524865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코드가 잘못되면 게임에서 벌어지는 일을 함께 적는다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15968" y="4379976"/>
            <a:ext cx="3639312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35424" y="4599432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0640" y="45628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코드는</a:t>
            </a:r>
            <a:endParaRPr lang="en-US" sz="15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건너뛰지 않는다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535424" y="524865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경로에서 생략할 수 있는 건 선행 개념뿐이다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83296" y="4379976"/>
            <a:ext cx="3639312" cy="1847088"/>
          </a:xfrm>
          <a:prstGeom prst="roundRect">
            <a:avLst>
              <a:gd name="adj" fmla="val 4950"/>
            </a:avLst>
          </a:prstGeom>
          <a:solidFill>
            <a:srgbClr val="1B2129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61772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~/.claude/skills/codebook/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5038344"/>
            <a:ext cx="31638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다섯 가지가 스킬 파일에 그대로 들어 있다. 요청이 올 때마다 사람이 기준을 다시 정하지 않는다.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방식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처리 흐름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한 줄에서 시작해, “이제 설명할 수 있습니다”라는 기록으로 끝난다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772869" cy="3017520"/>
          </a:xfrm>
          <a:prstGeom prst="roundRect">
            <a:avLst>
              <a:gd name="adj" fmla="val 515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467" y="2651760"/>
            <a:ext cx="493776" cy="493776"/>
          </a:xfrm>
          <a:prstGeom prst="ellipse">
            <a:avLst/>
          </a:prstGeom>
          <a:solidFill>
            <a:srgbClr val="E7F2F0"/>
          </a:solidFill>
          <a:ln/>
        </p:spPr>
      </p:sp>
      <p:sp>
        <p:nvSpPr>
          <p:cNvPr id="8" name="Text 6"/>
          <p:cNvSpPr/>
          <p:nvPr/>
        </p:nvSpPr>
        <p:spPr>
          <a:xfrm>
            <a:off x="1142467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6072" y="3310128"/>
            <a:ext cx="16265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남기기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57784" y="3931920"/>
            <a:ext cx="166314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읽고 싶은 파일 경로를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#code-book에 적는다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85517" y="2377440"/>
            <a:ext cx="1772869" cy="3017520"/>
          </a:xfrm>
          <a:prstGeom prst="roundRect">
            <a:avLst>
              <a:gd name="adj" fmla="val 515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25064" y="2651760"/>
            <a:ext cx="493776" cy="493776"/>
          </a:xfrm>
          <a:prstGeom prst="ellipse">
            <a:avLst/>
          </a:prstGeom>
          <a:solidFill>
            <a:srgbClr val="E7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3025064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58669" y="3310128"/>
            <a:ext cx="16265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배경지식 로드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440381" y="3931920"/>
            <a:ext cx="166314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설계원칙·파트분담·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사건 6건을 먼저 읽음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68114" y="2377440"/>
            <a:ext cx="1772869" cy="3017520"/>
          </a:xfrm>
          <a:prstGeom prst="roundRect">
            <a:avLst>
              <a:gd name="adj" fmla="val 515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7661" y="2651760"/>
            <a:ext cx="493776" cy="493776"/>
          </a:xfrm>
          <a:prstGeom prst="ellipse">
            <a:avLst/>
          </a:prstGeom>
          <a:solidFill>
            <a:srgbClr val="E7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4907661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41266" y="3310128"/>
            <a:ext cx="16265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코드북 생성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22978" y="3931920"/>
            <a:ext cx="166314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분기형 노드로 작성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(김정현 + /codebook)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50712" y="2377440"/>
            <a:ext cx="1772869" cy="3017520"/>
          </a:xfrm>
          <a:prstGeom prst="roundRect">
            <a:avLst>
              <a:gd name="adj" fmla="val 515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90258" y="2651760"/>
            <a:ext cx="493776" cy="493776"/>
          </a:xfrm>
          <a:prstGeom prst="ellipse">
            <a:avLst/>
          </a:prstGeom>
          <a:solidFill>
            <a:srgbClr val="E7F2F0"/>
          </a:solidFill>
          <a:ln/>
        </p:spPr>
      </p:sp>
      <p:sp>
        <p:nvSpPr>
          <p:cNvPr id="23" name="Text 21"/>
          <p:cNvSpPr/>
          <p:nvPr/>
        </p:nvSpPr>
        <p:spPr>
          <a:xfrm>
            <a:off x="6790258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23864" y="3310128"/>
            <a:ext cx="16265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&amp; 공유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205576" y="3931920"/>
            <a:ext cx="166314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TeamB 저장소에 커밋 후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공유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33309" y="2377440"/>
            <a:ext cx="1772869" cy="3017520"/>
          </a:xfrm>
          <a:prstGeom prst="roundRect">
            <a:avLst>
              <a:gd name="adj" fmla="val 515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72855" y="2651760"/>
            <a:ext cx="493776" cy="493776"/>
          </a:xfrm>
          <a:prstGeom prst="ellipse">
            <a:avLst/>
          </a:prstGeom>
          <a:solidFill>
            <a:srgbClr val="E7F2F0"/>
          </a:solidFill>
          <a:ln/>
        </p:spPr>
      </p:sp>
      <p:sp>
        <p:nvSpPr>
          <p:cNvPr id="28" name="Text 26"/>
          <p:cNvSpPr/>
          <p:nvPr/>
        </p:nvSpPr>
        <p:spPr>
          <a:xfrm>
            <a:off x="8672855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106461" y="3310128"/>
            <a:ext cx="16265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읽고 피드백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088173" y="3931920"/>
            <a:ext cx="166314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막힌 노드 번호를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#code-book에 남긴다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915906" y="2377440"/>
            <a:ext cx="1772869" cy="3017520"/>
          </a:xfrm>
          <a:prstGeom prst="roundRect">
            <a:avLst>
              <a:gd name="adj" fmla="val 5158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55453" y="265176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555453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89058" y="3310128"/>
            <a:ext cx="16265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이해의 증거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970770" y="3931920"/>
            <a:ext cx="166314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B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“이제 ___를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B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설명할 수 있습니다”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596128"/>
            <a:ext cx="11183112" cy="621792"/>
          </a:xfrm>
          <a:prstGeom prst="roundRect">
            <a:avLst>
              <a:gd name="adj" fmla="val 13235"/>
            </a:avLst>
          </a:prstGeom>
          <a:solidFill>
            <a:srgbClr val="F4F6F8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59612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5번 → 3번으로 되돌아가는 피드백 루프</a:t>
            </a:r>
            <a:pPr indent="0" marL="0">
              <a:buNone/>
            </a:pPr>
            <a:r>
              <a:rPr lang="en-US" sz="14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막힌 노드만 다시 쪼개서 개선한다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방식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예시 — #code-book 채널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요청부터 “설명할 수 있습니다”까지, 실제로 오간 대화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5156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505456"/>
            <a:ext cx="996696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6334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/>
        </p:spPr>
      </p:sp>
      <p:sp>
        <p:nvSpPr>
          <p:cNvPr id="9" name="Text 7"/>
          <p:cNvSpPr/>
          <p:nvPr/>
        </p:nvSpPr>
        <p:spPr>
          <a:xfrm>
            <a:off x="1298448" y="26334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86000" y="250545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파일트리.md — 읽고 싶은 파일 경로를 그대로 적어주세요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298448" y="324612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45566A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3246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이현우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21868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apps/backend/src/view.ts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98448" y="3730752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1B2129"/>
          </a:solidFill>
          <a:ln/>
        </p:spPr>
      </p:sp>
      <p:sp>
        <p:nvSpPr>
          <p:cNvPr id="15" name="Text 13"/>
          <p:cNvSpPr/>
          <p:nvPr/>
        </p:nvSpPr>
        <p:spPr>
          <a:xfrm>
            <a:off x="1298448" y="37307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김정현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3749040"/>
            <a:ext cx="841248" cy="283464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3749040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47872" y="3703320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코드북 작성 중...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98448" y="421538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1B2129"/>
          </a:solidFill>
          <a:ln/>
        </p:spPr>
      </p:sp>
      <p:sp>
        <p:nvSpPr>
          <p:cNvPr id="20" name="Text 18"/>
          <p:cNvSpPr/>
          <p:nvPr/>
        </p:nvSpPr>
        <p:spPr>
          <a:xfrm>
            <a:off x="1298448" y="42153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김정현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4233672"/>
            <a:ext cx="841248" cy="283464"/>
          </a:xfrm>
          <a:prstGeom prst="roundRect">
            <a:avLst>
              <a:gd name="adj" fmla="val 50000"/>
            </a:avLst>
          </a:prstGeom>
          <a:solidFill>
            <a:srgbClr val="E7F2F0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4233672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47872" y="418795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· 3주차/코드북/view.md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98448" y="4700016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45566A"/>
          </a:solidFill>
          <a:ln/>
        </p:spPr>
      </p:sp>
      <p:sp>
        <p:nvSpPr>
          <p:cNvPr id="25" name="Text 23"/>
          <p:cNvSpPr/>
          <p:nvPr/>
        </p:nvSpPr>
        <p:spPr>
          <a:xfrm>
            <a:off x="1298448" y="47000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이현우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46725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8번 이해 안 됨 (설계원칙 5번이 뭔지 모르겠어요)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98448" y="51846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1B2129"/>
          </a:solidFill>
          <a:ln/>
        </p:spPr>
      </p:sp>
      <p:sp>
        <p:nvSpPr>
          <p:cNvPr id="28" name="Text 26"/>
          <p:cNvSpPr/>
          <p:nvPr/>
        </p:nvSpPr>
        <p:spPr>
          <a:xfrm>
            <a:off x="1298448" y="51846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김정현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0" y="5202936"/>
            <a:ext cx="841248" cy="283464"/>
          </a:xfrm>
          <a:prstGeom prst="roundRect">
            <a:avLst>
              <a:gd name="adj" fmla="val 50000"/>
            </a:avLst>
          </a:prstGeom>
          <a:solidFill>
            <a:srgbClr val="E7F2F0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0" y="5202936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547872" y="5157216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8번 노드 다시 씀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298448" y="566928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45566A"/>
          </a:solidFill>
          <a:ln/>
        </p:spPr>
      </p:sp>
      <p:sp>
        <p:nvSpPr>
          <p:cNvPr id="33" name="Text 31"/>
          <p:cNvSpPr/>
          <p:nvPr/>
        </p:nvSpPr>
        <p:spPr>
          <a:xfrm>
            <a:off x="1298448" y="5669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이현우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564184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view.ts가 왜 유일한 상태 출구인지 설명할 수 있습니다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한 줄이 문서가 되기까지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/codebook 스킬이 도는 순서. 사람이 개입하는 건 경로를 적는 것과 결과를 읽는 것뿐이다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359152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45566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591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2402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apps/backend/src/view.ts</a:t>
            </a:r>
            <a:pPr indent="0" marL="0">
              <a:buNone/>
            </a:pPr>
            <a:r>
              <a:rPr lang="en-US" sz="14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#code-book 채널에 남긴 경로 한 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6537960" cy="786384"/>
          </a:xfrm>
          <a:prstGeom prst="roundRect">
            <a:avLst>
              <a:gd name="adj" fmla="val 1046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97180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0단계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55648" y="3054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배경지식 로드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55648" y="3346704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코드에는 적혀 있지 않은 프로젝트 맥락을 먼저 읽힌다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65379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84048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55648" y="3922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읽기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755648" y="4215384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요청받은 파일과, 그 파일을 부르는 곳까지 함께 읽는다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65379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70916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4791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 노드 작성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55648" y="5084064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골격 순서를 그대로 따라 노드를 만든다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60920" y="2971800"/>
            <a:ext cx="4251960" cy="2487168"/>
          </a:xfrm>
          <a:prstGeom prst="roundRect">
            <a:avLst>
              <a:gd name="adj" fmla="val 3309"/>
            </a:avLst>
          </a:prstGeom>
          <a:solidFill>
            <a:srgbClr val="1B2129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31181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골격 — 이 순서는 고정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3524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73568" y="3502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그림에서의 위치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35240" y="38176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73568" y="38176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언제 부르는가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635240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73568" y="4133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로직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635240" y="44485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973568" y="44485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깨지면 무슨 일이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635240" y="4764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73568" y="4764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바깥과의 계약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635240" y="50794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973568" y="50794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8640" y="5614416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0E7C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77240" y="573328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7332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91640" y="561441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3주차/코드북/view.md</a:t>
            </a:r>
            <a:pPr indent="0" marL="0">
              <a:buNone/>
            </a:pPr>
            <a:r>
              <a:rPr lang="en-US" sz="1400" b="1" dirty="0">
                <a:solidFill>
                  <a:srgbClr val="DB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TeamB 저장소에 커밋, 채널에 링크 공유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&amp; 저장 구조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항목마다 대응하는 실제 결과물이 GitHub에 남는다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76072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항목 ↔ 산출물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진행했는가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999232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코드북_기획.md · 파일트리.md · /codebook 스킬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51206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6849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내용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99232" y="39684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3주차/코드북/*.md (요청받은 파일별로 누적)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700016"/>
            <a:ext cx="51206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8280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공유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99232" y="48280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#code-book 채널 로그 — 요청→생성→이해→개선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37960" y="2286000"/>
            <a:ext cx="5074920" cy="3611880"/>
          </a:xfrm>
          <a:prstGeom prst="roundRect">
            <a:avLst>
              <a:gd name="adj" fmla="val 2532"/>
            </a:avLst>
          </a:prstGeom>
          <a:solidFill>
            <a:srgbClr val="1B212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5237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파일 구조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5800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TeamB/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3주차/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시스템/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코드북_기획.md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파일트리.md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와이어프레임.md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코드북/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view.md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...  (계속 누적)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 비교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방식을 고른 이유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방법과 비교했을 때 — 남은 기간과 팀 상황에 맞는 선택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팀원이 각자 문서화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233172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발표까지 6일. 팀원이 반나절씩 쓸 시간이 없다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64408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리뷰만 강화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3264408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앞으로 남은 PR이 적어 기록이 안 쌓인다. diff만으론 파일 전체를 못 본다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97096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아키텍처 문서 하나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4197096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수준 차이를 흡수 못한다. 길면 아무도 안 읽는다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12978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분기형 코드북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4840" y="5129784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DB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팀원은 경로 한 줄만 적으면 되고, 수요가 있는 파일만 만들어 낭비가 없다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0607040" y="5294376"/>
            <a:ext cx="74980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7040" y="5294376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산출물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만들어진 코드북 — view.md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이현우의 요청 한 줄로 생성돼 GitHub에 커밋된 문서. 노드 14개, 실제 코드와 주석까지 인용한다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172200" cy="3611880"/>
          </a:xfrm>
          <a:prstGeom prst="roundRect">
            <a:avLst>
              <a:gd name="adj" fmla="val 2532"/>
            </a:avLst>
          </a:prstGeom>
          <a:solidFill>
            <a:srgbClr val="1B212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871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3주차/코드북/view.md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94436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2B33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443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1번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719072" y="2916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파일이 뭘 하는지 아시나요?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719072" y="3227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→ 6번 바로  /  아니오 → 2번부터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602736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2B3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027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719072" y="35753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— 이 함수가 하는 일 순서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059936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2B3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599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19072" y="40325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 금지 필드 묶음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19072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revealedBotId: isPostGame ? ... : null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4718304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2B3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1830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19072" y="46908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깨지면 무슨 일이 벌어지는가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19072" y="5001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“개발자도구 한 번에 게임이 끝난다”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5376672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2B333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3766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14번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719072" y="53492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 — 이제 설명할 수 있습니다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949440" y="2286000"/>
            <a:ext cx="466344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42048" y="2487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노드에 적힌 것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242048" y="28529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“이제 이걸 설명할 수 있습니다”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42048" y="3273552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방의 진짜 상태를 사람마다 다른 화면으로 바꾸는 유일한 출구다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“게임이 끝났는가”가 거의 모든 분기의 기준이다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조건이 하나만 빠져도 개발자도구로 봇 정체가 새어 게임이 끝난다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242048" y="5074920"/>
            <a:ext cx="411480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5193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볼 만한 곳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242048" y="5468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room.ts · vote.ts · index.ts · shared-types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Zeteo · 코드북 리뷰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09960" y="6419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2026-08-14T05:51:20Z</dcterms:created>
  <dcterms:modified xsi:type="dcterms:W3CDTF">2026-08-14T05:51:20Z</dcterms:modified>
</cp:coreProperties>
</file>