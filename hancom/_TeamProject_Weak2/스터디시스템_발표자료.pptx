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presProps" Target="presProps.xml"  /><Relationship Id="rId18" Type="http://schemas.openxmlformats.org/officeDocument/2006/relationships/viewProps" Target="viewProps.xml"  /><Relationship Id="rId19" Type="http://schemas.openxmlformats.org/officeDocument/2006/relationships/theme" Target="theme/theme1.xml"  /><Relationship Id="rId2" Type="http://schemas.openxmlformats.org/officeDocument/2006/relationships/notesMaster" Target="notesMasters/notesMaster1.xml"  /><Relationship Id="rId20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2주차 미니 프로젝트 스터디 시스템 발표를 시작하겠습니다. TeamB에서 만든 개념학습 기록 시스템입니다.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발표는 여섯 순서로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TeamB는 네 명으로 구성되어 있습니다. 담당 파트는 발표 시 구두로 소개합니다.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2주차 평가 항목을 그대로 인용했습니다. 선언이 아니라 근거를 남기는 것이 목표입니다.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왼쪽이 지금까지의 방식, 오른쪽이 우리가 만든 시스템입니다.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입력은 주제와 이유 두 개뿐입니다. 활용처는 시스템이 코드에서 직접 찾습니다.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일곱 단계로 동작합니다. 2번부터 4번이 코드 조사 구간입니다.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읽는 저장소와 쓰는 저장소가 다릅니다. 이걸 스킬 문서 맨 위에 명시했습니다.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가지 대안을 검토하고 기각한 이유까지 문서에 남겼습니다.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자동으로 팀 저장소에 커밋·푸시하기 때문에 안전장치를 1주차와 동일한 원칙으로 적용했습니다.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실행 화면입니다. 명령 한 줄로 조사부터 푸시까지 이어집니다.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2주차 필수 내용입니다. 웹소켓을 사례로 왜·무엇을·어떻게를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시연 영상을 재생합니다. 발표 전 링크 또는 mp4를 이 자리에 삽입하세요.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이상으로 2주차 스터디 시스템 발표를 마치겠습니다.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2" Type="http://schemas.openxmlformats.org/officeDocument/2006/relationships/slideLayout" Target="../slideLayouts/slideLayout1.xml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2" Type="http://schemas.openxmlformats.org/officeDocument/2006/relationships/slideLayout" Target="../slideLayouts/slideLayout1.xml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2" Type="http://schemas.openxmlformats.org/officeDocument/2006/relationships/slideLayout" Target="../slideLayouts/slideLayout1.xml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2" Type="http://schemas.openxmlformats.org/officeDocument/2006/relationships/slideLayout" Target="../slideLayouts/slideLayout1.xml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2" Type="http://schemas.openxmlformats.org/officeDocument/2006/relationships/slideLayout" Target="../slideLayouts/slideLayout1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9.xml"  /><Relationship Id="rId2" Type="http://schemas.openxmlformats.org/officeDocument/2006/relationships/slideLayout" Target="../slideLayouts/slideLayout1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0.xml"  /><Relationship Id="rId2" Type="http://schemas.openxmlformats.org/officeDocument/2006/relationships/slideLayout" Target="../slideLayouts/slideLayout1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1.xml"  /><Relationship Id="rId2" Type="http://schemas.openxmlformats.org/officeDocument/2006/relationships/slideLayout" Target="../slideLayouts/slideLayout1.xml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Relationship Id="rId3" Type="http://schemas.openxmlformats.org/officeDocument/2006/relationships/video" Target="file:///C:\Users\Har07\Downloads\&#49884;&#50672;%20&#50689;&#49345;.mp4" TargetMode="External" /><Relationship Id="rId4" Type="http://schemas.microsoft.com/office/2007/relationships/media" Target="file:///C:\Users\Har07\Downloads\&#49884;&#50672;%20&#50689;&#49345;.mp4" TargetMode="External" /><Relationship Id="rId5" Type="http://schemas.openxmlformats.org/officeDocument/2006/relationships/image" Target="../media/image1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7680960" y="-1371600"/>
            <a:ext cx="6583680" cy="6583680"/>
          </a:xfrm>
          <a:prstGeom prst="roundRect">
            <a:avLst>
              <a:gd name="adj" fmla="val 6944"/>
            </a:avLst>
          </a:prstGeom>
          <a:solidFill>
            <a:srgbClr val="1B3A5C">
              <a:alpha val="4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900000">
            <a:off x="9326880" y="3108960"/>
            <a:ext cx="4206240" cy="4206240"/>
          </a:xfrm>
          <a:prstGeom prst="roundRect">
            <a:avLst>
              <a:gd name="adj" fmla="val 10870"/>
            </a:avLst>
          </a:prstGeom>
          <a:solidFill>
            <a:srgbClr val="12463F">
              <a:alpha val="3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81328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45C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 미니 프로젝트  ·  주 단위 시스템 개발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스터디 시스템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76148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3ED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개념학습 기록 시스템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40080" y="34564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배운 개념을 정리하고, 우리 프로젝트 코드에서 실제 활용처까지 찾아 기록하는 Claude Code Skill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4224528"/>
            <a:ext cx="2788920" cy="420624"/>
          </a:xfrm>
          <a:prstGeom prst="roundRect">
            <a:avLst>
              <a:gd name="adj" fmla="val 30435"/>
            </a:avLst>
          </a:prstGeom>
          <a:solidFill>
            <a:srgbClr val="18243C"/>
          </a:solidFill>
          <a:ln w="12700">
            <a:solidFill>
              <a:srgbClr val="45C2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224528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5C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/study-note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138928"/>
            <a:ext cx="658368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52852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500" b="1">
                <a:solidFill>
                  <a:srgbClr val="e9effa"/>
                </a:solidFill>
                <a:latin typeface="맑은 고딕"/>
                <a:ea typeface="맑은 고딕"/>
                <a:cs typeface="맑은 고딕"/>
              </a:rPr>
              <a:t>Zeteo</a:t>
            </a:r>
            <a:r>
              <a:rPr lang="en-US" sz="1500" b="1">
                <a:solidFill>
                  <a:srgbClr val="e9effa"/>
                </a:solidFill>
                <a:latin typeface="맑은 고딕"/>
                <a:ea typeface="맑은 고딕"/>
                <a:cs typeface="맑은 고딕"/>
              </a:rPr>
              <a:t>   박진 · 이현우 · 유민성 · 김정현</a:t>
            </a:r>
            <a:endParaRPr lang="en-US" sz="1500" b="1">
              <a:solidFill>
                <a:srgbClr val="e9eff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0080" y="56144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성남시 직업능력개발센터  |  AI 기반 프론트엔드 웹개발자 양성과정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45C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CONTENTS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순서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1143000"/>
          </a:xfrm>
          <a:prstGeom prst="roundRect">
            <a:avLst>
              <a:gd name="adj" fmla="val 7200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50976" y="198424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45C2F0"/>
          </a:solidFill>
          <a:ln w="12700">
            <a:solidFill>
              <a:srgbClr val="45C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9344" y="19385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소개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9344" y="226771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200">
                <a:solidFill>
                  <a:srgbClr val="93a5c4"/>
                </a:solidFill>
                <a:latin typeface="맑은 고딕"/>
                <a:ea typeface="맑은 고딕"/>
                <a:cs typeface="맑은 고딕"/>
              </a:rPr>
              <a:t>Zeteo</a:t>
            </a:r>
            <a:r>
              <a:rPr lang="en-US" sz="1200">
                <a:solidFill>
                  <a:srgbClr val="93a5c4"/>
                </a:solidFill>
                <a:latin typeface="맑은 고딕"/>
                <a:ea typeface="맑은 고딕"/>
                <a:cs typeface="맑은 고딕"/>
              </a:rPr>
              <a:t> 구성</a:t>
            </a:r>
            <a:endParaRPr lang="en-US" sz="1200">
              <a:solidFill>
                <a:srgbClr val="93a5c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263640" y="1691640"/>
            <a:ext cx="5257800" cy="1143000"/>
          </a:xfrm>
          <a:prstGeom prst="roundRect">
            <a:avLst>
              <a:gd name="adj" fmla="val 7200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74536" y="198424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3ED9A4"/>
          </a:solidFill>
          <a:ln w="12700">
            <a:solidFill>
              <a:srgbClr val="3ED9A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74536" y="1984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32904" y="193852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배경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232904" y="226771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이 시스템이 필요했나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108960"/>
            <a:ext cx="5257800" cy="1143000"/>
          </a:xfrm>
          <a:prstGeom prst="roundRect">
            <a:avLst>
              <a:gd name="adj" fmla="val 7200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50976" y="340156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45C2F0"/>
          </a:solidFill>
          <a:ln w="12700">
            <a:solidFill>
              <a:srgbClr val="45C2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401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9344" y="33558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설계도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09344" y="368503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 흐름 · 저장 구조 · 설계 결정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3108960"/>
            <a:ext cx="5257800" cy="1143000"/>
          </a:xfrm>
          <a:prstGeom prst="roundRect">
            <a:avLst>
              <a:gd name="adj" fmla="val 7200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74536" y="340156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3ED9A4"/>
          </a:solidFill>
          <a:ln w="12700">
            <a:solidFill>
              <a:srgbClr val="3ED9A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74536" y="340156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32904" y="33558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방안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32904" y="368503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사용 예시와 결과물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526280"/>
            <a:ext cx="5257800" cy="1143000"/>
          </a:xfrm>
          <a:prstGeom prst="roundRect">
            <a:avLst>
              <a:gd name="adj" fmla="val 7200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0976" y="481888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45C2F0"/>
          </a:solidFill>
          <a:ln w="12700">
            <a:solidFill>
              <a:srgbClr val="45C2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0976" y="4818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609344" y="47731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700" b="1">
                <a:solidFill>
                  <a:srgbClr val="e9effa"/>
                </a:solidFill>
                <a:latin typeface="맑은 고딕"/>
                <a:ea typeface="맑은 고딕"/>
                <a:cs typeface="맑은 고딕"/>
              </a:rPr>
              <a:t>학습 사례</a:t>
            </a:r>
            <a:endParaRPr lang="en-US" sz="1700" b="1">
              <a:solidFill>
                <a:srgbClr val="e9eff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609344" y="510235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1200">
                <a:solidFill>
                  <a:srgbClr val="93a5c4"/>
                </a:solidFill>
                <a:latin typeface="맑은 고딕"/>
                <a:ea typeface="맑은 고딕"/>
                <a:cs typeface="맑은 고딕"/>
              </a:rPr>
              <a:t>왜 </a:t>
            </a:r>
            <a:r>
              <a:rPr lang="en-US" sz="1200" b="1">
                <a:solidFill>
                  <a:srgbClr val="e9effa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00" b="1">
                <a:solidFill>
                  <a:srgbClr val="e9eff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>
                <a:solidFill>
                  <a:srgbClr val="93a5c4"/>
                </a:solidFill>
                <a:latin typeface="맑은 고딕"/>
                <a:ea typeface="맑은 고딕"/>
                <a:cs typeface="맑은 고딕"/>
              </a:rPr>
              <a:t>무엇을 </a:t>
            </a:r>
            <a:r>
              <a:rPr lang="en-US" sz="1200" b="1">
                <a:solidFill>
                  <a:srgbClr val="e9effa"/>
                </a:solidFill>
                <a:latin typeface="맑은 고딕"/>
                <a:ea typeface="맑은 고딕"/>
                <a:cs typeface="맑은 고딕"/>
              </a:rPr>
              <a:t>·</a:t>
            </a:r>
            <a:r>
              <a:rPr lang="ko-KR" altLang="en-US" sz="1200" b="1">
                <a:solidFill>
                  <a:srgbClr val="e9eff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ko-KR" altLang="en-US" sz="1200">
                <a:solidFill>
                  <a:srgbClr val="93a5c4"/>
                </a:solidFill>
                <a:latin typeface="맑은 고딕"/>
                <a:ea typeface="맑은 고딕"/>
                <a:cs typeface="맑은 고딕"/>
              </a:rPr>
              <a:t>어떻게</a:t>
            </a:r>
            <a:endParaRPr lang="ko-KR" altLang="en-US" sz="1200">
              <a:solidFill>
                <a:srgbClr val="93a5c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63640" y="4526280"/>
            <a:ext cx="5257800" cy="1143000"/>
          </a:xfrm>
          <a:prstGeom prst="roundRect">
            <a:avLst>
              <a:gd name="adj" fmla="val 7200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74536" y="481888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3ED9A4"/>
          </a:solidFill>
          <a:ln w="12700">
            <a:solidFill>
              <a:srgbClr val="3ED9A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74536" y="48188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32904" y="47731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영상 &amp; 결론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7232904" y="5102352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알게 된 점과 남기고 싶은 이야기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스터디 시스템 · </a:t>
            </a:r>
            <a:r>
              <a:rPr lang="en-US" altLang="ko-KR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Zeteo</a:t>
            </a:r>
            <a:endParaRPr lang="en-US" altLang="ko-KR" sz="1000">
              <a:solidFill>
                <a:srgbClr val="5d6e8e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10451592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bg>
      <p:bgPr shadeToTitle="0"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45C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TEAM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소개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350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00">
                <a:solidFill>
                  <a:srgbClr val="93a5c4"/>
                </a:solidFill>
                <a:latin typeface="맑은 고딕"/>
                <a:ea typeface="맑은 고딕"/>
                <a:cs typeface="맑은 고딕"/>
              </a:rPr>
              <a:t>Zeteo</a:t>
            </a:r>
            <a:r>
              <a:rPr lang="en-US" sz="1300">
                <a:solidFill>
                  <a:srgbClr val="93a5c4"/>
                </a:solidFill>
                <a:latin typeface="맑은 고딕"/>
                <a:ea typeface="맑은 고딕"/>
                <a:cs typeface="맑은 고딕"/>
              </a:rPr>
              <a:t> — 2주차 스터디 시스템</a:t>
            </a:r>
            <a:endParaRPr lang="en-US" sz="1300">
              <a:solidFill>
                <a:srgbClr val="93a5c4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2514600" cy="3200400"/>
          </a:xfrm>
          <a:prstGeom prst="roundRect">
            <a:avLst>
              <a:gd name="adj" fmla="val 3273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99032" y="2546223"/>
            <a:ext cx="1005840" cy="1005840"/>
          </a:xfrm>
          <a:prstGeom prst="ellipse">
            <a:avLst/>
          </a:prstGeom>
          <a:solidFill>
            <a:srgbClr val="111b30"/>
          </a:solidFill>
          <a:ln w="19050">
            <a:solidFill>
              <a:srgbClr val="45c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99032" y="2546223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000" b="1">
                <a:solidFill>
                  <a:srgbClr val="45c2f0"/>
                </a:solidFill>
                <a:latin typeface="맑은 고딕"/>
                <a:ea typeface="맑은 고딕"/>
                <a:cs typeface="맑은 고딕"/>
              </a:rPr>
              <a:t>P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822960" y="3734943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100" b="1">
                <a:solidFill>
                  <a:srgbClr val="e9effa"/>
                </a:solidFill>
                <a:latin typeface="맑은 고딕"/>
                <a:ea typeface="맑은 고딕"/>
                <a:cs typeface="맑은 고딕"/>
              </a:rPr>
              <a:t>박진</a:t>
            </a:r>
            <a:endParaRPr lang="en-US" sz="2100"/>
          </a:p>
        </p:txBody>
      </p:sp>
      <p:sp>
        <p:nvSpPr>
          <p:cNvPr id="9" name="Text 7"/>
          <p:cNvSpPr/>
          <p:nvPr/>
        </p:nvSpPr>
        <p:spPr>
          <a:xfrm>
            <a:off x="822960" y="4118991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45c2f0"/>
                </a:solidFill>
                <a:latin typeface="맑은 고딕"/>
                <a:ea typeface="맑은 고딕"/>
                <a:cs typeface="맑은 고딕"/>
              </a:rPr>
              <a:t>팀장</a:t>
            </a:r>
            <a:endParaRPr lang="en-US" sz="1200"/>
          </a:p>
        </p:txBody>
      </p:sp>
      <p:sp>
        <p:nvSpPr>
          <p:cNvPr id="12" name="Shape 10"/>
          <p:cNvSpPr/>
          <p:nvPr/>
        </p:nvSpPr>
        <p:spPr>
          <a:xfrm>
            <a:off x="3447288" y="1874520"/>
            <a:ext cx="2514600" cy="3200400"/>
          </a:xfrm>
          <a:prstGeom prst="roundRect">
            <a:avLst>
              <a:gd name="adj" fmla="val 3273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2546223"/>
            <a:ext cx="1005840" cy="1005840"/>
          </a:xfrm>
          <a:prstGeom prst="ellipse">
            <a:avLst/>
          </a:prstGeom>
          <a:solidFill>
            <a:srgbClr val="111b30"/>
          </a:solidFill>
          <a:ln w="19050">
            <a:solidFill>
              <a:srgbClr val="3ed9a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2546223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000" b="1">
                <a:solidFill>
                  <a:srgbClr val="3ed9a4"/>
                </a:solidFill>
                <a:latin typeface="맑은 고딕"/>
                <a:ea typeface="맑은 고딕"/>
                <a:cs typeface="맑은 고딕"/>
              </a:rPr>
              <a:t>L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3630168" y="3734943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100" b="1">
                <a:solidFill>
                  <a:srgbClr val="e9effa"/>
                </a:solidFill>
                <a:latin typeface="맑은 고딕"/>
                <a:ea typeface="맑은 고딕"/>
                <a:cs typeface="맑은 고딕"/>
              </a:rPr>
              <a:t>이현우</a:t>
            </a:r>
            <a:endParaRPr lang="en-US" sz="2100"/>
          </a:p>
        </p:txBody>
      </p:sp>
      <p:sp>
        <p:nvSpPr>
          <p:cNvPr id="16" name="Text 14"/>
          <p:cNvSpPr/>
          <p:nvPr/>
        </p:nvSpPr>
        <p:spPr>
          <a:xfrm>
            <a:off x="3630168" y="4118991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3ed9a4"/>
                </a:solidFill>
                <a:latin typeface="맑은 고딕"/>
                <a:ea typeface="맑은 고딕"/>
                <a:cs typeface="맑은 고딕"/>
              </a:rPr>
              <a:t>팀원</a:t>
            </a:r>
            <a:endParaRPr lang="en-US" sz="1200"/>
          </a:p>
        </p:txBody>
      </p:sp>
      <p:sp>
        <p:nvSpPr>
          <p:cNvPr id="19" name="Shape 17"/>
          <p:cNvSpPr/>
          <p:nvPr/>
        </p:nvSpPr>
        <p:spPr>
          <a:xfrm>
            <a:off x="6254496" y="1874520"/>
            <a:ext cx="2514600" cy="3200400"/>
          </a:xfrm>
          <a:prstGeom prst="roundRect">
            <a:avLst>
              <a:gd name="adj" fmla="val 3273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13448" y="2546223"/>
            <a:ext cx="1005840" cy="1005840"/>
          </a:xfrm>
          <a:prstGeom prst="ellipse">
            <a:avLst/>
          </a:prstGeom>
          <a:solidFill>
            <a:srgbClr val="111b30"/>
          </a:solidFill>
          <a:ln w="19050">
            <a:solidFill>
              <a:srgbClr val="f2b8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13448" y="2546223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000" b="1">
                <a:solidFill>
                  <a:srgbClr val="f2b84b"/>
                </a:solidFill>
                <a:latin typeface="맑은 고딕"/>
                <a:ea typeface="맑은 고딕"/>
                <a:cs typeface="맑은 고딕"/>
              </a:rPr>
              <a:t>Y</a:t>
            </a:r>
            <a:endParaRPr lang="en-US" sz="2000"/>
          </a:p>
        </p:txBody>
      </p:sp>
      <p:sp>
        <p:nvSpPr>
          <p:cNvPr id="22" name="Text 20"/>
          <p:cNvSpPr/>
          <p:nvPr/>
        </p:nvSpPr>
        <p:spPr>
          <a:xfrm>
            <a:off x="6437376" y="3734943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100" b="1">
                <a:solidFill>
                  <a:srgbClr val="e9effa"/>
                </a:solidFill>
                <a:latin typeface="맑은 고딕"/>
                <a:ea typeface="맑은 고딕"/>
                <a:cs typeface="맑은 고딕"/>
              </a:rPr>
              <a:t>유민성</a:t>
            </a:r>
            <a:endParaRPr lang="en-US" sz="2100"/>
          </a:p>
        </p:txBody>
      </p:sp>
      <p:sp>
        <p:nvSpPr>
          <p:cNvPr id="23" name="Text 21"/>
          <p:cNvSpPr/>
          <p:nvPr/>
        </p:nvSpPr>
        <p:spPr>
          <a:xfrm>
            <a:off x="6437376" y="4118991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f2b84b"/>
                </a:solidFill>
                <a:latin typeface="맑은 고딕"/>
                <a:ea typeface="맑은 고딕"/>
                <a:cs typeface="맑은 고딕"/>
              </a:rPr>
              <a:t>팀원</a:t>
            </a:r>
            <a:endParaRPr lang="en-US" sz="1200"/>
          </a:p>
        </p:txBody>
      </p:sp>
      <p:sp>
        <p:nvSpPr>
          <p:cNvPr id="26" name="Shape 24"/>
          <p:cNvSpPr/>
          <p:nvPr/>
        </p:nvSpPr>
        <p:spPr>
          <a:xfrm>
            <a:off x="9061704" y="1874520"/>
            <a:ext cx="2514600" cy="3200400"/>
          </a:xfrm>
          <a:prstGeom prst="roundRect">
            <a:avLst>
              <a:gd name="adj" fmla="val 3273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820656" y="2555748"/>
            <a:ext cx="1005840" cy="1005840"/>
          </a:xfrm>
          <a:prstGeom prst="ellipse">
            <a:avLst/>
          </a:prstGeom>
          <a:solidFill>
            <a:srgbClr val="111b30"/>
          </a:solidFill>
          <a:ln w="19050">
            <a:solidFill>
              <a:srgbClr val="45c2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20656" y="2555748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000" b="1">
                <a:solidFill>
                  <a:srgbClr val="45c2f0"/>
                </a:solidFill>
                <a:latin typeface="맑은 고딕"/>
                <a:ea typeface="맑은 고딕"/>
                <a:cs typeface="맑은 고딕"/>
              </a:rPr>
              <a:t>K</a:t>
            </a:r>
            <a:endParaRPr lang="en-US" sz="2000"/>
          </a:p>
        </p:txBody>
      </p:sp>
      <p:sp>
        <p:nvSpPr>
          <p:cNvPr id="29" name="Text 27"/>
          <p:cNvSpPr/>
          <p:nvPr/>
        </p:nvSpPr>
        <p:spPr>
          <a:xfrm>
            <a:off x="9244584" y="37444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2100" b="1">
                <a:solidFill>
                  <a:srgbClr val="e9effa"/>
                </a:solidFill>
                <a:latin typeface="맑은 고딕"/>
                <a:ea typeface="맑은 고딕"/>
                <a:cs typeface="맑은 고딕"/>
              </a:rPr>
              <a:t>김정현</a:t>
            </a:r>
            <a:endParaRPr lang="en-US" sz="2100"/>
          </a:p>
        </p:txBody>
      </p:sp>
      <p:sp>
        <p:nvSpPr>
          <p:cNvPr id="30" name="Text 28"/>
          <p:cNvSpPr/>
          <p:nvPr/>
        </p:nvSpPr>
        <p:spPr>
          <a:xfrm>
            <a:off x="9244584" y="41285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ctr">
              <a:buNone/>
              <a:defRPr/>
            </a:pPr>
            <a:r>
              <a:rPr lang="en-US" sz="1200">
                <a:solidFill>
                  <a:srgbClr val="45c2f0"/>
                </a:solidFill>
                <a:latin typeface="맑은 고딕"/>
                <a:ea typeface="맑은 고딕"/>
                <a:cs typeface="맑은 고딕"/>
              </a:rPr>
              <a:t>팀원</a:t>
            </a:r>
            <a:endParaRPr lang="en-US" sz="1200"/>
          </a:p>
        </p:txBody>
      </p:sp>
      <p:sp>
        <p:nvSpPr>
          <p:cNvPr id="33" name="Shape 31"/>
          <p:cNvSpPr/>
          <p:nvPr/>
        </p:nvSpPr>
        <p:spPr>
          <a:xfrm>
            <a:off x="640080" y="5321808"/>
            <a:ext cx="10908792" cy="749808"/>
          </a:xfrm>
          <a:prstGeom prst="roundRect">
            <a:avLst>
              <a:gd name="adj" fmla="val 10976"/>
            </a:avLst>
          </a:prstGeom>
          <a:solidFill>
            <a:srgbClr val="111B3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321808"/>
            <a:ext cx="10360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이번 주 작업 방식 </a:t>
            </a:r>
            <a:pPr indent="0" marL="0">
              <a:buNone/>
            </a:pPr>
            <a:r>
              <a:rPr lang="en-US" sz="13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회의에서 시스템 골격·저장 방식·명령 형태를 함께 정하고, 스킬 문서 1종으로 합의 내용을 그대로 구현했습니다.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스터디 시스템 · </a:t>
            </a:r>
            <a:r>
              <a:rPr lang="en-US" altLang="ko-KR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Zeteo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10451592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bg>
      <p:bgPr shadeToTitle="0"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45C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BACKGROUND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기획 배경 — 과제가 요구한 것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1207008"/>
          </a:xfrm>
          <a:prstGeom prst="roundRect">
            <a:avLst>
              <a:gd name="adj" fmla="val 6818"/>
            </a:avLst>
          </a:prstGeom>
          <a:solidFill>
            <a:srgbClr val="111B30"/>
          </a:solidFill>
          <a:ln w="12700">
            <a:solidFill>
              <a:srgbClr val="45C2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1627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45C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 과제 기준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950976" y="1920240"/>
            <a:ext cx="10268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“다른 기술에 대해서 배우고자 하는 의지가 있는가?”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50976" y="2340864"/>
            <a:ext cx="10268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D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필수 내용 — 무엇을 왜 배우는지에 대한 정의 (왜 배우고, 무엇을 배워서, 어떻게 활용했는지)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3474720" cy="1481328"/>
          </a:xfrm>
          <a:prstGeom prst="roundRect">
            <a:avLst>
              <a:gd name="adj" fmla="val 5556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3163824"/>
            <a:ext cx="786384" cy="329184"/>
          </a:xfrm>
          <a:prstGeom prst="roundRect">
            <a:avLst>
              <a:gd name="adj" fmla="val 33333"/>
            </a:avLst>
          </a:prstGeom>
          <a:solidFill>
            <a:srgbClr val="45C2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6382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6027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배웠는가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93192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학습의 계기가 기록에 남아야 한다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25696" y="2926080"/>
            <a:ext cx="3474720" cy="1481328"/>
          </a:xfrm>
          <a:prstGeom prst="roundRect">
            <a:avLst>
              <a:gd name="adj" fmla="val 5556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0016" y="3163824"/>
            <a:ext cx="786384" cy="329184"/>
          </a:xfrm>
          <a:prstGeom prst="roundRect">
            <a:avLst>
              <a:gd name="adj" fmla="val 33333"/>
            </a:avLst>
          </a:prstGeom>
          <a:solidFill>
            <a:srgbClr val="45C2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316382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00016" y="36027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배웠는가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700016" y="393192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 설명 + 이해도 확인까지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11312" y="2926080"/>
            <a:ext cx="3474720" cy="1481328"/>
          </a:xfrm>
          <a:prstGeom prst="roundRect">
            <a:avLst>
              <a:gd name="adj" fmla="val 5556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85632" y="3163824"/>
            <a:ext cx="786384" cy="329184"/>
          </a:xfrm>
          <a:prstGeom prst="roundRect">
            <a:avLst>
              <a:gd name="adj" fmla="val 33333"/>
            </a:avLst>
          </a:prstGeom>
          <a:solidFill>
            <a:srgbClr val="3E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5632" y="3163824"/>
            <a:ext cx="786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85632" y="3602736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활용했는가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85632" y="3931920"/>
            <a:ext cx="2962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코드에 근거가 있어야 한다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663440"/>
            <a:ext cx="10908792" cy="1371600"/>
          </a:xfrm>
          <a:prstGeom prst="roundRect">
            <a:avLst>
              <a:gd name="adj" fmla="val 6000"/>
            </a:avLst>
          </a:prstGeom>
          <a:solidFill>
            <a:srgbClr val="1E2C48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48097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2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우리의 판단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950976" y="5102352"/>
            <a:ext cx="10268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“이거 배웠다”는 선언만으로는 증빙이 되지 않는다. </a:t>
            </a:r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요소가 근거와 함께 파일로 남아야 하고, 그걸 매주 사람이 수작업으로 정리하지 않으려면 도구가 필요하다 — 그래서 스킬로 만들었습니다.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스터디 시스템 · </a:t>
            </a:r>
            <a:r>
              <a:rPr lang="en-US" altLang="ko-KR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Zeteo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10451592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bg>
      <p:bgPr shadeToTitle="0"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45C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  BACKGROUND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문제였나 — 수작업 정리의 한계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257800" cy="4526280"/>
          </a:xfrm>
          <a:prstGeom prst="roundRect">
            <a:avLst>
              <a:gd name="adj" fmla="val 1818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737360"/>
            <a:ext cx="841248" cy="310896"/>
          </a:xfrm>
          <a:prstGeom prst="roundRect">
            <a:avLst>
              <a:gd name="adj" fmla="val 35294"/>
            </a:avLst>
          </a:prstGeom>
          <a:solidFill>
            <a:srgbClr val="F174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73736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AS-IS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83664" y="17373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기존 방식 (수작업 정리)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32688" y="2404872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F174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3317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줄 선언으로 끝남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188720" y="266090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“웹소켓 배웠어요” — 무엇을 어디까지 아는지 확인 불가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32688" y="3639312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F174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356616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활용처의 근거가 본인 진술뿐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188720" y="389534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실제로 썼는지 검증할 방법이 없어 증빙력이 약함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32688" y="4873752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F174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480060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매번 형식이 제각각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188720" y="512978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사람마다 정리 형태가 달라 팀에서 다시 읽기 어려움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1481328"/>
            <a:ext cx="5257800" cy="4526280"/>
          </a:xfrm>
          <a:prstGeom prst="roundRect">
            <a:avLst>
              <a:gd name="adj" fmla="val 1818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6248" y="1737360"/>
            <a:ext cx="841248" cy="310896"/>
          </a:xfrm>
          <a:prstGeom prst="roundRect">
            <a:avLst>
              <a:gd name="adj" fmla="val 35294"/>
            </a:avLst>
          </a:prstGeom>
          <a:solidFill>
            <a:srgbClr val="3E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56248" y="1737360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TO-BE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507224" y="173736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개념학습 기록 시스템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556248" y="2404872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3E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33172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한 줄이면 문서가 나옴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812280" y="266090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기본설명 + 활용처 + 퀴즈를 항상 같은 형식으로 생성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56248" y="3639312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3E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356616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활용처를 코드에서 직접 조사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812280" y="389534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스킬이 저장소를 검색해 파일 경로를 근거로 인용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556248" y="4873752"/>
            <a:ext cx="109728" cy="109728"/>
          </a:xfrm>
          <a:prstGeom prst="roundRect">
            <a:avLst>
              <a:gd name="adj" fmla="val 41667"/>
            </a:avLst>
          </a:prstGeom>
          <a:solidFill>
            <a:srgbClr val="3E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4800600"/>
            <a:ext cx="4434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 저장소에 그대로 누적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812280" y="5129784"/>
            <a:ext cx="4434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2주차/배운개념/ 폴더에 주제별로 계속 쌓임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스터디 시스템 · </a:t>
            </a:r>
            <a:r>
              <a:rPr lang="en-US" altLang="ko-KR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Zeteo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10451592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bg>
      <p:bgPr shadeToTitle="0"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45C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CONCEPT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컨셉 — 입력 2개, 활용처는 시스템이 찾는다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3401568" cy="2834640"/>
          </a:xfrm>
          <a:prstGeom prst="roundRect">
            <a:avLst>
              <a:gd name="adj" fmla="val 2903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73936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45C2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739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INPUT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2128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사람이 주는 것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914400" y="2578608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주제 — 배우려는 기술 개념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이유 — 왜 배우려 하는가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14400" y="3712464"/>
            <a:ext cx="2871216" cy="384048"/>
          </a:xfrm>
          <a:prstGeom prst="roundRect">
            <a:avLst>
              <a:gd name="adj" fmla="val 23810"/>
            </a:avLst>
          </a:prstGeom>
          <a:solidFill>
            <a:srgbClr val="111B3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3712464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5C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/study-note 웹소켓 "이유"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78224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3B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53712" y="1517904"/>
            <a:ext cx="3401568" cy="2834640"/>
          </a:xfrm>
          <a:prstGeom prst="roundRect">
            <a:avLst>
              <a:gd name="adj" fmla="val 2903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1773936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F2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17739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828032" y="22128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시스템이 하는 것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828032" y="2578608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Zeteo 저장소 전 브랜치 검색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매칭 파일 실제 내용 확인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설계 문서(README)까지 확인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28032" y="3712464"/>
            <a:ext cx="2871216" cy="384048"/>
          </a:xfrm>
          <a:prstGeom prst="roundRect">
            <a:avLst>
              <a:gd name="adj" fmla="val 23810"/>
            </a:avLst>
          </a:prstGeom>
          <a:solidFill>
            <a:srgbClr val="111B3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82896" y="3712464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2B8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 → git grep → git show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991856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A3B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467344" y="1517904"/>
            <a:ext cx="3401568" cy="2834640"/>
          </a:xfrm>
          <a:prstGeom prst="roundRect">
            <a:avLst>
              <a:gd name="adj" fmla="val 2903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41664" y="1773936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3E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41664" y="17739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OUTPUT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741664" y="22128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것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741664" y="2578608"/>
            <a:ext cx="28895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기본설명 + 활용처(경로 인용)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이해도 확인 퀴즈 3~4문항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 GitHub 커밋·푸시까지 자동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41664" y="3712464"/>
            <a:ext cx="2871216" cy="384048"/>
          </a:xfrm>
          <a:prstGeom prst="roundRect">
            <a:avLst>
              <a:gd name="adj" fmla="val 23810"/>
            </a:avLst>
          </a:prstGeom>
          <a:solidFill>
            <a:srgbClr val="111B3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96528" y="3712464"/>
            <a:ext cx="2761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ED9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2주차/배운개념/&lt;주제&gt;.md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40080" y="4590288"/>
            <a:ext cx="10908792" cy="1444752"/>
          </a:xfrm>
          <a:prstGeom prst="roundRect">
            <a:avLst>
              <a:gd name="adj" fmla="val 5696"/>
            </a:avLst>
          </a:prstGeom>
          <a:solidFill>
            <a:srgbClr val="1E2C48"/>
          </a:solidFill>
          <a:ln w="12700">
            <a:solidFill>
              <a:srgbClr val="3ED9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0976" y="47548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D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“활용처”는 인자로 받지 않는가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50976" y="5102352"/>
            <a:ext cx="10268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활용처까지 직접 적으면 “실제로 활용했다”는 근거가 본인 진술뿐이라 증빙력이 약합니다. 그래서 활용처만은 스킬이 팀 실제 프로젝트(Zeteo) 코드베이스를 직접 검색해 찾아내도록 설계했고, 코드에서 못 찾으면 지어내지 않고 “찾지 못함”으로 정직하게 기록합니다.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스터디 시스템 · </a:t>
            </a:r>
            <a:r>
              <a:rPr lang="en-US" altLang="ko-KR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Zeteo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10451592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">
    <p:bg>
      <p:bgPr shadeToTitle="0"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45C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설계도 ① — 전체 처리 흐름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2651760" cy="1170432"/>
          </a:xfrm>
          <a:prstGeom prst="roundRect">
            <a:avLst>
              <a:gd name="adj" fmla="val 7031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79222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45C2F0"/>
          </a:solidFill>
          <a:ln w="12700">
            <a:solidFill>
              <a:srgbClr val="45C2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35024" y="177393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입력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77824" y="223113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/study-note &lt;주제&gt; "&lt;이유&gt;"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91840" y="1938528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3B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502152" y="1572768"/>
            <a:ext cx="2651760" cy="1170432"/>
          </a:xfrm>
          <a:prstGeom prst="roundRect">
            <a:avLst>
              <a:gd name="adj" fmla="val 7031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39896" y="179222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45C2F0"/>
          </a:solidFill>
          <a:ln w="12700">
            <a:solidFill>
              <a:srgbClr val="45C2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39896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97096" y="177393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원격 참조 최신화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39896" y="223113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fetch origin — 작업 트리는 그대로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53912" y="1938528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3B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364224" y="1572768"/>
            <a:ext cx="2651760" cy="1170432"/>
          </a:xfrm>
          <a:prstGeom prst="roundRect">
            <a:avLst>
              <a:gd name="adj" fmla="val 7031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01968" y="179222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1968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59168" y="177393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브랜치 검색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01968" y="223113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grep 으로 모든 origin/* 동시 검색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015984" y="1938528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3B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226296" y="1572768"/>
            <a:ext cx="2651760" cy="1170432"/>
          </a:xfrm>
          <a:prstGeom prst="roundRect">
            <a:avLst>
              <a:gd name="adj" fmla="val 7031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64040" y="1792224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2B84B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64040" y="17922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921240" y="1773936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 내용 확인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464040" y="223113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show &lt;브랜치&gt;:&lt;경로&gt; — 체크아웃 없이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3200400"/>
            <a:ext cx="2651760" cy="1170432"/>
          </a:xfrm>
          <a:prstGeom prst="roundRect">
            <a:avLst>
              <a:gd name="adj" fmla="val 7031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77824" y="3419856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3ED9A4"/>
          </a:solidFill>
          <a:ln w="12700">
            <a:solidFill>
              <a:srgbClr val="3ED9A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335024" y="340156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작성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77824" y="38587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기본설명 + 활용처 + 퀴즈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91840" y="356616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3B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3502152" y="3200400"/>
            <a:ext cx="2651760" cy="1170432"/>
          </a:xfrm>
          <a:prstGeom prst="roundRect">
            <a:avLst>
              <a:gd name="adj" fmla="val 7031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39896" y="3419856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3ED9A4"/>
          </a:solidFill>
          <a:ln w="12700">
            <a:solidFill>
              <a:srgbClr val="3ED9A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39896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197096" y="340156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안전장치 후 반영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739896" y="38587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상태 확인 → pull → add → commit → push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53912" y="3566160"/>
            <a:ext cx="210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A3B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›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6364224" y="3200400"/>
            <a:ext cx="2651760" cy="1170432"/>
          </a:xfrm>
          <a:prstGeom prst="roundRect">
            <a:avLst>
              <a:gd name="adj" fmla="val 7031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601968" y="3419856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3ED9A4"/>
          </a:solidFill>
          <a:ln w="12700">
            <a:solidFill>
              <a:srgbClr val="3ED9A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01968" y="3419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059168" y="3401568"/>
            <a:ext cx="1783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 보고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601968" y="385876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 · 파일명 · GitHub 링크 전달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226296" y="2761488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3B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↓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9226296" y="3200400"/>
            <a:ext cx="2651760" cy="1170432"/>
          </a:xfrm>
          <a:prstGeom prst="roundRect">
            <a:avLst>
              <a:gd name="adj" fmla="val 7031"/>
            </a:avLst>
          </a:prstGeom>
          <a:solidFill>
            <a:srgbClr val="111B3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464040" y="340156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ED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결과물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9464040" y="3749040"/>
            <a:ext cx="2194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2주차/배운개념/</a:t>
            </a:r>
            <a:endParaRPr lang="en-US" sz="10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93A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&lt;주제&gt;.md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640080" y="4718304"/>
            <a:ext cx="10908792" cy="1316736"/>
          </a:xfrm>
          <a:prstGeom prst="roundRect">
            <a:avLst>
              <a:gd name="adj" fmla="val 6250"/>
            </a:avLst>
          </a:prstGeom>
          <a:solidFill>
            <a:srgbClr val="1E2C48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50976" y="4864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F2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흐름의 핵심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950976" y="5157216"/>
            <a:ext cx="102687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2~4단계가 이 시스템의 차별점입니다. 로컬 폴더를 그냥 읽는 대신 원격 참조만 최신화한 뒤 모든 브랜치를 한 번에 검색하기 때문에, 내가 체크아웃해 본 적 없는 팀원 브랜치의 코드까지 활용처로 잡힙니다.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스터디 시스템 · </a:t>
            </a:r>
            <a:r>
              <a:rPr lang="en-US" altLang="ko-KR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Zeteo</a:t>
            </a:r>
            <a:endParaRPr lang="en-US" sz="1000"/>
          </a:p>
        </p:txBody>
      </p:sp>
      <p:sp>
        <p:nvSpPr>
          <p:cNvPr id="52" name="Text 50"/>
          <p:cNvSpPr/>
          <p:nvPr/>
        </p:nvSpPr>
        <p:spPr>
          <a:xfrm>
            <a:off x="10451592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bg>
      <p:bgPr shadeToTitle="0"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45C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설계도 ② — 조사 대상과 저장 위치의 분리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5486400" cy="2048256"/>
          </a:xfrm>
          <a:prstGeom prst="roundRect">
            <a:avLst>
              <a:gd name="adj" fmla="val 4018"/>
            </a:avLst>
          </a:prstGeom>
          <a:solidFill>
            <a:srgbClr val="18243C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773936"/>
            <a:ext cx="1371600" cy="310896"/>
          </a:xfrm>
          <a:prstGeom prst="roundRect">
            <a:avLst>
              <a:gd name="adj" fmla="val 35294"/>
            </a:avLst>
          </a:prstGeom>
          <a:solidFill>
            <a:srgbClr val="F2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773936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 대상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932688" y="2212848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Project / Zeteo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32688" y="2596896"/>
            <a:ext cx="490118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팀의 실제 프로젝트 저장소(origin 추적 clone). main / dev / feat/bot / feat/server / feat/game-ui / feat/layout 등 모든 원격 브랜치가 검색 대상 — 읽기만 하고 쓰지 않습니다.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785616"/>
            <a:ext cx="5486400" cy="2048256"/>
          </a:xfrm>
          <a:prstGeom prst="roundRect">
            <a:avLst>
              <a:gd name="adj" fmla="val 4018"/>
            </a:avLst>
          </a:prstGeom>
          <a:solidFill>
            <a:srgbClr val="18243C"/>
          </a:solidFill>
          <a:ln w="12700">
            <a:solidFill>
              <a:srgbClr val="3ED9A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4041648"/>
            <a:ext cx="1371600" cy="310896"/>
          </a:xfrm>
          <a:prstGeom prst="roundRect">
            <a:avLst>
              <a:gd name="adj" fmla="val 35294"/>
            </a:avLst>
          </a:prstGeom>
          <a:solidFill>
            <a:srgbClr val="3E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4041648"/>
            <a:ext cx="1371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 위치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32688" y="448056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Frontend / TeamB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32688" y="4864608"/>
            <a:ext cx="49011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기록이 쌓이는 팀 문서 저장소. 2주차/배운개념/ 아래에 주제별 md로 누적되며, main 브랜치에만 쓰기가 허용됩니다.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3584448"/>
            <a:ext cx="5394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서로 다른 저장소 — 스킬 문서 상단에 명시해 오작동 방지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1517904"/>
            <a:ext cx="5056632" cy="4315968"/>
          </a:xfrm>
          <a:prstGeom prst="roundRect">
            <a:avLst>
              <a:gd name="adj" fmla="val 1907"/>
            </a:avLst>
          </a:prstGeom>
          <a:solidFill>
            <a:srgbClr val="111B3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4848" y="17373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5C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파일 구조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84848" y="2157984"/>
            <a:ext cx="4526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9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TeamB/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9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9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2주차/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9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개념학습_기록_시스템_기획.md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9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├── 시스템/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9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├── 유저 시나리오.md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9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│   └── 시스템 설계도.md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9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배운개념/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9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├── 웹소켓.md</a:t>
            </a:r>
            <a:endParaRPr lang="en-US" sz="11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E9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 ...   (주제별로 계속 누적)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784848" y="4553712"/>
            <a:ext cx="4480560" cy="0"/>
          </a:xfrm>
          <a:prstGeom prst="line">
            <a:avLst/>
          </a:prstGeom>
          <a:noFill/>
          <a:ln w="12700">
            <a:solidFill>
              <a:srgbClr val="2A3B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4663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D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md 파일 내부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784848" y="4974336"/>
            <a:ext cx="4526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날짜 / 주제 / 이유 ---</a:t>
            </a:r>
            <a:endParaRPr lang="en-US" sz="11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기본설명   ## 우리 프로젝트에서의 활용처   ## 퀴즈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스터디 시스템 · </a:t>
            </a:r>
            <a:r>
              <a:rPr lang="en-US" altLang="ko-KR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Zeteo</a:t>
            </a:r>
            <a:endParaRPr lang="en-US" sz="1000"/>
          </a:p>
        </p:txBody>
      </p:sp>
      <p:sp>
        <p:nvSpPr>
          <p:cNvPr id="22" name="Text 20"/>
          <p:cNvSpPr/>
          <p:nvPr/>
        </p:nvSpPr>
        <p:spPr>
          <a:xfrm>
            <a:off x="10451592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9">
    <p:bg>
      <p:bgPr shadeToTitle="0"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45C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결정 — 무엇을 기각하고 무엇을 택했나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5486400" cy="3913632"/>
          </a:xfrm>
          <a:prstGeom prst="roundRect">
            <a:avLst>
              <a:gd name="adj" fmla="val 2103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32688" y="1755648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F174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7556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기각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103120" y="1755648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검토했지만 채택하지 않은 안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3268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746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22677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altLang="ko-KR" sz="1350" b="1">
                <a:solidFill>
                  <a:srgbClr val="e9effa"/>
                </a:solidFill>
                <a:latin typeface="맑은 고딕"/>
                <a:ea typeface="맑은 고딕"/>
                <a:cs typeface="맑은 고딕"/>
              </a:rPr>
              <a:t>Claude</a:t>
            </a:r>
            <a:r>
              <a:rPr lang="en-US" sz="1350" b="1">
                <a:solidFill>
                  <a:srgbClr val="e9effa"/>
                </a:solidFill>
                <a:latin typeface="맑은 고딕"/>
                <a:ea typeface="맑은 고딕"/>
                <a:cs typeface="맑은 고딕"/>
              </a:rPr>
              <a:t> 아티팩트에 저장</a:t>
            </a:r>
            <a:endParaRPr lang="en-US" sz="1350" b="1">
              <a:solidFill>
                <a:srgbClr val="e9eff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280160" y="2560320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접근할 때마다 권한 재설정이 번거로움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32688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746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090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매번 새 스레드 생성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80160" y="3383280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주제와 스레드를 이름으로 매칭해야 해 관리 비용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32688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746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913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폴더를 그대로 Grep/Read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280160" y="4206240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로컬이 최신이 아닐 수 있고, 체크아웃된 브랜치 하나만 보임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2688" y="47365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746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✕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80160" y="4736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API / 웹 검색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80160" y="5029200"/>
            <a:ext cx="4617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비공개 저장소 인덱싱 제약, 기본 브랜치 위주로만 검색됨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92240" y="1517904"/>
            <a:ext cx="5056632" cy="3913632"/>
          </a:xfrm>
          <a:prstGeom prst="roundRect">
            <a:avLst>
              <a:gd name="adj" fmla="val 2103"/>
            </a:avLst>
          </a:prstGeom>
          <a:solidFill>
            <a:srgbClr val="1E2C48"/>
          </a:solidFill>
          <a:ln w="12700">
            <a:solidFill>
              <a:srgbClr val="3ED9A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84848" y="1755648"/>
            <a:ext cx="1051560" cy="310896"/>
          </a:xfrm>
          <a:prstGeom prst="roundRect">
            <a:avLst>
              <a:gd name="adj" fmla="val 35294"/>
            </a:avLst>
          </a:prstGeom>
          <a:solidFill>
            <a:srgbClr val="3E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84848" y="175564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채택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955280" y="175564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fetch + 전 브랜치 grep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784848" y="2249424"/>
            <a:ext cx="45262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5C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 origin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5C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grep -i &lt;키워드&gt; $(모든 origin/* 브랜치)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45C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show &lt;브랜치&gt;:&lt;경로&gt;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84848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114032" y="32735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트리를 건드리지 않음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14032" y="3547872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체크아웃 상태 그대로, 참조만 최신화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784848" y="3986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114032" y="39867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브랜치를 한 번에 커버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114032" y="426110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팀원 브랜치의 기능도 놓치지 않음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784848" y="47000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ED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114032" y="470001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속도·정확도는 로컬 grep 그대로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114032" y="4974336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 API 제약 없이 최신성까지 확보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40080" y="5596128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2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설계 결정에는 근거가 있습니다 — 기각 사유까지 기획서에 함께 남겼습니다.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스터디 시스템 · </a:t>
            </a:r>
            <a:r>
              <a:rPr lang="en-US" altLang="ko-KR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Zeteo</a:t>
            </a:r>
            <a:endParaRPr lang="en-US" sz="1000"/>
          </a:p>
        </p:txBody>
      </p:sp>
      <p:sp>
        <p:nvSpPr>
          <p:cNvPr id="36" name="Text 34"/>
          <p:cNvSpPr/>
          <p:nvPr/>
        </p:nvSpPr>
        <p:spPr>
          <a:xfrm>
            <a:off x="10451592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0">
    <p:bg>
      <p:bgPr shadeToTitle="0"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45C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ARCHITECTURE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안전장치 — 팀 저장소를 자동으로 건드리기 때문에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5486400" cy="4480560"/>
          </a:xfrm>
          <a:prstGeom prst="roundRect">
            <a:avLst>
              <a:gd name="adj" fmla="val 1837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17739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5C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작업 안전장치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50976" y="210312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실패하면 무조건 중단 · 강제 병합/푸시 금지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50976" y="2523744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45C2F0"/>
          </a:solidFill>
          <a:ln w="12700">
            <a:solidFill>
              <a:srgbClr val="45C2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523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89888" y="2478024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학습 기록 파일 외 다른 변경 사항이 있으면 즉시 중단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50976" y="3182112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45C2F0"/>
          </a:solidFill>
          <a:ln w="12700">
            <a:solidFill>
              <a:srgbClr val="45C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3182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89888" y="3136392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브랜치가 main 이 아니면 중단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50976" y="3840480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45C2F0"/>
          </a:solidFill>
          <a:ln w="12700">
            <a:solidFill>
              <a:srgbClr val="45C2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89888" y="3794760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pull --ff-only 실패(충돌) 시 자동 병합 시도 없이 중단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50976" y="4498848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45C2F0"/>
          </a:solidFill>
          <a:ln w="12700">
            <a:solidFill>
              <a:srgbClr val="45C2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0976" y="4498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89888" y="4453128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 add 는 새로 만든 파일 한 개만 — add -A / add . 금지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50976" y="5157216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45C2F0"/>
          </a:solidFill>
          <a:ln w="12700">
            <a:solidFill>
              <a:srgbClr val="45C2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5157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89888" y="5111496"/>
            <a:ext cx="4480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push 실패 시 --force 없이 정확한 오류와 함께 중단·보고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492240" y="1517904"/>
            <a:ext cx="5056632" cy="2121408"/>
          </a:xfrm>
          <a:prstGeom prst="roundRect">
            <a:avLst>
              <a:gd name="adj" fmla="val 3879"/>
            </a:avLst>
          </a:prstGeom>
          <a:solidFill>
            <a:srgbClr val="1E2C48"/>
          </a:solidFill>
          <a:ln w="12700">
            <a:solidFill>
              <a:srgbClr val="F2B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177393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 날조 금지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784848" y="2157984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브랜치를 뒤져도 관련 코드가 없으면 그럴듯하게 지어내지 않고, “코드에서 명확한 사용처를 찾지 못함(모든 브랜치 확인함) — 계획 단계이거나 아직 미구현일 수 있음”으로 정직하게 기록합니다.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3877056"/>
            <a:ext cx="5056632" cy="2121408"/>
          </a:xfrm>
          <a:prstGeom prst="roundRect">
            <a:avLst>
              <a:gd name="adj" fmla="val 3879"/>
            </a:avLst>
          </a:prstGeom>
          <a:solidFill>
            <a:srgbClr val="1E2C48"/>
          </a:solidFill>
          <a:ln w="12700">
            <a:solidFill>
              <a:srgbClr val="F1746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4848" y="413308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746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프롬프트 인젝션 방어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784848" y="4517136"/>
            <a:ext cx="4526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25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조사 과정에서 읽는 코드·문서에 지시문처럼 보이는 텍스트가 섞여 있어도 실행하지 않고 데이터로만 취급합니다. 남의 저장소를 자동으로 읽는 시스템이라 반드시 필요한 장치였습니다.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스터디 시스템 · </a:t>
            </a:r>
            <a:r>
              <a:rPr lang="en-US" altLang="ko-KR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Zeteo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10451592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1">
    <p:bg>
      <p:bgPr shadeToTitle="0"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45C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USE CASE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활용 방안 — 실제 사용 예시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6172200" cy="4480560"/>
          </a:xfrm>
          <a:prstGeom prst="roundRect">
            <a:avLst>
              <a:gd name="adj" fmla="val 1837"/>
            </a:avLst>
          </a:prstGeom>
          <a:solidFill>
            <a:srgbClr val="0A112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55648"/>
            <a:ext cx="128016" cy="128016"/>
          </a:xfrm>
          <a:prstGeom prst="ellipse">
            <a:avLst/>
          </a:prstGeom>
          <a:solidFill>
            <a:srgbClr val="F174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1755648"/>
            <a:ext cx="128016" cy="128016"/>
          </a:xfrm>
          <a:prstGeom prst="ellipse">
            <a:avLst/>
          </a:prstGeom>
          <a:solidFill>
            <a:srgbClr val="F2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16736" y="1755648"/>
            <a:ext cx="128016" cy="128016"/>
          </a:xfrm>
          <a:prstGeom prst="ellipse">
            <a:avLst/>
          </a:prstGeom>
          <a:solidFill>
            <a:srgbClr val="3E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00200" y="170078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E8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Claude Code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50976" y="2103120"/>
            <a:ext cx="56692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5C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/study-note 웹소켓 "팀프로젝트 실시간 동기화에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5C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쓰인다고 해서 개념부터 활용까지 확인하려고 배웠다"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E9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Zeteo 전체 브랜치에서 "웹소켓" 관련 코드 조사 중...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origin/main, dev, feat/bot, feat/server ... 검색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E9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ED9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[OK] feat/server 브랜치에서 발견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E9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apps/backend/src/socket/index.ts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E9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ED9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[OK] 배운개념/웹소켓.md 작성 완료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E9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기본설명 · 활용처 · 퀴즈 3문항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E9EF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3ED9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[OK] TeamB main 에 커밋·푸시 완료</a:t>
            </a:r>
            <a:endParaRPr lang="en-US" sz="11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50" dirty="0">
                <a:solidFill>
                  <a:srgbClr val="45C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github.com/Scalmia/TeamB/.../웹소켓.md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178040" y="1517904"/>
            <a:ext cx="4370832" cy="1005840"/>
          </a:xfrm>
          <a:prstGeom prst="roundRect">
            <a:avLst>
              <a:gd name="adj" fmla="val 8182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1719072"/>
            <a:ext cx="91440" cy="603504"/>
          </a:xfrm>
          <a:prstGeom prst="roundRect">
            <a:avLst>
              <a:gd name="adj" fmla="val 40000"/>
            </a:avLst>
          </a:prstGeom>
          <a:solidFill>
            <a:srgbClr val="45C2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44384" y="1664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한 줄로 끝난다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644384" y="1938528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주제와 이유만 입력하면 조사·작성·저장·푸시까지 자동으로 이어집니다.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178040" y="2670048"/>
            <a:ext cx="4370832" cy="1005840"/>
          </a:xfrm>
          <a:prstGeom prst="roundRect">
            <a:avLst>
              <a:gd name="adj" fmla="val 8182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2871216"/>
            <a:ext cx="91440" cy="603504"/>
          </a:xfrm>
          <a:prstGeom prst="roundRect">
            <a:avLst>
              <a:gd name="adj" fmla="val 40000"/>
            </a:avLst>
          </a:prstGeom>
          <a:solidFill>
            <a:srgbClr val="F2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44384" y="28163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몰랐던 팀원 코드를 발견한다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644384" y="3090672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로컬에 체크아웃한 적 없던 feat/server 브랜치의 코드가 활용처로 잡혔습니다.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178040" y="3822192"/>
            <a:ext cx="4370832" cy="1005840"/>
          </a:xfrm>
          <a:prstGeom prst="roundRect">
            <a:avLst>
              <a:gd name="adj" fmla="val 8182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4023360"/>
            <a:ext cx="91440" cy="603504"/>
          </a:xfrm>
          <a:prstGeom prst="roundRect">
            <a:avLst>
              <a:gd name="adj" fmla="val 40000"/>
            </a:avLst>
          </a:prstGeom>
          <a:solidFill>
            <a:srgbClr val="3E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44384" y="39684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퀴즈로 이해도를 스스로 점검한다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644384" y="4242816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객관식 3~4문항과 해설이 함께 생성되어 헷갈리던 부분을 확인할 수 있습니다.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178040" y="4974336"/>
            <a:ext cx="4370832" cy="1005840"/>
          </a:xfrm>
          <a:prstGeom prst="roundRect">
            <a:avLst>
              <a:gd name="adj" fmla="val 8182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5175504"/>
            <a:ext cx="91440" cy="603504"/>
          </a:xfrm>
          <a:prstGeom prst="roundRect">
            <a:avLst>
              <a:gd name="adj" fmla="val 40000"/>
            </a:avLst>
          </a:prstGeom>
          <a:solidFill>
            <a:srgbClr val="3E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44384" y="5120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주제도 그대로 반복 가능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644384" y="5394960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JWT, ORM 등 다른 개념도 같은 절차로 계속 누적됩니다.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스터디 시스템 · </a:t>
            </a:r>
            <a:r>
              <a:rPr lang="en-US" altLang="ko-KR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Zeteo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10451592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2">
    <p:bg>
      <p:bgPr shadeToTitle="0"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45C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  REQUIRED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ko-KR" altLang="en-US" sz="2900" b="1">
                <a:solidFill>
                  <a:srgbClr val="e9effa"/>
                </a:solidFill>
                <a:latin typeface="맑은 고딕"/>
                <a:ea typeface="맑은 고딕"/>
                <a:cs typeface="맑은 고딕"/>
              </a:rPr>
              <a:t>학습 사례 </a:t>
            </a:r>
            <a:r>
              <a:rPr lang="en-US" sz="2900" b="1">
                <a:solidFill>
                  <a:srgbClr val="e9effa"/>
                </a:solidFill>
                <a:latin typeface="맑은 고딕"/>
                <a:ea typeface="맑은 고딕"/>
                <a:cs typeface="맑은 고딕"/>
              </a:rPr>
              <a:t>—</a:t>
            </a:r>
            <a:r>
              <a:rPr lang="ko-KR" altLang="en-US" sz="2900" b="1">
                <a:solidFill>
                  <a:srgbClr val="e9effa"/>
                </a:solidFill>
                <a:latin typeface="맑은 고딕"/>
                <a:ea typeface="맑은 고딕"/>
                <a:cs typeface="맑은 고딕"/>
              </a:rPr>
              <a:t> </a:t>
            </a:r>
            <a:r>
              <a:rPr lang="en-US" sz="2300" b="1">
                <a:solidFill>
                  <a:srgbClr val="e9effa"/>
                </a:solidFill>
                <a:latin typeface="맑은 고딕"/>
                <a:ea typeface="맑은 고딕"/>
                <a:cs typeface="맑은 고딕"/>
              </a:rPr>
              <a:t>왜 배우고 · 무엇을 배워서 · 어떻게 활용했는가</a:t>
            </a:r>
            <a:endParaRPr lang="en-US" sz="2300" b="1">
              <a:solidFill>
                <a:srgbClr val="e9eff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3167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ED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 학습 주제 — 웹소켓 (WebSocket)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00784"/>
            <a:ext cx="3474720" cy="3200400"/>
          </a:xfrm>
          <a:prstGeom prst="roundRect">
            <a:avLst>
              <a:gd name="adj" fmla="val 2571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938528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45C2F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385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WHY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왜 배웠는가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2706624"/>
            <a:ext cx="29626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파트에서 실시간 상태 동기화를 웹소켓으로 처리한다는 걸 알게 됐습니다. 개념으로만 알고 있었을 뿐, 우리 프로젝트 어디에 어떻게 쓰이는지는 확인해본 적이 없었습니다.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4297680"/>
            <a:ext cx="2944368" cy="548640"/>
          </a:xfrm>
          <a:prstGeom prst="roundRect">
            <a:avLst>
              <a:gd name="adj" fmla="val 16667"/>
            </a:avLst>
          </a:prstGeom>
          <a:solidFill>
            <a:srgbClr val="111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429768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45C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“안다”와 “우리 프로젝트에 어떻게 쓰였는지 설명할 수 있다”는 다르다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425696" y="1700784"/>
            <a:ext cx="3474720" cy="3200400"/>
          </a:xfrm>
          <a:prstGeom prst="roundRect">
            <a:avLst>
              <a:gd name="adj" fmla="val 2571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0016" y="1938528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F2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19385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00016" y="23591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배웠는가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700016" y="2706624"/>
            <a:ext cx="29626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요청-응답마다 연결을 새로 맺는 HTTP와 달리, 한 번 연결하면 그대로 유지하며 서버가 먼저 메시지를 보낼 수 있는 양방향 통신 방식.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0016" y="4297680"/>
            <a:ext cx="2944368" cy="548640"/>
          </a:xfrm>
          <a:prstGeom prst="roundRect">
            <a:avLst>
              <a:gd name="adj" fmla="val 16667"/>
            </a:avLst>
          </a:prstGeom>
          <a:solidFill>
            <a:srgbClr val="111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28032" y="429768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F2B84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유지 방식 · 이벤트 이름 규약(action / event) · 브로드캐스트 구조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211312" y="1700784"/>
            <a:ext cx="3474720" cy="3200400"/>
          </a:xfrm>
          <a:prstGeom prst="roundRect">
            <a:avLst>
              <a:gd name="adj" fmla="val 2571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85632" y="1938528"/>
            <a:ext cx="914400" cy="310896"/>
          </a:xfrm>
          <a:prstGeom prst="roundRect">
            <a:avLst>
              <a:gd name="adj" fmla="val 35294"/>
            </a:avLst>
          </a:prstGeom>
          <a:solidFill>
            <a:srgbClr val="3ED9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85632" y="193852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485632" y="2359152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활용했는가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485632" y="2706624"/>
            <a:ext cx="2962656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feat/server 브랜치의 apps/backend/src/socket/index.ts 에서 실제 사용처를 확인했습니다. README 설계 원칙(서버가 유일한 진실 공급원 · 상태 전체 브로드캐스트 · 타이머 기반 실시간 진행)이 웹소켓이 필요했던 이유였습니다.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485632" y="4297680"/>
            <a:ext cx="2944368" cy="548640"/>
          </a:xfrm>
          <a:prstGeom prst="roundRect">
            <a:avLst>
              <a:gd name="adj" fmla="val 16667"/>
            </a:avLst>
          </a:prstGeom>
          <a:solidFill>
            <a:srgbClr val="111B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13648" y="4297680"/>
            <a:ext cx="2688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ED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근거: 파일 경로 + 브랜치명 + 설계 문서 인용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0080" y="5120640"/>
            <a:ext cx="10908792" cy="914400"/>
          </a:xfrm>
          <a:prstGeom prst="roundRect">
            <a:avLst>
              <a:gd name="adj" fmla="val 9000"/>
            </a:avLst>
          </a:prstGeom>
          <a:solidFill>
            <a:srgbClr val="1E2C48"/>
          </a:solidFill>
          <a:ln w="12700">
            <a:solidFill>
              <a:srgbClr val="3ED9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" y="5120640"/>
            <a:ext cx="10268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ED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 </a:t>
            </a:r>
            <a:pPr indent="0" marL="0">
              <a:buNone/>
            </a:pPr>
            <a:r>
              <a:rPr lang="en-US" sz="1350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세 요소가 </a:t>
            </a:r>
            <a:pPr indent="0" marL="0">
              <a:buNone/>
            </a:pPr>
            <a:r>
              <a:rPr lang="en-US" sz="1350" dirty="0">
                <a:solidFill>
                  <a:srgbClr val="45C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2주차/배운개념/웹소켓.md</a:t>
            </a:r>
            <a:pPr indent="0" marL="0">
              <a:buNone/>
            </a:pPr>
            <a:r>
              <a:rPr lang="en-US" sz="1350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파일 하나에 근거와 함께 남았고, GitHub 커밋 이력으로도 증빙됩니다.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스터디 시스템 · </a:t>
            </a:r>
            <a:r>
              <a:rPr lang="en-US" altLang="ko-KR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Zeteo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10451592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3">
    <p:bg>
      <p:bgPr shadeToTitle="0"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45C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DEMO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영상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6949440" cy="3950208"/>
          </a:xfrm>
          <a:prstGeom prst="roundRect">
            <a:avLst>
              <a:gd name="adj" fmla="val 2083"/>
            </a:avLst>
          </a:prstGeom>
          <a:solidFill>
            <a:srgbClr val="0A1120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703320" y="3108960"/>
            <a:ext cx="822960" cy="822960"/>
          </a:xfrm>
          <a:prstGeom prst="ellipse">
            <a:avLst/>
          </a:prstGeom>
          <a:solidFill>
            <a:srgbClr val="45C2F0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5400000">
            <a:off x="3977640" y="3310128"/>
            <a:ext cx="384048" cy="420624"/>
          </a:xfrm>
          <a:prstGeom prst="triangle">
            <a:avLst/>
          </a:prstGeom>
          <a:solidFill>
            <a:srgbClr val="0A112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411480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영상 재생 위치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442569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YouTube 링크 또는 .mp4 파일 삽입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01000" y="162763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5C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시연 시나리오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001000" y="2103120"/>
            <a:ext cx="329184" cy="329184"/>
          </a:xfrm>
          <a:prstGeom prst="roundRect">
            <a:avLst>
              <a:gd name="adj" fmla="val 33333"/>
            </a:avLst>
          </a:prstGeom>
          <a:solidFill>
            <a:srgbClr val="45C2F0"/>
          </a:solidFill>
          <a:ln w="12700">
            <a:solidFill>
              <a:srgbClr val="45C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01000" y="2103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58200" y="206654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 실행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458200" y="2304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/study-note 웹소켓 "..." 입력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01000" y="2816352"/>
            <a:ext cx="329184" cy="329184"/>
          </a:xfrm>
          <a:prstGeom prst="roundRect">
            <a:avLst>
              <a:gd name="adj" fmla="val 33333"/>
            </a:avLst>
          </a:prstGeom>
          <a:solidFill>
            <a:srgbClr val="45C2F0"/>
          </a:solidFill>
          <a:ln w="12700">
            <a:solidFill>
              <a:srgbClr val="45C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01000" y="28163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58200" y="27797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코드 조사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458200" y="30175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 원격 브랜치 grep → 매칭 파일 확인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001000" y="3529584"/>
            <a:ext cx="329184" cy="329184"/>
          </a:xfrm>
          <a:prstGeom prst="roundRect">
            <a:avLst>
              <a:gd name="adj" fmla="val 33333"/>
            </a:avLst>
          </a:prstGeom>
          <a:solidFill>
            <a:srgbClr val="45C2F0"/>
          </a:solidFill>
          <a:ln w="12700">
            <a:solidFill>
              <a:srgbClr val="45C2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01000" y="35295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58200" y="34930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문서 생성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58200" y="37307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기본설명 + 활용처 + 퀴즈 작성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001000" y="4242816"/>
            <a:ext cx="329184" cy="329184"/>
          </a:xfrm>
          <a:prstGeom prst="roundRect">
            <a:avLst>
              <a:gd name="adj" fmla="val 33333"/>
            </a:avLst>
          </a:prstGeom>
          <a:solidFill>
            <a:srgbClr val="45C2F0"/>
          </a:solidFill>
          <a:ln w="12700">
            <a:solidFill>
              <a:srgbClr val="45C2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01000" y="42428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58200" y="42062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저장·푸시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8458200" y="4443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안전장치 통과 후 커밋·푸시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001000" y="4956048"/>
            <a:ext cx="329184" cy="329184"/>
          </a:xfrm>
          <a:prstGeom prst="roundRect">
            <a:avLst>
              <a:gd name="adj" fmla="val 33333"/>
            </a:avLst>
          </a:prstGeom>
          <a:solidFill>
            <a:srgbClr val="3ED9A4"/>
          </a:solidFill>
          <a:ln w="12700">
            <a:solidFill>
              <a:srgbClr val="3ED9A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01000" y="4956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458200" y="49194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확인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458200" y="51572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GitHub 링크로 최종 파일 열람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스터디 시스템 · </a:t>
            </a:r>
            <a:r>
              <a:rPr lang="en-US" altLang="ko-KR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Zeteo</a:t>
            </a:r>
            <a:endParaRPr lang="en-US" sz="1000"/>
          </a:p>
        </p:txBody>
      </p:sp>
      <p:sp>
        <p:nvSpPr>
          <p:cNvPr id="31" name="Text 29"/>
          <p:cNvSpPr/>
          <p:nvPr/>
        </p:nvSpPr>
        <p:spPr>
          <a:xfrm>
            <a:off x="10451592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</a:t>
            </a:r>
            <a:endParaRPr lang="en-US" sz="1000" dirty="0"/>
          </a:p>
        </p:txBody>
      </p:sp>
      <p:pic>
        <p:nvPicPr>
          <p:cNvPr id="33" name="시연 영상.mp4">
            <a:hlinkClick r:id="" action="ppaction://media"/>
          </p:cNvPr>
          <p:cNvPicPr>
            <a:picLocks noRot="1"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link="rId4"/>
              </p:ext>
            </p:extLst>
          </p:nvPr>
        </p:nvPicPr>
        <p:blipFill rotWithShape="1">
          <a:blip r:embed="rId5"/>
          <a:stretch>
            <a:fillRect/>
          </a:stretch>
        </p:blipFill>
        <p:spPr>
          <a:xfrm>
            <a:off x="403828" y="1500643"/>
            <a:ext cx="7329915" cy="41230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24134" fill="hold"/>
                                        <p:tgtEl>
                                          <p:spTgt spid="3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3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3"/>
                </p:tgtEl>
              </p:cMediaNode>
            </p:video>
          </p:childTnLst>
        </p:cTn>
      </p:par>
    </p:tnLst>
  </p:timing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4">
    <p:bg>
      <p:bgPr shadeToTitle="0">
        <a:solidFill>
          <a:srgbClr val="0d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02336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50" kern="0" dirty="0">
                <a:solidFill>
                  <a:srgbClr val="45C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CONCLUSION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결론 — 알게 된 점과 소개하고 싶은 내용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17904"/>
            <a:ext cx="5486400" cy="3986784"/>
          </a:xfrm>
          <a:prstGeom prst="roundRect">
            <a:avLst>
              <a:gd name="adj" fmla="val 2064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0976" y="1773936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5C2F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알게 된 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50976" y="2286000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45C2F0"/>
          </a:solidFill>
          <a:ln w="12700">
            <a:solidFill>
              <a:srgbClr val="45C2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89888" y="226771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“배웠다”를 증명하려면 근거의 출처를 바꿔야 했다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89888" y="2596896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본인 진술 대신 코드에서 찾게 하는 것만으로 기록의 신뢰도가 달라졌습니다.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50976" y="3328416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45C2F0"/>
          </a:solidFill>
          <a:ln w="12700">
            <a:solidFill>
              <a:srgbClr val="45C2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33284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89888" y="331012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저장소는 팀 전체의 현재 상태가 아니다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89888" y="3639312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브랜치로 나눠 일하면 내 작업 트리에는 팀의 절반이 안 보인다는 걸 이번에 알았습니다.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50976" y="4370832"/>
            <a:ext cx="310896" cy="310896"/>
          </a:xfrm>
          <a:prstGeom prst="roundRect">
            <a:avLst>
              <a:gd name="adj" fmla="val 35294"/>
            </a:avLst>
          </a:prstGeom>
          <a:solidFill>
            <a:srgbClr val="45C2F0"/>
          </a:solidFill>
          <a:ln w="12700">
            <a:solidFill>
              <a:srgbClr val="45C2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0976" y="43708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42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89888" y="435254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못 찾았다고 쓰는 것도 기능이다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89888" y="4681728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지어내지 않게 막는 규칙이 정확도를 지키는 가장 큰 장치였습니다.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1517904"/>
            <a:ext cx="5056632" cy="2539576"/>
          </a:xfrm>
          <a:prstGeom prst="roundRect">
            <a:avLst>
              <a:gd name="adj" fmla="val 3600"/>
            </a:avLst>
          </a:prstGeom>
          <a:solidFill>
            <a:srgbClr val="1e2c48"/>
          </a:solidFill>
          <a:ln w="12700">
            <a:solidFill>
              <a:srgbClr val="3ed9a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177393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D9A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소개하고 싶은 내용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84848" y="2157984"/>
            <a:ext cx="4526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EFF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체크아웃하지 않고 모든 원격 브랜치를 한 번에 검색하는 방법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784848" y="2505456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5C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fetch origin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5C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grep -i &lt;키워드&gt; $(git branch -r)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45C2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show &lt;브랜치&gt;:&lt;파일경로&gt;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784848" y="3255264"/>
            <a:ext cx="4526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93A5C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작업 중인 브랜치를 그대로 둔 채 팀 전체 코드를 조사할 수 있습니다. 학습 기록뿐 아니라 코드 리뷰·구조 파악에도 그대로 쓸 수 있는 방식입니다.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92240" y="4169664"/>
            <a:ext cx="5056632" cy="1335024"/>
          </a:xfrm>
          <a:prstGeom prst="roundRect">
            <a:avLst>
              <a:gd name="adj" fmla="val 5357"/>
            </a:avLst>
          </a:prstGeom>
          <a:solidFill>
            <a:srgbClr val="18243c"/>
          </a:solidFill>
          <a:ln w="12700">
            <a:solidFill>
              <a:srgbClr val="2a3b5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84848" y="4388739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300" b="1">
                <a:solidFill>
                  <a:srgbClr val="f2b84b"/>
                </a:solidFill>
                <a:latin typeface="맑은 고딕"/>
                <a:ea typeface="맑은 고딕"/>
                <a:cs typeface="맑은 고딕"/>
              </a:rPr>
              <a:t>향후 확장 여지 (미착수)</a:t>
            </a:r>
            <a:endParaRPr lang="en-US" sz="1300"/>
          </a:p>
        </p:txBody>
      </p:sp>
      <p:sp>
        <p:nvSpPr>
          <p:cNvPr id="25" name="Text 23"/>
          <p:cNvSpPr/>
          <p:nvPr/>
        </p:nvSpPr>
        <p:spPr>
          <a:xfrm>
            <a:off x="6903720" y="4699635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anchor="t"/>
          <a:lstStyle/>
          <a:p>
            <a:pPr marL="342900" lvl="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93a5c4"/>
                </a:solidFill>
                <a:latin typeface="맑은 고딕"/>
                <a:ea typeface="맑은 고딕"/>
                <a:cs typeface="맑은 고딕"/>
              </a:rPr>
              <a:t>이전 기록과 자동 비교(diff)해 변경점만 보여주기</a:t>
            </a:r>
            <a:endParaRPr lang="en-US" sz="1150">
              <a:solidFill>
                <a:srgbClr val="93a5c4"/>
              </a:solidFill>
              <a:latin typeface="맑은 고딕"/>
              <a:ea typeface="맑은 고딕"/>
              <a:cs typeface="맑은 고딕"/>
            </a:endParaRPr>
          </a:p>
          <a:p>
            <a:pPr marL="342900" lvl="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93a5c4"/>
                </a:solidFill>
                <a:latin typeface="맑은 고딕"/>
                <a:ea typeface="맑은 고딕"/>
                <a:cs typeface="맑은 고딕"/>
              </a:rPr>
              <a:t>여러 주제를 한 번에 정리하는 배치 모드</a:t>
            </a:r>
            <a:endParaRPr lang="en-US" sz="1150">
              <a:solidFill>
                <a:srgbClr val="93a5c4"/>
              </a:solidFill>
              <a:latin typeface="맑은 고딕"/>
              <a:ea typeface="맑은 고딕"/>
              <a:cs typeface="맑은 고딕"/>
            </a:endParaRPr>
          </a:p>
          <a:p>
            <a:pPr marL="342900" lvl="0" indent="-342900">
              <a:spcAft>
                <a:spcPts val="400"/>
              </a:spcAft>
              <a:buSzPct val="100000"/>
              <a:buChar char="•"/>
              <a:defRPr/>
            </a:pPr>
            <a:r>
              <a:rPr lang="en-US" sz="1150">
                <a:solidFill>
                  <a:srgbClr val="93a5c4"/>
                </a:solidFill>
                <a:latin typeface="맑은 고딕"/>
                <a:ea typeface="맑은 고딕"/>
                <a:cs typeface="맑은 고딕"/>
              </a:rPr>
              <a:t>퀴즈를 실제로 풀고 채점까지 이어지는 인터랙티브 모드</a:t>
            </a:r>
            <a:endParaRPr lang="en-US" sz="1150"/>
          </a:p>
        </p:txBody>
      </p:sp>
      <p:sp>
        <p:nvSpPr>
          <p:cNvPr id="26" name="Text 24"/>
          <p:cNvSpPr/>
          <p:nvPr/>
        </p:nvSpPr>
        <p:spPr>
          <a:xfrm>
            <a:off x="640080" y="5632704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500" b="1">
                <a:solidFill>
                  <a:srgbClr val="e9effa"/>
                </a:solidFill>
                <a:latin typeface="맑은 고딕"/>
                <a:ea typeface="맑은 고딕"/>
                <a:cs typeface="맑은 고딕"/>
              </a:rPr>
              <a:t>감사합니다.   </a:t>
            </a:r>
            <a:r>
              <a:rPr lang="en-US" altLang="ko-KR" sz="1500" b="1">
                <a:solidFill>
                  <a:srgbClr val="e9effa"/>
                </a:solidFill>
                <a:latin typeface="맑은 고딕"/>
                <a:ea typeface="맑은 고딕"/>
                <a:cs typeface="맑은 고딕"/>
              </a:rPr>
              <a:t>Zeteo</a:t>
            </a:r>
            <a:r>
              <a:rPr lang="en-US" sz="1500" b="1">
                <a:solidFill>
                  <a:srgbClr val="e9effa"/>
                </a:solidFill>
                <a:latin typeface="맑은 고딕"/>
                <a:ea typeface="맑은 고딕"/>
                <a:cs typeface="맑은 고딕"/>
              </a:rPr>
              <a:t> — 박진 · 이현우 · 유민성 · 김정현</a:t>
            </a:r>
            <a:endParaRPr lang="en-US" sz="1500" b="1">
              <a:solidFill>
                <a:srgbClr val="e9effa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0080" y="6327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>
              <a:buNone/>
              <a:defRPr/>
            </a:pPr>
            <a:r>
              <a:rPr lang="en-US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스터디 시스템 · </a:t>
            </a:r>
            <a:r>
              <a:rPr lang="en-US" altLang="ko-KR" sz="1000">
                <a:solidFill>
                  <a:srgbClr val="5d6e8e"/>
                </a:solidFill>
                <a:latin typeface="맑은 고딕"/>
                <a:ea typeface="맑은 고딕"/>
                <a:cs typeface="맑은 고딕"/>
              </a:rPr>
              <a:t>Zeteo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10451592" y="63276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D6E8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1415</ep:Words>
  <ep:PresentationFormat>On-screen Show (16:9)</ep:PresentationFormat>
  <ep:Paragraphs>316</ep:Paragraphs>
  <ep:Slides>14</ep:Slides>
  <ep:Notes>14</ep:Notes>
  <ep:TotalTime>0</ep:TotalTime>
  <ep:HiddenSlides>0</ep:HiddenSlides>
  <ep:MMClips>1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2026-08-07T04:36:01.000</dcterms:created>
  <dc:creator>TeamB</dc:creator>
  <cp:lastModifiedBy>Har07</cp:lastModifiedBy>
  <dcterms:modified xsi:type="dcterms:W3CDTF">2026-08-07T05:36:24.736</dcterms:modified>
  <cp:revision>12</cp:revision>
  <dc:subject>PptxGenJS Presentation</dc:subject>
  <dc:title>스터디 시스템 발표자료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