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x78eUzvdA6680wBWawR8WwXOQ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2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24160" y="4206240"/>
            <a:ext cx="2743200" cy="2743200"/>
          </a:xfrm>
          <a:prstGeom prst="ellipse">
            <a:avLst/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TEAM Zeteo · PROJECT PLAN</a:t>
            </a:r>
            <a:endParaRPr b="1" i="0" sz="1300" u="none" cap="none" strike="noStrike">
              <a:solidFill>
                <a:srgbClr val="5865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828800"/>
            <a:ext cx="8686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회의록·채널 요약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자동화 시스템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97764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Discord 대화 → 실명 매핑 → 회의록/요약 자동 생성 → GitHub 반영까지, 팀 협업 기록을 자동화한 Claude Code Skill 확장 프로젝트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ot_w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5202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536192" y="5120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channel-summarize · meeting-minutes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536192" y="5394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Hermes2 Bot · Team Zeteo Discord Server</a:t>
            </a:r>
            <a:endParaRPr b="0" i="0" sz="1100" u="none" cap="none" strike="noStrike">
              <a:solidFill>
                <a:srgbClr val="AEB1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2026. 07. 29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841248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팀 소개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8640" y="1481328"/>
            <a:ext cx="10936224" cy="77724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98640" y="1549908"/>
            <a:ext cx="640080" cy="640080"/>
          </a:xfrm>
          <a:prstGeom prst="roundRect">
            <a:avLst>
              <a:gd fmla="val 8000" name="adj"/>
            </a:avLst>
          </a:prstGeom>
          <a:solidFill>
            <a:srgbClr val="F4F5FB"/>
          </a:solidFill>
          <a:ln cap="flat" cmpd="sng" w="12700">
            <a:solidFill>
              <a:srgbClr val="8890C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0C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0C8"/>
                </a:solidFill>
                <a:latin typeface="Calibri"/>
                <a:ea typeface="Calibri"/>
                <a:cs typeface="Calibri"/>
                <a:sym typeface="Calibri"/>
              </a:rPr>
              <a:t>LOGO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2106599" y="1509950"/>
            <a:ext cx="9228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TEAM NAME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106599" y="1829950"/>
            <a:ext cx="9228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0C8"/>
              </a:buClr>
              <a:buSzPts val="2200"/>
              <a:buFont typeface="Cambria"/>
              <a:buNone/>
            </a:pPr>
            <a:r>
              <a:rPr b="1" i="1" lang="en-US" sz="2200" u="none" cap="none" strike="noStrike">
                <a:solidFill>
                  <a:srgbClr val="8890C8"/>
                </a:solidFill>
                <a:latin typeface="Cambria"/>
                <a:ea typeface="Cambria"/>
                <a:cs typeface="Cambria"/>
                <a:sym typeface="Cambria"/>
              </a:rPr>
              <a:t>Zeteo</a:t>
            </a:r>
            <a:endParaRPr b="1" i="1" sz="2200" u="none" cap="none" strike="noStrike">
              <a:solidFill>
                <a:srgbClr val="8890C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2395728"/>
            <a:ext cx="2542032" cy="3450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8640" y="3383247"/>
            <a:ext cx="230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0C8"/>
              </a:buClr>
              <a:buSzPts val="1500"/>
              <a:buFont typeface="Calibri"/>
              <a:buNone/>
            </a:pPr>
            <a:r>
              <a:rPr b="1" i="0" lang="en-US" sz="2500" u="none" cap="none" strike="noStrike">
                <a:solidFill>
                  <a:srgbClr val="8890C8"/>
                </a:solidFill>
                <a:latin typeface="Calibri"/>
                <a:ea typeface="Calibri"/>
                <a:cs typeface="Calibri"/>
                <a:sym typeface="Calibri"/>
              </a:rPr>
              <a:t>박 진</a:t>
            </a:r>
            <a:endParaRPr b="1" i="0" sz="2500" u="none" cap="none" strike="noStrike">
              <a:solidFill>
                <a:srgbClr val="8890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68640" y="4637364"/>
            <a:ext cx="230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팀장</a:t>
            </a:r>
            <a:endParaRPr b="1" i="0" sz="1200" u="none" cap="none" strike="noStrike">
              <a:solidFill>
                <a:srgbClr val="3B41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346704" y="2395728"/>
            <a:ext cx="2542032" cy="3450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466704" y="3383247"/>
            <a:ext cx="230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0C8"/>
              </a:buClr>
              <a:buSzPts val="1500"/>
              <a:buFont typeface="Calibri"/>
              <a:buNone/>
            </a:pPr>
            <a:r>
              <a:rPr b="1" i="0" lang="en-US" sz="2500" u="none" cap="none" strike="noStrike">
                <a:solidFill>
                  <a:srgbClr val="8890C8"/>
                </a:solidFill>
                <a:latin typeface="Calibri"/>
                <a:ea typeface="Calibri"/>
                <a:cs typeface="Calibri"/>
                <a:sym typeface="Calibri"/>
              </a:rPr>
              <a:t>김 정 현</a:t>
            </a:r>
            <a:endParaRPr b="1" i="0" sz="2500" u="none" cap="none" strike="noStrike">
              <a:solidFill>
                <a:srgbClr val="8890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66704" y="4637364"/>
            <a:ext cx="230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조원1</a:t>
            </a:r>
            <a:endParaRPr b="0" i="0" sz="1200" u="none" cap="none" strike="noStrike">
              <a:solidFill>
                <a:srgbClr val="6B6E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144768" y="2395728"/>
            <a:ext cx="2542032" cy="3450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264768" y="3383247"/>
            <a:ext cx="230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0C8"/>
              </a:buClr>
              <a:buSzPts val="1500"/>
              <a:buFont typeface="Calibri"/>
              <a:buNone/>
            </a:pPr>
            <a:r>
              <a:rPr b="1" i="0" lang="en-US" sz="2500" u="none" cap="none" strike="noStrike">
                <a:solidFill>
                  <a:srgbClr val="8890C8"/>
                </a:solidFill>
                <a:latin typeface="Calibri"/>
                <a:ea typeface="Calibri"/>
                <a:cs typeface="Calibri"/>
                <a:sym typeface="Calibri"/>
              </a:rPr>
              <a:t>유 민 성</a:t>
            </a:r>
            <a:endParaRPr b="1" i="0" sz="2500" u="none" cap="none" strike="noStrike">
              <a:solidFill>
                <a:srgbClr val="8890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64768" y="4637364"/>
            <a:ext cx="230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조원2</a:t>
            </a:r>
            <a:endParaRPr b="0" i="0" sz="1200" u="none" cap="none" strike="noStrike">
              <a:solidFill>
                <a:srgbClr val="6B6E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942832" y="2395728"/>
            <a:ext cx="2542032" cy="3450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062832" y="3383247"/>
            <a:ext cx="230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0C8"/>
              </a:buClr>
              <a:buSzPts val="1500"/>
              <a:buFont typeface="Calibri"/>
              <a:buNone/>
            </a:pPr>
            <a:r>
              <a:rPr b="1" i="0" lang="en-US" sz="2500" u="none" cap="none" strike="noStrike">
                <a:solidFill>
                  <a:srgbClr val="8890C8"/>
                </a:solidFill>
                <a:latin typeface="Calibri"/>
                <a:ea typeface="Calibri"/>
                <a:cs typeface="Calibri"/>
                <a:sym typeface="Calibri"/>
              </a:rPr>
              <a:t>이 현 우</a:t>
            </a:r>
            <a:endParaRPr b="1" i="0" sz="2500" u="none" cap="none" strike="noStrike">
              <a:solidFill>
                <a:srgbClr val="8890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062832" y="4637364"/>
            <a:ext cx="230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조원3</a:t>
            </a:r>
            <a:endParaRPr b="0" i="0" sz="1200" u="none" cap="none" strike="noStrike">
              <a:solidFill>
                <a:srgbClr val="6B6E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/>
          </a:p>
        </p:txBody>
      </p:sp>
      <p:pic>
        <p:nvPicPr>
          <p:cNvPr id="49" name="Google Shape;49;p2" title="Zeteo-logo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072" y="1549900"/>
            <a:ext cx="1280198" cy="640099"/>
          </a:xfrm>
          <a:prstGeom prst="rect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01 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프로젝트 개요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팀 프로젝트 진행 중 여러 채널·스레드에 흩어지던 논의를, 요청 한 줄로 요약·회의록까지 자동 정리하는 시스템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148840"/>
            <a:ext cx="2542032" cy="3429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841248" y="2468880"/>
            <a:ext cx="566928" cy="566928"/>
          </a:xfrm>
          <a:prstGeom prst="ellipse">
            <a:avLst/>
          </a:prstGeom>
          <a:solidFill>
            <a:srgbClr val="F4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41248" y="320040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아이템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41248" y="3566160"/>
            <a:ext cx="19933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Discord 채널 요약 +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회의록 자동 작성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346704" y="2148840"/>
            <a:ext cx="2542032" cy="3429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39312" y="2468880"/>
            <a:ext cx="566928" cy="566928"/>
          </a:xfrm>
          <a:prstGeom prst="ellipse">
            <a:avLst/>
          </a:prstGeom>
          <a:solidFill>
            <a:srgbClr val="E3E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639312" y="320040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39312" y="3566160"/>
            <a:ext cx="19933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채널·스레드에 흩어지는 논의,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수작업 정리의 반복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144768" y="2148840"/>
            <a:ext cx="2542032" cy="3429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37376" y="2468880"/>
            <a:ext cx="566928" cy="566928"/>
          </a:xfrm>
          <a:prstGeom prst="ellipse">
            <a:avLst/>
          </a:prstGeom>
          <a:solidFill>
            <a:srgbClr val="C7C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437376" y="320040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형태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37376" y="3566160"/>
            <a:ext cx="19933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별도 서비스가 아닌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Claude Code Skill 확장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942832" y="2148840"/>
            <a:ext cx="2542032" cy="3429000"/>
          </a:xfrm>
          <a:prstGeom prst="roundRect">
            <a:avLst>
              <a:gd fmla="val 431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8890C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9235440" y="2468880"/>
            <a:ext cx="566928" cy="566928"/>
          </a:xfrm>
          <a:prstGeom prst="ellipse">
            <a:avLst/>
          </a:prstGeom>
          <a:solidFill>
            <a:srgbClr val="9EA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235440" y="320040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과업 연계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235440" y="3566160"/>
            <a:ext cx="19933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회의록 시스템 개발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기획서 제출 과업 겸함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02 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왜 자동화가 필요했나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논의는 이미 Discord 안에 있었지만, 그것을 “기록”으로 남기는 일은 여전히 사람의 몫이었다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2148840"/>
            <a:ext cx="5166360" cy="3657600"/>
          </a:xfrm>
          <a:prstGeom prst="roundRect">
            <a:avLst>
              <a:gd fmla="val 3000" name="adj"/>
            </a:avLst>
          </a:prstGeom>
          <a:solidFill>
            <a:srgbClr val="E7E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14400" y="28346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수작업 정리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14400" y="3429000"/>
            <a:ext cx="4434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여러 채널·스레드에 논의가 흩어져 맥락 파악이 오래 걸림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회의록·요약을 팀원이 직접 다시 읽고 정리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참여자는 Discord 핸들로만 남아 실명 확인 어려움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0223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새 채널·스레드가 생길 때마다 봇 접근 권한을 수동 등록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989320" y="2148840"/>
            <a:ext cx="5623560" cy="3657600"/>
          </a:xfrm>
          <a:prstGeom prst="roundRect">
            <a:avLst>
              <a:gd fmla="val 3000" name="adj"/>
            </a:avLst>
          </a:prstGeom>
          <a:solidFill>
            <a:srgbClr val="20223A"/>
          </a:solidFill>
          <a:ln>
            <a:noFill/>
          </a:ln>
          <a:effectLst>
            <a:outerShdw blurRad="152400" rotWithShape="0" algn="bl" dir="5400000" dist="38100">
              <a:srgbClr val="8890C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355080" y="2468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355080" y="28346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한 줄 요청으로 자동 처리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355080" y="3429000"/>
            <a:ext cx="48920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“@Hermes2 회의록 작성해줘” 한 줄로 전 과정 자동 실행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F0F1FB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채널·회의록 요약이 즉시 정리된 형태로 도착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F0F1FB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team-map.json 매핑으로 참여자 실명 자동 표시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F0F1FB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서버 단위 확장으로 새 채널도 별도 설정 없이 즉시 반응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03  CORE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핵심 작업 — 채널 단위 → 서버 단위 확장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Discord 플러그인 원본 코드(server.ts)를 수정해, 새 채널·스레드도 등록 없이 자동으로 커버되도록 구조를 바꿈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21488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기존: 채널 단위 등록 (groups)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2606040"/>
            <a:ext cx="512064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2700">
            <a:solidFill>
              <a:srgbClr val="E3E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822960" y="280720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# PT  채널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566160" y="28072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등록됨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3566160"/>
            <a:ext cx="5120640" cy="777240"/>
          </a:xfrm>
          <a:prstGeom prst="roundRect">
            <a:avLst>
              <a:gd fmla="val 11765" name="adj"/>
            </a:avLst>
          </a:prstGeom>
          <a:solidFill>
            <a:srgbClr val="F0EEF5"/>
          </a:solidFill>
          <a:ln cap="flat" cmpd="sng" w="12700">
            <a:solidFill>
              <a:srgbClr val="E3E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22960" y="376732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# 새-프로젝트  (신규 채널)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657600" y="37673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75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475F"/>
                </a:solidFill>
                <a:latin typeface="Calibri"/>
                <a:ea typeface="Calibri"/>
                <a:cs typeface="Calibri"/>
                <a:sym typeface="Calibri"/>
              </a:rPr>
              <a:t>미등록 → 무반응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48640" y="4526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→ 매번 수동으로 봇 접근 권한을 새로 등록해야 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309360" y="2148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변경: 서버 단위 폴백 (guilds)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309360" y="2463165"/>
            <a:ext cx="5303520" cy="2369820"/>
          </a:xfrm>
          <a:prstGeom prst="roundRect">
            <a:avLst>
              <a:gd fmla="val 4138" name="adj"/>
            </a:avLst>
          </a:prstGeom>
          <a:solidFill>
            <a:srgbClr val="20223A"/>
          </a:solidFill>
          <a:ln>
            <a:noFill/>
          </a:ln>
          <a:effectLst>
            <a:outerShdw blurRad="127000" rotWithShape="0" algn="bl" dir="5400000" dist="38100">
              <a:srgbClr val="8890C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629400" y="252869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Zeteo 서버 (guild) 등록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629400" y="3004185"/>
            <a:ext cx="960120" cy="384048"/>
          </a:xfrm>
          <a:prstGeom prst="roundRect">
            <a:avLst>
              <a:gd fmla="val 500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629400" y="3004185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 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726680" y="3004185"/>
            <a:ext cx="960120" cy="384048"/>
          </a:xfrm>
          <a:prstGeom prst="roundRect">
            <a:avLst>
              <a:gd fmla="val 500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7726680" y="3004185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 이현우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823960" y="3004185"/>
            <a:ext cx="960120" cy="384048"/>
          </a:xfrm>
          <a:prstGeom prst="roundRect">
            <a:avLst>
              <a:gd fmla="val 500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823960" y="3004185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 박진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629400" y="3507105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629400" y="3507105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신규 채널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183880" y="3507105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183880" y="3507105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신규 스레드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629400" y="4055745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8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8F7"/>
                </a:solidFill>
                <a:latin typeface="Calibri"/>
                <a:ea typeface="Calibri"/>
                <a:cs typeface="Calibri"/>
                <a:sym typeface="Calibri"/>
              </a:rPr>
              <a:t>등록 안 된 채널도 “서버에 속해 있으면” 자동 허용 → 신규 채널·스레드 즉시 커버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143000" y="505663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스레드는 부모 채널 정책 상속 구조를 그대로 활용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251960" y="5074920"/>
            <a:ext cx="457200" cy="45720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846320" y="505663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메시지 조회 등 아웃바운드 검증에도 동일 폴백 반영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955280" y="5074920"/>
            <a:ext cx="457200" cy="45720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549640" y="505663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원본 코드 수정 전 항상 백업 파일 보존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04  PROCESS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전체 처리 흐름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팀원의 요청 한 번이 대화 수집 → 실명 매핑 → 문서 생성 → 저장소 반영 → 알림까지 자동으로 이어짐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78028" y="2286000"/>
            <a:ext cx="1691640" cy="2743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377544" y="2121408"/>
            <a:ext cx="292608" cy="292608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377544" y="2121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03808" y="2560320"/>
            <a:ext cx="640080" cy="640080"/>
          </a:xfrm>
          <a:prstGeom prst="ellipse">
            <a:avLst/>
          </a:prstGeom>
          <a:solidFill>
            <a:srgbClr val="F4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69468" y="3383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요청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69468" y="3749040"/>
            <a:ext cx="1508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"@Hermes2 회의록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작성해줘 PT"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369668" y="333756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506828" y="2286000"/>
            <a:ext cx="1691640" cy="2743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206344" y="2121408"/>
            <a:ext cx="292608" cy="292608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206344" y="2121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032608" y="2560320"/>
            <a:ext cx="640080" cy="640080"/>
          </a:xfrm>
          <a:prstGeom prst="ellipse">
            <a:avLst/>
          </a:prstGeom>
          <a:solidFill>
            <a:srgbClr val="D9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2598268" y="3383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대화 수집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598268" y="3749040"/>
            <a:ext cx="1508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fetch_messages로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최근 100개 메시지 조회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198468" y="333756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335628" y="2286000"/>
            <a:ext cx="1691640" cy="2743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035144" y="2121408"/>
            <a:ext cx="292608" cy="292608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035144" y="2121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861408" y="2560320"/>
            <a:ext cx="640080" cy="640080"/>
          </a:xfrm>
          <a:prstGeom prst="ellipse">
            <a:avLst/>
          </a:prstGeom>
          <a:solidFill>
            <a:srgbClr val="BFC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427068" y="3383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실명 매핑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427068" y="3749040"/>
            <a:ext cx="1508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team-map.json으로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사용자ID → 실명 변환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027268" y="333756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164428" y="2286000"/>
            <a:ext cx="1691640" cy="2743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863944" y="2121408"/>
            <a:ext cx="292608" cy="292608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863944" y="2121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690208" y="2560320"/>
            <a:ext cx="640080" cy="640080"/>
          </a:xfrm>
          <a:prstGeom prst="ellipse">
            <a:avLst/>
          </a:prstGeom>
          <a:solidFill>
            <a:srgbClr val="829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255868" y="3383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문서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255868" y="3749040"/>
            <a:ext cx="1508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주제·논의·목표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3단 구조로 작성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856068" y="333756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993228" y="2286000"/>
            <a:ext cx="1691640" cy="2743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692744" y="2121408"/>
            <a:ext cx="292608" cy="292608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692744" y="2121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519008" y="2560320"/>
            <a:ext cx="640080" cy="640080"/>
          </a:xfrm>
          <a:prstGeom prst="ellipse">
            <a:avLst/>
          </a:prstGeom>
          <a:solidFill>
            <a:srgbClr val="4B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8084668" y="3383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저장소 반영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084668" y="3749040"/>
            <a:ext cx="1508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안전장치 통과 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commit → push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684868" y="333756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822028" y="2286000"/>
            <a:ext cx="1691640" cy="2743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0521544" y="2121408"/>
            <a:ext cx="292608" cy="292608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10521544" y="2121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0347808" y="2560320"/>
            <a:ext cx="640080" cy="640080"/>
          </a:xfrm>
          <a:prstGeom prst="ellipse">
            <a:avLst/>
          </a:prstGeom>
          <a:solidFill>
            <a:srgbClr val="173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9913468" y="3383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완료 알림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913468" y="3749040"/>
            <a:ext cx="1508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참여자 @멘션 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GitHub 링크 전달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8640" y="53492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예상과 다른 상황(충돌·거부·다른 변경사항 존재 등)이 발생하면 즉시 중단하고 사람에게 보고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05  KEY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핵심 기능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48640" y="210312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96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554480" y="233172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채널 요약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554480" y="263347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B41A8"/>
                </a:solidFill>
                <a:latin typeface="Courier New"/>
                <a:ea typeface="Courier New"/>
                <a:cs typeface="Courier New"/>
                <a:sym typeface="Courier New"/>
              </a:rPr>
              <a:t>channel-summarize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22960" y="306324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최근 대화를 화자별로 정리하고 결론을 붙여 그 자리에 바로 답장. Discord 마크다운으로 가독성 있게 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080760" y="210312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355080" y="2377440"/>
            <a:ext cx="566928" cy="566928"/>
          </a:xfrm>
          <a:prstGeom prst="ellipse">
            <a:avLst/>
          </a:prstGeom>
          <a:solidFill>
            <a:srgbClr val="96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7086600" y="233172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회의록 자동 작성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086600" y="263347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B41A8"/>
                </a:solidFill>
                <a:latin typeface="Courier New"/>
                <a:ea typeface="Courier New"/>
                <a:cs typeface="Courier New"/>
                <a:sym typeface="Courier New"/>
              </a:rPr>
              <a:t>meeting-minutes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355080" y="306324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대화를 현재 주제/논의 내용/다음 목표 구조로 정리해 파일로 저장하고 팀 저장소에 커밋·푸시까지 자동 처리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48640" y="425196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2960" y="4526280"/>
            <a:ext cx="566928" cy="566928"/>
          </a:xfrm>
          <a:prstGeom prst="ellipse">
            <a:avLst/>
          </a:prstGeom>
          <a:solidFill>
            <a:srgbClr val="96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554480" y="448056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팀원 매핑 인프라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554480" y="478231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B41A8"/>
                </a:solidFill>
                <a:latin typeface="Courier New"/>
                <a:ea typeface="Courier New"/>
                <a:cs typeface="Courier New"/>
                <a:sym typeface="Courier New"/>
              </a:rPr>
              <a:t>team-map.json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22960" y="521208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Discord 핸들·사용자ID·실명, 채널명·채널ID를 매핑해 회의록·요약에 실명이 표시되도록 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080760" y="425196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355080" y="4526280"/>
            <a:ext cx="566928" cy="566928"/>
          </a:xfrm>
          <a:prstGeom prst="ellipse">
            <a:avLst/>
          </a:prstGeom>
          <a:solidFill>
            <a:srgbClr val="96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7086600" y="448056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참여자 리콜 알람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086600" y="478231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B41A8"/>
                </a:solidFill>
                <a:latin typeface="Courier New"/>
                <a:ea typeface="Courier New"/>
                <a:cs typeface="Courier New"/>
                <a:sym typeface="Courier New"/>
              </a:rPr>
              <a:t>완료 후 @멘션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355080" y="521208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 작성이 끝나면 실제 논의에 참여했던 팀원 전원을 태그해, 결과물을 놓치지 않고 확인하게 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06  USER SCENARIO · 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회의록을 놓치지 않고 남기고 싶은 순간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48640" y="16916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김정현 — PT팀 논의를 막 마친 팀원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051560" y="224028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PT 채널에서 박진과 기능 우선순위를 30분간 논의. 결론은 났지만 아무도 정리해 문서로 남기지 않음.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051560" y="310896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채널에 “@Hermes2 회의록 작성해줘 PT” 한 줄만 입력. 채널 ID는 메시지에 자동 포함되어 별도 입력 불필요.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051560" y="397764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봇이 최근 대화를 가져와 현재 주제·논의 내용·다음 목표로 정리하고, 참여자를 실명(박진, 김정현)으로 표기.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48640" y="4892040"/>
            <a:ext cx="365760" cy="36576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051560" y="484632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안전장치 통과 후 GitHub 회의록 폴더에 자동 반영, 완료 즉시 참여자 전원이 @멘션으로 알림을 받음.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903720" y="1417320"/>
            <a:ext cx="4709160" cy="4846320"/>
          </a:xfrm>
          <a:prstGeom prst="roundRect">
            <a:avLst>
              <a:gd fmla="val 2718" name="adj"/>
            </a:avLst>
          </a:prstGeom>
          <a:solidFill>
            <a:srgbClr val="20223A"/>
          </a:solidFill>
          <a:ln>
            <a:noFill/>
          </a:ln>
          <a:effectLst>
            <a:outerShdw blurRad="152400" rotWithShape="0" algn="bl" dir="5400000" dist="38100">
              <a:srgbClr val="8890C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223760" y="1691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 박진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8"/>
          <p:cNvCxnSpPr/>
          <p:nvPr/>
        </p:nvCxnSpPr>
        <p:spPr>
          <a:xfrm>
            <a:off x="7178040" y="2148840"/>
            <a:ext cx="4160520" cy="0"/>
          </a:xfrm>
          <a:prstGeom prst="straightConnector1">
            <a:avLst/>
          </a:prstGeom>
          <a:noFill/>
          <a:ln cap="flat" cmpd="sng" w="12700">
            <a:solidFill>
              <a:srgbClr val="3D4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8"/>
          <p:cNvSpPr/>
          <p:nvPr/>
        </p:nvSpPr>
        <p:spPr>
          <a:xfrm>
            <a:off x="7223760" y="2331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F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7CBFA"/>
                </a:solidFill>
                <a:latin typeface="Calibri"/>
                <a:ea typeface="Calibri"/>
                <a:cs typeface="Calibri"/>
                <a:sym typeface="Calibri"/>
              </a:rPr>
              <a:t>김정현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0149840" y="23317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1:59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223760" y="260604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A"/>
                </a:solidFill>
                <a:latin typeface="Calibri"/>
                <a:ea typeface="Calibri"/>
                <a:cs typeface="Calibri"/>
                <a:sym typeface="Calibri"/>
              </a:rPr>
              <a:t>@Hermes2 회의록 작성해줘 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7178040" y="3200400"/>
            <a:ext cx="4160520" cy="2514600"/>
          </a:xfrm>
          <a:prstGeom prst="roundRect">
            <a:avLst>
              <a:gd fmla="val 3636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74066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Hermes2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921240" y="3401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2:01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406640" y="3730752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@박진 @김정현 회의록 작성 완료했어요 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406640" y="4297680"/>
            <a:ext cx="3703320" cy="1234440"/>
          </a:xfrm>
          <a:prstGeom prst="roundRect">
            <a:avLst>
              <a:gd fmla="val 5926" name="adj"/>
            </a:avLst>
          </a:prstGeom>
          <a:solidFill>
            <a:srgbClr val="20223A"/>
          </a:solidFill>
          <a:ln cap="flat" cmpd="sng" w="12700">
            <a:solidFill>
              <a:srgbClr val="3D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589520" y="443484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2026-07-29_PT_2차_회의록.md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589520" y="4800600"/>
            <a:ext cx="3337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EA3D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A3D8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github.com/Scalmia/Team Zeteo/blob/main/</a:t>
            </a:r>
            <a:endParaRPr b="0" i="0" sz="950" u="none" cap="none" strike="noStrike">
              <a:solidFill>
                <a:srgbClr val="9EA3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EA3D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A3D8"/>
                </a:solidFill>
                <a:latin typeface="Courier New"/>
                <a:ea typeface="Courier New"/>
                <a:cs typeface="Courier New"/>
                <a:sym typeface="Courier New"/>
              </a:rPr>
              <a:t>회의록/2026-07-29_PT_2차_회의록.md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07  USER SCENARIO ·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잠깐 자리를 비운 사이의 논의를 따라잡고 싶을 때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48640" y="16916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김정현 — 다른 팀원의 채널 논의를 확인해야 하는 팀원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051560" y="224028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이현우 채널에서 새 기획안 관련 논의가 오갔지만, 다시 스크롤하며 읽기엔 메시지가 너무 많음.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051560" y="310896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해당 채널에 “@Hermes2 여기 요약해줘”라고 요청 — 회의록과 달리 파일 저장 없이 즉시 답장만 받으면 됨.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E9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51560" y="397764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봇이 최근 대화를 화자별로 정리하고, 결론과 남은 논의 필요 사항까지 한 번에 정리해 답장.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48640" y="4892040"/>
            <a:ext cx="365760" cy="36576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051560" y="484632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회의에 직접 참여하지 않았어도, 결론 위주로 30초 만에 맥락을 따라잡고 다음 회의에 바로 참여 가능.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903720" y="1417320"/>
            <a:ext cx="4709160" cy="4846320"/>
          </a:xfrm>
          <a:prstGeom prst="roundRect">
            <a:avLst>
              <a:gd fmla="val 2718" name="adj"/>
            </a:avLst>
          </a:prstGeom>
          <a:solidFill>
            <a:srgbClr val="20223A"/>
          </a:solidFill>
          <a:ln>
            <a:noFill/>
          </a:ln>
          <a:effectLst>
            <a:outerShdw blurRad="152400" rotWithShape="0" algn="bl" dir="5400000" dist="38100">
              <a:srgbClr val="8890C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7223760" y="1691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 이현우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9"/>
          <p:cNvCxnSpPr/>
          <p:nvPr/>
        </p:nvCxnSpPr>
        <p:spPr>
          <a:xfrm>
            <a:off x="7178040" y="2148840"/>
            <a:ext cx="4160520" cy="0"/>
          </a:xfrm>
          <a:prstGeom prst="straightConnector1">
            <a:avLst/>
          </a:prstGeom>
          <a:noFill/>
          <a:ln cap="flat" cmpd="sng" w="12700">
            <a:solidFill>
              <a:srgbClr val="3D4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9"/>
          <p:cNvSpPr/>
          <p:nvPr/>
        </p:nvSpPr>
        <p:spPr>
          <a:xfrm>
            <a:off x="7223760" y="2331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F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7CBFA"/>
                </a:solidFill>
                <a:latin typeface="Calibri"/>
                <a:ea typeface="Calibri"/>
                <a:cs typeface="Calibri"/>
                <a:sym typeface="Calibri"/>
              </a:rPr>
              <a:t>김정현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0149840" y="23317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3:29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223760" y="260604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A"/>
                </a:solidFill>
                <a:latin typeface="Calibri"/>
                <a:ea typeface="Calibri"/>
                <a:cs typeface="Calibri"/>
                <a:sym typeface="Calibri"/>
              </a:rPr>
              <a:t>@Hermes2 여기 요약해줘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7178040" y="3200400"/>
            <a:ext cx="4160520" cy="2606040"/>
          </a:xfrm>
          <a:prstGeom prst="roundRect">
            <a:avLst>
              <a:gd fmla="val 3509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74066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Hermes2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9921240" y="3401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3:30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7406640" y="37307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이현우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406640" y="4041648"/>
            <a:ext cx="3703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새 기획안 "봇 프롬프팅 아레나" 제안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F0F1F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4주 일정, 4인 역할 구조 제시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F0F1F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리스크: DSL 폭이 좁으면 프롬프트 차이가 승률에 안 드러날 수 있음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9"/>
          <p:cNvCxnSpPr/>
          <p:nvPr/>
        </p:nvCxnSpPr>
        <p:spPr>
          <a:xfrm>
            <a:off x="7406640" y="5166360"/>
            <a:ext cx="3703320" cy="0"/>
          </a:xfrm>
          <a:prstGeom prst="straightConnector1">
            <a:avLst/>
          </a:prstGeom>
          <a:noFill/>
          <a:ln cap="flat" cmpd="sng" w="12700">
            <a:solidFill>
              <a:srgbClr val="3D4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9"/>
          <p:cNvSpPr/>
          <p:nvPr/>
        </p:nvSpPr>
        <p:spPr>
          <a:xfrm>
            <a:off x="7406640" y="525780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CBF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7CBFA"/>
                </a:solidFill>
                <a:latin typeface="Calibri"/>
                <a:ea typeface="Calibri"/>
                <a:cs typeface="Calibri"/>
                <a:sym typeface="Calibri"/>
              </a:rPr>
              <a:t>결론: 5번째 기획안 검토 필요 · 오늘 목표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CBF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7CBFA"/>
                </a:solidFill>
                <a:latin typeface="Calibri"/>
                <a:ea typeface="Calibri"/>
                <a:cs typeface="Calibri"/>
                <a:sym typeface="Calibri"/>
              </a:rPr>
              <a:t>“기획안 1개 선정” 포함 여부 논의 필요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08  OUTPUT FORMAT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결과물 — 파일 구조와 회의록 포맷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48640" y="2103120"/>
            <a:ext cx="5029200" cy="416052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868680" y="235915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Team Zeteo/ 저장소 구조</a:t>
            </a:r>
            <a:endParaRPr b="1" i="0" sz="1300" u="none" cap="none" strike="noStrike">
              <a:solidFill>
                <a:srgbClr val="2022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68680" y="2834640"/>
            <a:ext cx="43891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회의록_자동화_시스템_기획.md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시스템/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  └ 와이어프레임.md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회의록/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  ├ 2026-07-29_PT_1차_회의록.md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  ├ 2026-07-29_PT_2차_회의록.md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20223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0223A"/>
                </a:solidFill>
                <a:latin typeface="Courier New"/>
                <a:ea typeface="Courier New"/>
                <a:cs typeface="Courier New"/>
                <a:sym typeface="Courier New"/>
              </a:rPr>
              <a:t>  └ ... (회차·주제별 누적)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852160" y="2103120"/>
            <a:ext cx="5760720" cy="4160520"/>
          </a:xfrm>
          <a:prstGeom prst="roundRect">
            <a:avLst>
              <a:gd fmla="val 2637" name="adj"/>
            </a:avLst>
          </a:prstGeom>
          <a:solidFill>
            <a:srgbClr val="20223A"/>
          </a:solidFill>
          <a:ln>
            <a:noFill/>
          </a:ln>
          <a:effectLst>
            <a:outerShdw blurRad="127000" rotWithShape="0" algn="bl" dir="5400000" dist="38100">
              <a:srgbClr val="8890C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172200" y="235915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회의록 파일 내부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172200" y="28163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FRONT MATTER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172200" y="310896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7E8F7"/>
                </a:solidFill>
                <a:latin typeface="Courier New"/>
                <a:ea typeface="Courier New"/>
                <a:cs typeface="Courier New"/>
                <a:sym typeface="Courier New"/>
              </a:rPr>
              <a:t>날짜: 2026-07-29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E8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7E8F7"/>
                </a:solidFill>
                <a:latin typeface="Courier New"/>
                <a:ea typeface="Courier New"/>
                <a:cs typeface="Courier New"/>
                <a:sym typeface="Courier New"/>
              </a:rPr>
              <a:t>회차: 2  (주제 태그별 자동 증가)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E8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7E8F7"/>
                </a:solidFill>
                <a:latin typeface="Courier New"/>
                <a:ea typeface="Courier New"/>
                <a:cs typeface="Courier New"/>
                <a:sym typeface="Courier New"/>
              </a:rPr>
              <a:t>채널: PT (1531546896525430915)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E8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7E8F7"/>
                </a:solidFill>
                <a:latin typeface="Courier New"/>
                <a:ea typeface="Courier New"/>
                <a:cs typeface="Courier New"/>
                <a:sym typeface="Courier New"/>
              </a:rPr>
              <a:t>참여자: [박진, 김정현]  ← 실명 변환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E8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7E8F7"/>
                </a:solidFill>
                <a:latin typeface="Courier New"/>
                <a:ea typeface="Courier New"/>
                <a:cs typeface="Courier New"/>
                <a:sym typeface="Courier New"/>
              </a:rPr>
              <a:t>제목: PT 서비스 기능 우선순위 논의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0"/>
          <p:cNvCxnSpPr/>
          <p:nvPr/>
        </p:nvCxnSpPr>
        <p:spPr>
          <a:xfrm>
            <a:off x="6172200" y="434340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3D4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0"/>
          <p:cNvSpPr/>
          <p:nvPr/>
        </p:nvSpPr>
        <p:spPr>
          <a:xfrm>
            <a:off x="6172200" y="4526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5865F2"/>
                </a:solidFill>
                <a:latin typeface="Courier New"/>
                <a:ea typeface="Courier New"/>
                <a:cs typeface="Courier New"/>
                <a:sym typeface="Courier New"/>
              </a:rPr>
              <a:t>## 현재 주제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046720" y="45262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그 시점 채널에서 다루던 주제를 한두 문장으로 압축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172200" y="50566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5865F2"/>
                </a:solidFill>
                <a:latin typeface="Courier New"/>
                <a:ea typeface="Courier New"/>
                <a:cs typeface="Courier New"/>
                <a:sym typeface="Courier New"/>
              </a:rPr>
              <a:t>## 논의 내용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046720" y="505663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원문 그대로가 아닌, 핵심 논점만 불릿으로 정리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172200" y="55869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5865F2"/>
                </a:solidFill>
                <a:latin typeface="Courier New"/>
                <a:ea typeface="Courier New"/>
                <a:cs typeface="Courier New"/>
                <a:sym typeface="Courier New"/>
              </a:rPr>
              <a:t>## 다음 목표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8046720" y="5586984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다음 논의에서 이어갈 결정사항·할 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09  SAFETY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Git 작업 안전장치 5원칙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“정상 상황에서는 끝까지 자동으로, 조금이라도 예상과 다르면 반드시 멈추고 사람에게 알린다”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48640" y="2148840"/>
            <a:ext cx="110642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890C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777240" y="2267712"/>
            <a:ext cx="402336" cy="402336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777240" y="22677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371600" y="214884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새 회의록 파일 외 다른 변경 사항이 있으면 즉시 중단 — 다른 팀원 작업물을 임의로 커밋하지 않음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48640" y="2926080"/>
            <a:ext cx="110642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890C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77240" y="3044952"/>
            <a:ext cx="402336" cy="402336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777240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371600" y="292608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main 브랜치가 아니면 중단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48640" y="3703320"/>
            <a:ext cx="110642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890C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777240" y="3822192"/>
            <a:ext cx="402336" cy="402336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777240" y="38221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371600" y="37033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반영 전 최신 이력을 먼저 받아오되, 충돌 시 자동 병합을 시도하지 않고 중단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48640" y="4480560"/>
            <a:ext cx="110642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890C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777240" y="4599432"/>
            <a:ext cx="402336" cy="402336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777240" y="45994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371600" y="448056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새로 생성한 회의록 파일 한 개만 선택적으로 반영 — 전체 변경사항 일괄 반영 금지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890C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77240" y="5376672"/>
            <a:ext cx="402336" cy="402336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777240" y="53766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371600" y="525780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23A"/>
                </a:solidFill>
                <a:latin typeface="Calibri"/>
                <a:ea typeface="Calibri"/>
                <a:cs typeface="Calibri"/>
                <a:sym typeface="Calibri"/>
              </a:rPr>
              <a:t>원격 저장소 반영이 거부·실패하면 강제로 밀어붙이지 않고, 정확한 오류와 함께 중단 후 보고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10  ITERATION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개발 과정 — 실사용 테스트 기반 반복 개선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1차 구현 후 실제 팀 서버에서 시험 사용 → 확인된 문제를 우선순위대로 순차 반영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548640" y="2148840"/>
            <a:ext cx="2606040" cy="36576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804672" y="23774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804672" y="2697480"/>
            <a:ext cx="502920" cy="502920"/>
          </a:xfrm>
          <a:prstGeom prst="ellipse">
            <a:avLst/>
          </a:prstGeom>
          <a:solidFill>
            <a:srgbClr val="F4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804672" y="3383280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가독성 문제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04672" y="39319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채널 요약이 한 문단에 몰려 가독성 저하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04672" y="48463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→ Discord 마크다운 기반 구조화 형식으로 개선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154680" y="379476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355848" y="2148840"/>
            <a:ext cx="2606040" cy="36576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3611880" y="23774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3611880" y="2697480"/>
            <a:ext cx="502920" cy="502920"/>
          </a:xfrm>
          <a:prstGeom prst="ellipse">
            <a:avLst/>
          </a:prstGeom>
          <a:solidFill>
            <a:srgbClr val="F4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3611880" y="3383280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핸들 노출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3611880" y="39319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 참여자가 Discord 핸들로만 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3611880" y="48463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→ 실명 매핑 인프라(team-map.json) 구축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961888" y="379476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6163056" y="2148840"/>
            <a:ext cx="2606040" cy="36576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6419088" y="23774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419088" y="2697480"/>
            <a:ext cx="502920" cy="502920"/>
          </a:xfrm>
          <a:prstGeom prst="ellipse">
            <a:avLst/>
          </a:prstGeom>
          <a:solidFill>
            <a:srgbClr val="F4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6419088" y="3383280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실명 미반영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419088" y="39319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매핑 인프라는 있었지만 반영 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419088" y="48463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→ 회의록 참여자 필드에 실명 표시 적용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8769096" y="379476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C6E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3C6E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8970264" y="2148840"/>
            <a:ext cx="2606040" cy="3657600"/>
          </a:xfrm>
          <a:prstGeom prst="roundRect">
            <a:avLst>
              <a:gd fmla="val 4211" name="adj"/>
            </a:avLst>
          </a:prstGeom>
          <a:solidFill>
            <a:srgbClr val="20223A"/>
          </a:solidFill>
          <a:ln>
            <a:noFill/>
          </a:ln>
          <a:effectLst>
            <a:outerShdw blurRad="101600" rotWithShape="0" algn="bl" dir="5400000" dist="25400">
              <a:srgbClr val="8890C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9226296" y="23774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9226296" y="2697480"/>
            <a:ext cx="502920" cy="502920"/>
          </a:xfrm>
          <a:prstGeom prst="ellipse">
            <a:avLst/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9226296" y="3383280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확인 누락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9226296" y="39319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완료돼도 결과물을 놓치기 쉬움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9226296" y="484632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→ 완료 후 참여자 전원 @멘션 리콜 알람 추가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B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1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1A8"/>
                </a:solidFill>
                <a:latin typeface="Calibri"/>
                <a:ea typeface="Calibri"/>
                <a:cs typeface="Calibri"/>
                <a:sym typeface="Calibri"/>
              </a:rPr>
              <a:t>11  SAFETY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23A"/>
                </a:solidFill>
                <a:latin typeface="Cambria"/>
                <a:ea typeface="Cambria"/>
                <a:cs typeface="Cambria"/>
                <a:sym typeface="Cambria"/>
              </a:rPr>
              <a:t>안전 관련 추가 고려사항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548640" y="2377440"/>
            <a:ext cx="5257800" cy="3017520"/>
          </a:xfrm>
          <a:prstGeom prst="roundRect">
            <a:avLst>
              <a:gd fmla="val 3636" name="adj"/>
            </a:avLst>
          </a:prstGeom>
          <a:solidFill>
            <a:srgbClr val="20223A"/>
          </a:solidFill>
          <a:ln>
            <a:noFill/>
          </a:ln>
          <a:effectLst>
            <a:outerShdw blurRad="127000" rotWithShape="0" algn="bl" dir="5400000" dist="38100">
              <a:srgbClr val="8890C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914400" y="2743200"/>
            <a:ext cx="777240" cy="777240"/>
          </a:xfrm>
          <a:prstGeom prst="ellipse">
            <a:avLst/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914400" y="3749040"/>
            <a:ext cx="4526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원본 코드 보존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914400" y="4251960"/>
            <a:ext cx="4526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D5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3D5F2"/>
                </a:solidFill>
                <a:latin typeface="Calibri"/>
                <a:ea typeface="Calibri"/>
                <a:cs typeface="Calibri"/>
                <a:sym typeface="Calibri"/>
              </a:rPr>
              <a:t>플러그인 원본 코드를 직접 수정하는 작업 특성상, 수정 전 항상 별도 백업 파일을 남겨 언제든 이전 상태로 되돌릴 수 있도록 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6080760" y="2377440"/>
            <a:ext cx="5257800" cy="3017520"/>
          </a:xfrm>
          <a:prstGeom prst="roundRect">
            <a:avLst>
              <a:gd fmla="val 3636" name="adj"/>
            </a:avLst>
          </a:prstGeom>
          <a:solidFill>
            <a:srgbClr val="20223A"/>
          </a:solidFill>
          <a:ln>
            <a:noFill/>
          </a:ln>
          <a:effectLst>
            <a:outerShdw blurRad="127000" rotWithShape="0" algn="bl" dir="5400000" dist="38100">
              <a:srgbClr val="8890C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6446520" y="2743200"/>
            <a:ext cx="777240" cy="777240"/>
          </a:xfrm>
          <a:prstGeom prst="ellipse">
            <a:avLst/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6446520" y="3749040"/>
            <a:ext cx="4526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프롬프트 인젝션 방어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6446520" y="4251960"/>
            <a:ext cx="4526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D5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3D5F2"/>
                </a:solidFill>
                <a:latin typeface="Calibri"/>
                <a:ea typeface="Calibri"/>
                <a:cs typeface="Calibri"/>
                <a:sym typeface="Calibri"/>
              </a:rPr>
              <a:t>채널 메시지 내용에 지시문처럼 보이는 텍스트가 포함돼도, 이는 요약 대상 데이터로만 취급하고 실행하지 않도록 각 Skill에 명시함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23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향후 확장 여지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fmla="val 48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202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822960" y="25603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동적 매핑 조회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822960" y="292608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채널/팀원 매핑을 수작업 대신 실시간 조회로 대체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4297680" y="1600200"/>
            <a:ext cx="3520440" cy="2286000"/>
          </a:xfrm>
          <a:prstGeom prst="roundRect">
            <a:avLst>
              <a:gd fmla="val 48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rgbClr val="202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4572000" y="25603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예외 채널 처리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4572000" y="292608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특정 채널을 서버 단위 허용 범위에서 예외 처리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8046720" y="1600200"/>
            <a:ext cx="3520440" cy="2286000"/>
          </a:xfrm>
          <a:prstGeom prst="roundRect">
            <a:avLst>
              <a:gd fmla="val 4800" name="adj"/>
            </a:avLst>
          </a:prstGeom>
          <a:solidFill>
            <a:srgbClr val="2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rgbClr val="202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8321040" y="25603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주기적 자동 실행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8321040" y="292608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회의록 작성을 매일 정해진 시각에 자동 실행 (현재는 명령 시에만 동작)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4"/>
          <p:cNvCxnSpPr/>
          <p:nvPr/>
        </p:nvCxnSpPr>
        <p:spPr>
          <a:xfrm>
            <a:off x="548640" y="425196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D4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14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5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65F2"/>
                </a:solidFill>
                <a:latin typeface="Calibri"/>
                <a:ea typeface="Calibri"/>
                <a:cs typeface="Calibri"/>
                <a:sym typeface="Calibri"/>
              </a:rPr>
              <a:t>최종 산출물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548640" y="48006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1FB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channel-summarize / meeting-minutes Skill 문서 2종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0F1FB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팀원·채널 매핑 데이터 (team-map.json)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0F1FB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Discord 연동 플러그인 확장 코드 (서버 단위 접근, 참여자ID 노출)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0F1FB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F0F1FB"/>
                </a:solidFill>
                <a:latin typeface="Calibri"/>
                <a:ea typeface="Calibri"/>
                <a:cs typeface="Calibri"/>
                <a:sym typeface="Calibri"/>
              </a:rPr>
              <a:t>회의록 결과물 — 회의록/ 폴더에 누적 저장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1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1D6"/>
                </a:solidFill>
                <a:latin typeface="Calibri"/>
                <a:ea typeface="Calibri"/>
                <a:cs typeface="Calibri"/>
                <a:sym typeface="Calibri"/>
              </a:rPr>
              <a:t>회의록·채널 요약 자동화 시스템  ·  Zeteo  ·  2026-07-29</a:t>
            </a:r>
            <a:endParaRPr b="0" i="0" sz="1000" u="none" cap="none" strike="noStrike">
              <a:solidFill>
                <a:srgbClr val="AEB1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2026-07-30T00:42:50.000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