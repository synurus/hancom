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Noto Sans KR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uYD43xeW59LYwILLJr5LRt9eY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KR-bold.fntdata"/><Relationship Id="rId6" Type="http://schemas.openxmlformats.org/officeDocument/2006/relationships/slide" Target="slides/slide1.xml"/><Relationship Id="rId18" Type="http://schemas.openxmlformats.org/officeDocument/2006/relationships/font" Target="fonts/NotoSansK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TeamB 넷은 각자 다른 파트를 맡아 다른 스타일로 코드를 씁니다. 서로의 코드를 공부할 때 최대한 이해할 수 있도록, 확인 가능한 체크리스트를 먼저 만들었습니다. </a:t>
            </a:r>
            <a:br>
              <a:rPr lang="ko-KR"/>
            </a:br>
            <a:r>
              <a:rPr lang="ko-KR"/>
              <a:t>네 명이 각자 다른 파트(서버·DB · 봇 · 게임 화면 · 공통 화면)를 맡아, 각자의 스타일로 코드를 씁니다. 서로의 코드를 읽어야 할 때 이해하는 데 시간이 걸립니다. </a:t>
            </a:r>
            <a:br>
              <a:rPr lang="ko-KR"/>
            </a:br>
            <a:r>
              <a:rPr lang="ko-KR"/>
              <a:t>'좋은 코드'라는 감이 아니라, 사람 하나를 앉혀놓고 시켜보면 답이 나오는 질문 4가지로 판정 기준을 먼저 만들었습니다. </a:t>
            </a:r>
            <a:br>
              <a:rPr lang="ko-KR"/>
            </a:br>
            <a:r>
              <a:rPr lang="ko-KR"/>
              <a:t>이 체크리스트를 만족하도록 코드를 정리하는 것 — 그것이 cleanflow가 클린 코드를 적용하는 기준입니다.</a:t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체크리스트를 만족시키되, 실제 로직에는 손대지 않는 것이 원칙입니다. </a:t>
            </a:r>
            <a:br>
              <a:rPr lang="ko-KR"/>
            </a:br>
            <a:r>
              <a:rPr lang="ko-KR"/>
              <a:t>① 함수 본문(로직)은 한 글자도 바꾸지 않습니다. 바뀌는 것은 오직 주석과 위치뿐입니다. </a:t>
            </a:r>
            <a:br>
              <a:rPr lang="ko-KR"/>
            </a:br>
            <a:r>
              <a:rPr lang="ko-KR"/>
              <a:t>② 흩어져 있던 관련 함수·상수를 찾아, 하나의 구역으로 재배치합니다. </a:t>
            </a:r>
            <a:br>
              <a:rPr lang="ko-KR"/>
            </a:br>
            <a:r>
              <a:rPr lang="ko-KR"/>
              <a:t>③ 구역이 바뀌는 지점마다 구분 주석을 남겨, 다음 사람이 흐름을 한눈에 알 수 있게 합니다.</a:t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'좋은 코드', '유지보수하기 쉬운 코드'는 판정할 방법이 없다. 이 정의는 사람 하나를 앉혀놓고 시켜보면 바로 답이 나온다 — 확인 가능하다는 것이 이 정의를 고른 이유다. </a:t>
            </a:r>
            <a:br>
              <a:rPr lang="ko-KR"/>
            </a:br>
            <a:r>
              <a:rPr lang="ko-KR"/>
              <a:t>① 순서가 흐름을 따를 것 — 읽다가 되돌아가지 않아도 된다(배치의 문제). </a:t>
            </a:r>
            <a:br>
              <a:rPr lang="ko-KR"/>
            </a:br>
            <a:r>
              <a:rPr lang="ko-KR"/>
              <a:t>② 흐름만으로 알 수 없는 것이 적혀 있을 것 — 왜 이 방식인지(주석의 문제). </a:t>
            </a:r>
            <a:br>
              <a:rPr lang="ko-KR"/>
            </a:br>
            <a:r>
              <a:rPr lang="ko-KR"/>
              <a:t>둘은 한 몸이다. ①은 한 번 정리하면 끝나지만 규칙이 눈에 안 보이면 다음 사람이 또 끝에 붙인다. ②의 구분선이 ①을 눈에 보이게 고정해서 그걸 막는다.</a:t>
            </a:r>
            <a:endParaRPr/>
          </a:p>
        </p:txBody>
      </p:sp>
      <p:sp>
        <p:nvSpPr>
          <p:cNvPr id="199" name="Google Shape;1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디스코드에 파일 경로 한 줄 → cleanflow가 정의·기획·개발 → PR까지. 머지는 사람이 한다. </a:t>
            </a:r>
            <a:br>
              <a:rPr lang="ko-KR"/>
            </a:br>
            <a:r>
              <a:rPr lang="ko-KR"/>
              <a:t>중요: 자동으로 dev에 들어가지 않는다. cleanflow는 PR을 여는 데까지만 하고, 머지는 사람이 한다.</a:t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멈춤 ① 최신 확인 단계. 미병합 변경이 있으면 '그거 먼저 머지해주세요'. </a:t>
            </a:r>
            <a:br>
              <a:rPr lang="ko-KR"/>
            </a:br>
            <a:r>
              <a:rPr lang="ko-KR"/>
              <a:t>멈춤 ② 판정 4문항. 하나도 안 걸리면 '이 파일은 됐습니다' — 아무것도 안 하고 끝나는 게 정상 결과. </a:t>
            </a:r>
            <a:br>
              <a:rPr lang="ko-KR"/>
            </a:br>
            <a:r>
              <a:rPr lang="ko-KR"/>
              <a:t>멈춤 ③ 커밋 1 검증. 구분선 뺀 줄을 정렬해 이전과 다르면 커밋하지 않는다. </a:t>
            </a:r>
            <a:br>
              <a:rPr lang="ko-KR"/>
            </a:br>
            <a:r>
              <a:rPr lang="ko-KR"/>
              <a:t>한 문장으로 안 써지면 책임이 둘이라는 뜻 — 막지는 않되 PR에 적어 남긴다. </a:t>
            </a:r>
            <a:br>
              <a:rPr lang="ko-KR"/>
            </a:br>
            <a:r>
              <a:rPr lang="ko-KR"/>
              <a:t>멈춤 ②가 이 시스템의 성격을 정한다.</a:t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커밋을 둘로 쪼개, diff로 증명한다. 테스트가 없는 저장소라, diff 자체를 증거로 쓰는 것이 유일하게 쓸 만한 방법이다. </a:t>
            </a:r>
            <a:br>
              <a:rPr lang="ko-KR"/>
            </a:br>
            <a:r>
              <a:rPr lang="ko-KR"/>
              <a:t>커밋1(이동만): 선언 재배치 · 구분선 삽입 · 기존 주석은 딸려서 이동. 함수 본문 변경 0 → 동작이 안 바뀜 → 구분선 뺀 줄을 정렬해서 이전과 비교, 순서만 바뀌었으면 일치. </a:t>
            </a:r>
            <a:br>
              <a:rPr lang="ko-KR"/>
            </a:br>
            <a:r>
              <a:rPr lang="ko-KR"/>
              <a:t>커밋2(주석만): 파일 머리(책임+구역 지도) · 각 결정의 '왜'. 코드 변경 0 → 코드가 안 바뀜 → diff의 +/- 줄이 전부 주석인지 확인. </a:t>
            </a:r>
            <a:br>
              <a:rPr lang="ko-KR"/>
            </a:br>
            <a:r>
              <a:rPr lang="ko-KR"/>
              <a:t>이후 두 커밋 모두 npx tsc --noEmit 통과를 확인한다. 리뷰어는 커밋 1만 봐도 안전 확인이 끝나도록 설계했다.</a:t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실제로 cleanflow 기준에 맞춰 정리한 예시. 로직(함수 본문)은 한 글자도 안 바꾸고, 배치와 주석만 바꿨다. </a:t>
            </a:r>
            <a:br>
              <a:rPr lang="ko-KR"/>
            </a:br>
            <a:r>
              <a:rPr lang="ko-KR"/>
              <a:t>함수 순서: before는 쓴 순서 그대로(joinRoom → deleteRoom → createRoom 순으로 뒤섞임), after는 로비 흐름 순서(createRoom → getRoom → … → removePlayerFromLobby)로 재배치. 함수 본문은 그대로. </a:t>
            </a:r>
            <a:br>
              <a:rPr lang="ko-KR"/>
            </a:br>
            <a:r>
              <a:rPr lang="ko-KR"/>
              <a:t>주석: before는 '// 라벨 뽑기' '// 완료 플래그'처럼 뭘 하는지만 반복. after는 라벨을 무작위로 뽑는 이유(참가 순서 역산 방지), finalized 가드가 필요한 이유(웹훅 중복 방지)를 명시. </a:t>
            </a:r>
            <a:br>
              <a:rPr lang="ko-KR"/>
            </a:br>
            <a:r>
              <a:rPr lang="ko-KR"/>
              <a:t>로직은 한 글자도 안 바뀜 — 정렬해서 비교하면 코드 줄은 완전히 일치. 코드는 그대로 두고 배치와 주석만 정리했다.</a:t>
            </a:r>
            <a:endParaRPr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정의 없이 배치부터 하면 취향 싸움이 된다 — ①정의 단계를 건너뛰고 바로 함수를 옮기면, 무엇을 기준으로 옮기는지가 사라진다. </a:t>
            </a:r>
            <a:br>
              <a:rPr lang="ko-KR"/>
            </a:br>
            <a:r>
              <a:rPr lang="ko-KR"/>
              <a:t>틀린 주석이 없는 주석보다 나쁘다 — LLM은 그럴듯한 이유를 잘 만들어낸다. 추정과 확인을 가르는 갈림길이 유일한 방어선이다. </a:t>
            </a:r>
            <a:br>
              <a:rPr lang="ko-KR"/>
            </a:br>
            <a:r>
              <a:rPr lang="ko-KR"/>
              <a:t>완벽한 차단보다 값싼 재실행 설계가 낫다 — 겹침을 100% 막을 수 없다면, 버리고 다시 하는 비용을 낮추는 쪽이 현실적이다. </a:t>
            </a:r>
            <a:br>
              <a:rPr lang="ko-KR"/>
            </a:br>
            <a:r>
              <a:rPr lang="ko-KR"/>
              <a:t>순서 정리는 목적이 아니라 탐지 도구다 — '이걸 어디 놓지?'가 안 나오는 함수가 곧 구조 문제, 정리 과정에서 그게 드러난다.</a:t>
            </a:r>
            <a:endParaRPr/>
          </a:p>
        </p:txBody>
      </p:sp>
      <p:sp>
        <p:nvSpPr>
          <p:cNvPr id="380" name="Google Shape;3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테스트 없는 저장소에서, diff 자체를 '동작이 안 바뀌었다'는 증거로 쓴다. 커밋을 이동/주석으로 완전히 분리하고, 각각을 기계적으로 검증 가능한 형태로 만든 것이 이 시스템의 핵심 설계다. </a:t>
            </a:r>
            <a:br>
              <a:rPr lang="ko-KR"/>
            </a:br>
            <a:r>
              <a:rPr lang="ko-KR"/>
              <a:t>'이 파일은 됐다'를 말할 수 있는 규칙 — 모든 파일을 뜯어고치는 규칙은 취향이다. 막히는 파일에만 걸리는 규칙이 좋은 규칙이다. </a:t>
            </a:r>
            <a:br>
              <a:rPr lang="ko-KR"/>
            </a:br>
            <a:r>
              <a:rPr lang="ko-KR"/>
              <a:t>허락이 아니라 통보 + 받아쓰는 법 — 물어보면 진도가 멈춘다. 먼저 바꾸고 받아쓰는 세 가지 방법을 함께 준다.</a:t>
            </a:r>
            <a:endParaRPr/>
          </a:p>
        </p:txBody>
      </p:sp>
      <p:sp>
        <p:nvSpPr>
          <p:cNvPr id="404" name="Google Shape;4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50976" y="38404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 · 클린 코드 검수 시스템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12648" y="1115568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4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22128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A6B50"/>
                </a:solidFill>
                <a:latin typeface="Consolas"/>
                <a:ea typeface="Consolas"/>
                <a:cs typeface="Consolas"/>
                <a:sym typeface="Consolas"/>
              </a:rPr>
              <a:t>// 코드에 읽는 순서를 만드는 시스템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40080" y="2651760"/>
            <a:ext cx="7498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"좋은 코드를 알아볼 수 있는가?"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40080" y="3520440"/>
            <a:ext cx="6126480" cy="749808"/>
          </a:xfrm>
          <a:prstGeom prst="roundRect">
            <a:avLst>
              <a:gd fmla="val 14000" name="adj"/>
            </a:avLst>
          </a:prstGeom>
          <a:solidFill>
            <a:srgbClr val="F3F6F5"/>
          </a:solidFill>
          <a:ln cap="flat" cmpd="sng" w="12700">
            <a:solidFill>
              <a:srgbClr val="E4E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40080" y="3520440"/>
            <a:ext cx="41148" cy="74980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60120" y="3779350"/>
            <a:ext cx="5577840" cy="231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A6B50"/>
                </a:solidFill>
                <a:latin typeface="Consolas"/>
                <a:ea typeface="Consolas"/>
                <a:cs typeface="Consolas"/>
                <a:sym typeface="Consolas"/>
              </a:rPr>
              <a:t>#cleanflow   apps/backend/src/room.ts</a:t>
            </a:r>
            <a:endParaRPr b="0" i="0" sz="1400" u="none" cap="none" strike="noStrike">
              <a:solidFill>
                <a:srgbClr val="0A6B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40080" y="5989320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40080" y="6144768"/>
            <a:ext cx="2194560" cy="1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발표팀   Zeteo</a:t>
            </a:r>
            <a:endParaRPr b="0" i="0" sz="1150" u="none" cap="none" strike="noStrike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063240" y="6144768"/>
            <a:ext cx="2651760" cy="1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 · 클린 코드 시스템</a:t>
            </a:r>
            <a:endParaRPr b="0" i="0" sz="1150" u="none" cap="none" strike="noStrike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750040" y="2011680"/>
            <a:ext cx="12700" cy="310896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 rot="5400000">
            <a:off x="10561320" y="3429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CLEANFLOW · 4주차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681228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81228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박진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220109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220109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이현우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3853927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853927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김정현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409752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09752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유민성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50976" y="38404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40080" y="8412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 u="none" cap="none" strike="noStrike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 u="none" cap="none" strike="noStrike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03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12175" y="1302950"/>
            <a:ext cx="10909200" cy="888900"/>
          </a:xfrm>
          <a:prstGeom prst="roundRect">
            <a:avLst>
              <a:gd fmla="val 9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12175" y="1302950"/>
            <a:ext cx="50700" cy="8889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02675" y="1585867"/>
            <a:ext cx="317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01   기획 배경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4168175" y="1612798"/>
            <a:ext cx="711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1-1 무슨 어려움? · 1-2 이런 어려움으로 만든 체크리스트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12175" y="2344350"/>
            <a:ext cx="10909200" cy="888900"/>
          </a:xfrm>
          <a:prstGeom prst="roundRect">
            <a:avLst>
              <a:gd fmla="val 9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12175" y="2344350"/>
            <a:ext cx="50700" cy="8889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802675" y="2627267"/>
            <a:ext cx="317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02   시스템 설계도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4168175" y="2654198"/>
            <a:ext cx="711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흐름 설명 — 전체 구조 · 처리 흐름 · 검증 방식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612175" y="3385750"/>
            <a:ext cx="10909200" cy="888900"/>
          </a:xfrm>
          <a:prstGeom prst="roundRect">
            <a:avLst>
              <a:gd fmla="val 9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12175" y="3385750"/>
            <a:ext cx="50700" cy="8889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02675" y="3668667"/>
            <a:ext cx="317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03   활용 방안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168175" y="3695598"/>
            <a:ext cx="711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3-1 이전 코드 예시 → 바뀐 코드 · 실사용 시나리오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635000" y="5384800"/>
            <a:ext cx="10909200" cy="888900"/>
          </a:xfrm>
          <a:prstGeom prst="roundRect">
            <a:avLst>
              <a:gd fmla="val 9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35000" y="5384800"/>
            <a:ext cx="50700" cy="8889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825500" y="5667717"/>
            <a:ext cx="3175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05   알게 된 점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612175" y="4385275"/>
            <a:ext cx="10909200" cy="888900"/>
          </a:xfrm>
          <a:prstGeom prst="roundRect">
            <a:avLst>
              <a:gd fmla="val 9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12175" y="4385275"/>
            <a:ext cx="50700" cy="8889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2675" y="4668192"/>
            <a:ext cx="317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04   </a:t>
            </a:r>
            <a:r>
              <a:rPr b="1" lang="ko-KR" sz="15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영상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1-1. 무슨 어려움?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사람이 쓴 코드를, 최대한 이해할 수 있게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스타일의 코드 → 확인 가능한 체크리스트로 대응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40080" y="2148840"/>
            <a:ext cx="5349240" cy="13716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400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22960" y="233172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— 사람마다 다른 코드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2960" y="2679192"/>
            <a:ext cx="4983480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각자 다른 스타일의 코드 → 서로 읽는 데 시간 걸림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126480" y="2148840"/>
            <a:ext cx="5349240" cy="13716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1264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309360" y="233172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대응 — 확인 가능한 체크리스트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309360" y="2679192"/>
            <a:ext cx="4983480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감이 아니라, 답이 바로 나오는 질문 4가지로 판정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35000" y="3822700"/>
            <a:ext cx="10909300" cy="1397000"/>
          </a:xfrm>
          <a:prstGeom prst="roundRect">
            <a:avLst>
              <a:gd fmla="val 4500" name="adj"/>
            </a:avLst>
          </a:prstGeom>
          <a:solidFill>
            <a:srgbClr val="EAF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35000" y="3923665"/>
            <a:ext cx="50800" cy="119507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965200" y="4381500"/>
            <a:ext cx="102489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체크리스트 충족 = cleanflow의 클린 코드 기준</a:t>
            </a:r>
            <a:endParaRPr b="1" i="0" sz="16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1-2. 이런 어려움으로 만든 체크리스트 (원칙)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코드는 건드리지 않는다 — 옮기고, 묶고, 구분한다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로직은 안 건드리고, 배치와 주석만 바꾼다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241800" y="18288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241800" y="18288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419600" y="20066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① 코드 자체는 건드리지 않는다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4419600" y="23622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 0글자 변경 — 주석과 위치만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241800" y="33909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241800" y="33909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4419600" y="35687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② 관련 내용은 전체로 묶는다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4419600" y="39243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흩어진 관련 함수·상수를 한 구역으로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241800" y="49530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241800" y="49530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4419600" y="51308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③ 묶은 파트가 끝나면 주석으로 구분한다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4419600" y="54864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구역 경계마다 구분 주석 남기기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05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35000" y="1828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35000" y="1944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838200" y="1930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윤곽이 잡히는가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35000" y="2971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35000" y="3087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838200" y="3073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선언 하나 찾을 때 전체를 봐야하는가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35000" y="4114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35000" y="4230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838200" y="4216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책임을 한 문장으로 말할 수 있는가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35000" y="5257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35000" y="5373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38200" y="5359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안 드러난 이유가 있는가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1-2. 이런 어려움으로 만든 체크리스트 (정의)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우리에게 클린 코드란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40080" y="1737360"/>
            <a:ext cx="10908792" cy="1600200"/>
          </a:xfrm>
          <a:prstGeom prst="roundRect">
            <a:avLst>
              <a:gd fmla="val 4500" name="adj"/>
            </a:avLst>
          </a:prstGeom>
          <a:solidFill>
            <a:srgbClr val="EAF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40080" y="1737360"/>
            <a:ext cx="54864" cy="16002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969264" y="1938528"/>
            <a:ext cx="10250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처음 읽는 사람이 위에서 아래로 한 번 훑어서 이해할 수 있는 코드.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969264" y="2752344"/>
            <a:ext cx="10250424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불가능한 감 대신, 확인 가능한 정의를 골랐다</a:t>
            </a:r>
            <a:endParaRPr b="0" i="0" sz="11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40080" y="3566160"/>
            <a:ext cx="5349240" cy="123444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40080" y="356616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374904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① 순서가 흐름을 따를 것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22960" y="4096512"/>
            <a:ext cx="49834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읽다가 되돌아가지 않아도 된다 — 배치의 문제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126480" y="3566160"/>
            <a:ext cx="5349240" cy="123444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126480" y="356616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6309360" y="374904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② 흐름만으로 알 수 없는 것이 적혀 있을 것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6309360" y="4096512"/>
            <a:ext cx="49834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왜 이 방식인지 — 주석의 문제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전체 그림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그림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640080" y="144475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 한 줄 → cleanflow가 정의·기획·개발 → PR까지. 머지는 사람이 한다.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09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635000" y="2349500"/>
            <a:ext cx="2667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62000" y="2349500"/>
            <a:ext cx="2413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825500" y="250190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사람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825500" y="29464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경로를 남긴다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35000" y="2349500"/>
            <a:ext cx="2667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35000" y="2349500"/>
            <a:ext cx="2667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825500" y="250190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사람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25500" y="2946400"/>
            <a:ext cx="2286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경로를 남긴다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3378200" y="3263900"/>
            <a:ext cx="635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3378200" y="2971800"/>
            <a:ext cx="63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경로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089400" y="2349500"/>
            <a:ext cx="3810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216400" y="2349500"/>
            <a:ext cx="3556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4279900" y="2501900"/>
            <a:ext cx="3429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4279900" y="28956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정의   책임 한 문장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4279900" y="31750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기획   구역 나누기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4279900" y="34544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개발   재배치 + 주석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4279900" y="3835400"/>
            <a:ext cx="3429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↓ 판정에서 멈출 수 있음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975600" y="3263900"/>
            <a:ext cx="635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7721600" y="2971800"/>
            <a:ext cx="1143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· PR</a:t>
            </a:r>
            <a:endParaRPr sz="10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8686800" y="2349500"/>
            <a:ext cx="28575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813800" y="2349500"/>
            <a:ext cx="2603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8877300" y="2501900"/>
            <a:ext cx="24765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저장소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8877300" y="28956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Zeteo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8877300" y="3136900"/>
            <a:ext cx="24765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chore/ 브랜치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8877300" y="35179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PR #N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8877300" y="38862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TeamB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8877300" y="4127500"/>
            <a:ext cx="24765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4주차/정리기록/</a:t>
            </a:r>
            <a:endParaRPr sz="10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635000" y="4622800"/>
            <a:ext cx="34544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통보 (-logs 채널)</a:t>
            </a:r>
            <a:endParaRPr sz="9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35000" y="4826000"/>
            <a:ext cx="3454400" cy="203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35000" y="5156200"/>
            <a:ext cx="10909300" cy="9906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35000" y="5233924"/>
            <a:ext cx="50800" cy="835152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825500" y="5308600"/>
            <a:ext cx="1016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④ 활용은 사람이 한다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825500" y="5638800"/>
            <a:ext cx="10160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정리된 파일로 실제 작업 → 자리가 자명한지 확인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처리 흐름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멈추는 지점이 셋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40080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40080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877824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①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877824" y="2395728"/>
            <a:ext cx="3090672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미병합 변경 있으면 먼저 머지 요청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334256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334256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4572000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②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4572000" y="2395728"/>
            <a:ext cx="3090672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4문항 다 통과 = '이 파일은 됐습니다'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8028432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028432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8266176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③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8266176" y="2395728"/>
            <a:ext cx="3090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변경시</a:t>
            </a: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 커밋 자체를 안 함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40080" y="4389120"/>
            <a:ext cx="10908792" cy="1234440"/>
          </a:xfrm>
          <a:prstGeom prst="roundRect">
            <a:avLst>
              <a:gd fmla="val 6000" name="adj"/>
            </a:avLst>
          </a:prstGeom>
          <a:solidFill>
            <a:srgbClr val="FBF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40080" y="4389120"/>
            <a:ext cx="54864" cy="1234440"/>
          </a:xfrm>
          <a:prstGeom prst="rect">
            <a:avLst/>
          </a:prstGeom>
          <a:solidFill>
            <a:srgbClr val="B87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877824" y="4535424"/>
            <a:ext cx="10488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87A1F"/>
                </a:solidFill>
                <a:latin typeface="Noto Sans KR"/>
                <a:ea typeface="Noto Sans KR"/>
                <a:cs typeface="Noto Sans KR"/>
                <a:sym typeface="Noto Sans KR"/>
              </a:rPr>
              <a:t>한 문장으로 안 써지면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877824" y="4864608"/>
            <a:ext cx="10488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8551B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책임이 둘이라는 뜻 — 막지는 않되 PR에 적어 남긴다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640080" y="5779008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3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②가 이 시스템의 성격을 정한다.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자동 검증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커밋을 둘로 쪼개, diff로 증명한다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테스트가 없어 diff 자체를 증거로 쓴다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768096" y="2468880"/>
            <a:ext cx="15621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커밋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2586228" y="2468880"/>
            <a:ext cx="3380232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6222492" y="2468880"/>
            <a:ext cx="2016633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 보증하나</a:t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8495157" y="2468880"/>
            <a:ext cx="2925699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어떻게 검증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40080" y="3145028"/>
            <a:ext cx="10908792" cy="15875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768096" y="3285744"/>
            <a:ext cx="1562100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1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이동만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2586228" y="3440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선언 재배치 + 구분선. 본문 변경 0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6222492" y="3285744"/>
            <a:ext cx="2016633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동작이 안 바뀜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8495157" y="3440912"/>
            <a:ext cx="2925699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정렬 비교 — 순서만 바뀌면 일치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40080" y="3910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768096" y="4047744"/>
            <a:ext cx="1562100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2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주석만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2586228" y="4202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머리 + 결정의 '왜'. 코드 변경 0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6222492" y="4047744"/>
            <a:ext cx="2016633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코드가 안 바뀜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8495157" y="4047744"/>
            <a:ext cx="2925699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diff의 +/- 줄이 전부 주석인지 확인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640080" y="4672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640080" y="5029200"/>
            <a:ext cx="10908792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두 커밋 모두 tsc 통과 확인 — 리뷰는 커밋1만 봐도 충분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04 · 활용 방안 — 4-1. 이전 코드 예시 → 바뀐 코드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640080" y="841248"/>
            <a:ext cx="10881360" cy="423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room.ts, 순서와 주석만 정리했다</a:t>
            </a:r>
            <a:endParaRPr b="1" i="0" sz="26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 0글자 변경 — 배치와 주석만 정리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768096" y="2954005"/>
            <a:ext cx="1562100" cy="1854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구분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2586228" y="2953427"/>
            <a:ext cx="3380232" cy="186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Before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6222492" y="2953427"/>
            <a:ext cx="2016633" cy="186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After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8495157" y="2954005"/>
            <a:ext cx="2925699" cy="1854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바뀌었나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40080" y="3145028"/>
            <a:ext cx="10908792" cy="15875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768096" y="3440912"/>
            <a:ext cx="1562100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함수 순서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2586228" y="3332582"/>
            <a:ext cx="3380232" cy="412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쓴 순서 그대로 — joinRoom → deleteRoom → createRoom 순으로 뒤섞임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6" name="Google Shape;336;p9"/>
          <p:cNvSpPr txBox="1"/>
          <p:nvPr/>
        </p:nvSpPr>
        <p:spPr>
          <a:xfrm>
            <a:off x="6222492" y="3440912"/>
            <a:ext cx="2016633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로비 흐름 순서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8495157" y="3224251"/>
            <a:ext cx="2925699" cy="628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createRoom → getRoom → … → removePlayerFromLobby로 재배치. 함수 본문은 그대로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40080" y="3910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768096" y="4202912"/>
            <a:ext cx="1562100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주석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2586228" y="4202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// 라벨 뽑기 · // 완료 플래그 — 뭘 하는지만 반복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6222492" y="4202912"/>
            <a:ext cx="2016633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왜 이렇게 했는지가 드러남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8495157" y="4202913"/>
            <a:ext cx="2925699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라벨 무작위 이유, finalized 가드 이유 명시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40080" y="4672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640080" y="5029200"/>
            <a:ext cx="10908792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정렬 비교 시 코드 줄 완전 일치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>
            <a:off x="9966960" y="6547104"/>
            <a:ext cx="1581912" cy="15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13</a:t>
            </a:r>
            <a:endParaRPr b="1" i="0" sz="9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"/>
          <p:cNvSpPr/>
          <p:nvPr/>
        </p:nvSpPr>
        <p:spPr>
          <a:xfrm>
            <a:off x="635000" y="3390900"/>
            <a:ext cx="10909300" cy="2590800"/>
          </a:xfrm>
          <a:prstGeom prst="roundRect">
            <a:avLst>
              <a:gd fmla="val 35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35000" y="571500"/>
            <a:ext cx="10909300" cy="2590800"/>
          </a:xfrm>
          <a:prstGeom prst="roundRect">
            <a:avLst>
              <a:gd fmla="val 35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35000" y="6451600"/>
            <a:ext cx="10909300" cy="12700"/>
          </a:xfrm>
          <a:prstGeom prst="rect">
            <a:avLst/>
          </a:prstGeom>
          <a:gradFill>
            <a:gsLst>
              <a:gs pos="0">
                <a:srgbClr val="E4E9E6"/>
              </a:gs>
              <a:gs pos="100000">
                <a:srgbClr val="96C0FF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635000" y="6553200"/>
            <a:ext cx="54864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 sz="950">
              <a:solidFill>
                <a:srgbClr val="9BA5A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9969500" y="6553200"/>
            <a:ext cx="1587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14</a:t>
            </a:r>
            <a:endParaRPr sz="950">
              <a:solidFill>
                <a:srgbClr val="9BA5A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825500" y="1003300"/>
            <a:ext cx="11336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Consolas"/>
                <a:ea typeface="Consolas"/>
                <a:cs typeface="Consolas"/>
                <a:sym typeface="Consolas"/>
              </a:rPr>
              <a:t>132~134번째 줄</a:t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825500" y="1231900"/>
            <a:ext cx="61318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825500" y="1460500"/>
            <a:ext cx="27334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room.readyIds.add(playerId);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825500" y="16891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825500" y="2070100"/>
            <a:ext cx="11336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Consolas"/>
                <a:ea typeface="Consolas"/>
                <a:cs typeface="Consolas"/>
                <a:sym typeface="Consolas"/>
              </a:rPr>
              <a:t>110~112번째 줄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25500" y="2298700"/>
            <a:ext cx="6301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unmarkReady(room: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25500" y="2527300"/>
            <a:ext cx="29883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room.readyIds.delete(playerId);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825500" y="27559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825500" y="3822700"/>
            <a:ext cx="597471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50">
                <a:solidFill>
                  <a:srgbClr val="0E8F6B"/>
                </a:solidFill>
                <a:latin typeface="Consolas"/>
                <a:ea typeface="Consolas"/>
                <a:cs typeface="Consolas"/>
                <a:sym typeface="Consolas"/>
              </a:rPr>
              <a:t>// add/delete로 나뉜 건 index.ts의 case 'ready'가 같은 액션을 토글로 쓰기 때문이다</a:t>
            </a:r>
            <a:endParaRPr/>
          </a:p>
        </p:txBody>
      </p:sp>
      <p:sp>
        <p:nvSpPr>
          <p:cNvPr id="366" name="Google Shape;366;p10"/>
          <p:cNvSpPr txBox="1"/>
          <p:nvPr/>
        </p:nvSpPr>
        <p:spPr>
          <a:xfrm>
            <a:off x="825500" y="4013200"/>
            <a:ext cx="331372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50">
                <a:solidFill>
                  <a:srgbClr val="0E8F6B"/>
                </a:solidFill>
                <a:latin typeface="Consolas"/>
                <a:ea typeface="Consolas"/>
                <a:cs typeface="Consolas"/>
                <a:sym typeface="Consolas"/>
              </a:rPr>
              <a:t>// (재클릭하면 준비 해제, index.ts:508-512).</a:t>
            </a:r>
            <a:endParaRPr i="1" sz="1050">
              <a:solidFill>
                <a:srgbClr val="0E8F6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825500" y="4305300"/>
            <a:ext cx="61318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825500" y="4533900"/>
            <a:ext cx="27334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room.readyIds.add(playerId);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825500" y="47625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825500" y="5118100"/>
            <a:ext cx="6301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unmarkReady(room: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825500" y="5346700"/>
            <a:ext cx="29883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room.readyIds.delete(playerId);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825500" y="55753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63778" y="571500"/>
            <a:ext cx="10651744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763778" y="3390900"/>
            <a:ext cx="10651744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825500" y="698500"/>
            <a:ext cx="119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Befo</a:t>
            </a:r>
            <a:r>
              <a:rPr b="1" lang="ko-KR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r</a:t>
            </a: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e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825500" y="3517900"/>
            <a:ext cx="85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After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05 · 알게 된 점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알게 된 점</a:t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6400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822960" y="2331720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클로드가 짜준 코드, 기능은 맞아도 배치는 신경 안 쓴다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6172200" y="2148840"/>
            <a:ext cx="534930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6172200" y="2148840"/>
            <a:ext cx="5349300" cy="41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6355080" y="2331720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지금 코드에 안 지운 주석이 그대로 남아있다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40080" y="4142232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40080" y="4142232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822960" y="4325112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안에서 각 구역에서 사용되는 함수가 어떤건지 알았다.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172200" y="4142232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172200" y="4142232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6355080" y="4325112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정리하다가 room.ts에서 진짜 버그도 하나 잡았다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6355080" y="4672583"/>
            <a:ext cx="49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웹훅 중복 발송 — finalized 가드로 막음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9966960" y="6547104"/>
            <a:ext cx="1581912" cy="15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16</a:t>
            </a:r>
            <a:endParaRPr b="1" i="0" sz="9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"/>
          <p:cNvSpPr txBox="1"/>
          <p:nvPr/>
        </p:nvSpPr>
        <p:spPr>
          <a:xfrm flipH="1">
            <a:off x="4755215" y="2767280"/>
            <a:ext cx="368281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80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